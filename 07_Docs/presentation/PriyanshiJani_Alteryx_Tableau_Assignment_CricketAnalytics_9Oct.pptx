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xlsx" ContentType="application/vnd.openxmlformats-officedocument.spreadsheetml.sheet"/>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charts/chart1.xml" ContentType="application/vnd.openxmlformats-officedocument.drawingml.chart+xml"/>
  <Override PartName="/ppt/notesSlides/notesSlide16.xml" ContentType="application/vnd.openxmlformats-officedocument.presentationml.notesSlide+xml"/>
  <Override PartName="/ppt/charts/chart2.xml" ContentType="application/vnd.openxmlformats-officedocument.drawingml.chart+xml"/>
  <Override PartName="/ppt/notesSlides/notesSlide17.xml" ContentType="application/vnd.openxmlformats-officedocument.presentationml.notesSlide+xml"/>
  <Override PartName="/ppt/charts/chart3.xml" ContentType="application/vnd.openxmlformats-officedocument.drawingml.chart+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charts/chart4.xml" ContentType="application/vnd.openxmlformats-officedocument.drawingml.chart+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6"/>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83" d="100"/>
          <a:sy n="83" d="100"/>
        </p:scale>
        <p:origin x="629" y="53"/>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notesMaster" Target="notesMasters/notesMaster1.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presProps" Target="presProps.xml"/><Relationship Id="rId30" Type="http://schemas.openxmlformats.org/officeDocument/2006/relationships/tableStyles" Target="tableStyles.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Worksheet2.xlsx"/></Relationships>
</file>

<file path=ppt/charts/_rels/chart3.xml.rels><?xml version="1.0" encoding="UTF-8" standalone="yes"?>
<Relationships xmlns="http://schemas.openxmlformats.org/package/2006/relationships"><Relationship Id="rId1" Type="http://schemas.openxmlformats.org/officeDocument/2006/relationships/package" Target="../embeddings/Microsoft_Excel_Worksheet3.xlsx"/></Relationships>
</file>

<file path=ppt/charts/_rels/chart4.xml.rels><?xml version="1.0" encoding="UTF-8" standalone="yes"?>
<Relationships xmlns="http://schemas.openxmlformats.org/package/2006/relationships"><Relationship Id="rId1" Type="http://schemas.openxmlformats.org/officeDocument/2006/relationships/package" Target="../embeddings/Microsoft_Excel_Worksheet4.xlsx"/></Relationships>
</file>

<file path=ppt/charts/chart1.xml><?xml version="1.0" encoding="utf-8"?>
<c:chartSpace xmlns:c="http://schemas.openxmlformats.org/drawingml/2006/chart" xmlns:a="http://schemas.openxmlformats.org/drawingml/2006/main" xmlns:r="http://schemas.openxmlformats.org/officeDocument/2006/relationships">
  <c:date1904 val="0"/>
  <c:lang val="en-US"/>
  <c:roundedCorners val="1"/>
  <c:style val="2"/>
  <c:chart>
    <c:autoTitleDeleted val="1"/>
    <c:plotArea>
      <c:layout/>
      <c:barChart>
        <c:barDir val="bar"/>
        <c:grouping val="clustered"/>
        <c:varyColors val="1"/>
        <c:ser>
          <c:idx val="0"/>
          <c:order val="0"/>
          <c:tx>
            <c:strRef>
              <c:f>Sheet1!$B$1</c:f>
              <c:strCache>
                <c:ptCount val="1"/>
                <c:pt idx="0">
                  <c:v>Wins</c:v>
                </c:pt>
              </c:strCache>
            </c:strRef>
          </c:tx>
          <c:invertIfNegative val="1"/>
          <c:dPt>
            <c:idx val="0"/>
            <c:invertIfNegative val="1"/>
            <c:bubble3D val="0"/>
            <c:spPr>
              <a:solidFill>
                <a:srgbClr val="1F4E79"/>
              </a:solidFill>
            </c:spPr>
          </c:dPt>
          <c:dPt>
            <c:idx val="1"/>
            <c:invertIfNegative val="1"/>
            <c:bubble3D val="0"/>
            <c:spPr>
              <a:solidFill>
                <a:srgbClr val="1F4E79"/>
              </a:solidFill>
            </c:spPr>
          </c:dPt>
          <c:dPt>
            <c:idx val="2"/>
            <c:invertIfNegative val="1"/>
            <c:bubble3D val="0"/>
            <c:spPr>
              <a:solidFill>
                <a:srgbClr val="1F4E79"/>
              </a:solidFill>
            </c:spPr>
          </c:dPt>
          <c:dPt>
            <c:idx val="3"/>
            <c:invertIfNegative val="1"/>
            <c:bubble3D val="0"/>
            <c:spPr>
              <a:solidFill>
                <a:srgbClr val="1F4E79"/>
              </a:solidFill>
            </c:spPr>
          </c:dPt>
          <c:dPt>
            <c:idx val="4"/>
            <c:invertIfNegative val="1"/>
            <c:bubble3D val="0"/>
            <c:spPr>
              <a:solidFill>
                <a:srgbClr val="1F4E79"/>
              </a:solidFill>
            </c:spPr>
          </c:dPt>
          <c:dPt>
            <c:idx val="5"/>
            <c:invertIfNegative val="1"/>
            <c:bubble3D val="0"/>
            <c:spPr>
              <a:solidFill>
                <a:srgbClr val="1F4E79"/>
              </a:solidFill>
            </c:spPr>
          </c:dPt>
          <c:dPt>
            <c:idx val="6"/>
            <c:invertIfNegative val="1"/>
            <c:bubble3D val="0"/>
            <c:spPr>
              <a:solidFill>
                <a:srgbClr val="1F4E79"/>
              </a:solidFill>
            </c:spPr>
          </c:dPt>
          <c:dPt>
            <c:idx val="7"/>
            <c:invertIfNegative val="1"/>
            <c:bubble3D val="0"/>
            <c:spPr>
              <a:solidFill>
                <a:srgbClr val="F2A900"/>
              </a:solidFill>
            </c:spPr>
          </c:dPt>
          <c:dLbls>
            <c:spPr>
              <a:noFill/>
              <a:ln>
                <a:noFill/>
              </a:ln>
              <a:effectLst/>
            </c:spPr>
            <c:txPr>
              <a:bodyPr/>
              <a:lstStyle/>
              <a:p>
                <a:pPr>
                  <a:defRPr sz="1100">
                    <a:solidFill>
                      <a:srgbClr val="24323F"/>
                    </a:solidFill>
                    <a:latin typeface="Segoe UI"/>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layout/>
                <c15:showLeaderLines val="0"/>
              </c:ext>
            </c:extLst>
          </c:dLbls>
          <c:cat>
            <c:strRef>
              <c:f>Sheet1!$A$2:$A$9</c:f>
              <c:strCache>
                <c:ptCount val="8"/>
                <c:pt idx="0">
                  <c:v>Punjab Warriors</c:v>
                </c:pt>
                <c:pt idx="1">
                  <c:v>Hyderabad Hawks</c:v>
                </c:pt>
                <c:pt idx="2">
                  <c:v>Mumbai Sharks</c:v>
                </c:pt>
                <c:pt idx="3">
                  <c:v>Rajasthan Titans</c:v>
                </c:pt>
                <c:pt idx="4">
                  <c:v>Delhi Comets</c:v>
                </c:pt>
                <c:pt idx="5">
                  <c:v>Chennai Kings</c:v>
                </c:pt>
                <c:pt idx="6">
                  <c:v>Kolkata Tigers</c:v>
                </c:pt>
                <c:pt idx="7">
                  <c:v>Bangalore Royals</c:v>
                </c:pt>
              </c:strCache>
            </c:strRef>
          </c:cat>
          <c:val>
            <c:numRef>
              <c:f>Sheet1!$B$2:$B$9</c:f>
              <c:numCache>
                <c:formatCode>General</c:formatCode>
                <c:ptCount val="8"/>
                <c:pt idx="0">
                  <c:v>10</c:v>
                </c:pt>
                <c:pt idx="1">
                  <c:v>12</c:v>
                </c:pt>
                <c:pt idx="2">
                  <c:v>12</c:v>
                </c:pt>
                <c:pt idx="3">
                  <c:v>12</c:v>
                </c:pt>
                <c:pt idx="4">
                  <c:v>13</c:v>
                </c:pt>
                <c:pt idx="5">
                  <c:v>17</c:v>
                </c:pt>
                <c:pt idx="6">
                  <c:v>19</c:v>
                </c:pt>
                <c:pt idx="7">
                  <c:v>20</c:v>
                </c:pt>
              </c:numCache>
            </c:numRef>
          </c:val>
        </c:ser>
        <c:dLbls>
          <c:dLblPos val="outEnd"/>
          <c:showLegendKey val="0"/>
          <c:showVal val="1"/>
          <c:showCatName val="0"/>
          <c:showSerName val="0"/>
          <c:showPercent val="0"/>
          <c:showBubbleSize val="0"/>
        </c:dLbls>
        <c:gapWidth val="45"/>
        <c:axId val="279705832"/>
        <c:axId val="279706224"/>
      </c:barChart>
      <c:catAx>
        <c:axId val="279705832"/>
        <c:scaling>
          <c:orientation val="minMax"/>
        </c:scaling>
        <c:delete val="0"/>
        <c:axPos val="l"/>
        <c:numFmt formatCode="General" sourceLinked="0"/>
        <c:majorTickMark val="out"/>
        <c:minorTickMark val="none"/>
        <c:tickLblPos val="nextTo"/>
        <c:spPr>
          <a:ln>
            <a:noFill/>
          </a:ln>
        </c:spPr>
        <c:txPr>
          <a:bodyPr/>
          <a:lstStyle/>
          <a:p>
            <a:pPr>
              <a:defRPr sz="1100">
                <a:solidFill>
                  <a:srgbClr val="6B7785"/>
                </a:solidFill>
                <a:latin typeface="Segoe UI"/>
              </a:defRPr>
            </a:pPr>
            <a:endParaRPr lang="en-US"/>
          </a:p>
        </c:txPr>
        <c:crossAx val="279706224"/>
        <c:crosses val="autoZero"/>
        <c:auto val="1"/>
        <c:lblAlgn val="ctr"/>
        <c:lblOffset val="100"/>
        <c:noMultiLvlLbl val="0"/>
      </c:catAx>
      <c:valAx>
        <c:axId val="279706224"/>
        <c:scaling>
          <c:orientation val="minMax"/>
        </c:scaling>
        <c:delete val="1"/>
        <c:axPos val="b"/>
        <c:numFmt formatCode="General" sourceLinked="1"/>
        <c:majorTickMark val="out"/>
        <c:minorTickMark val="none"/>
        <c:tickLblPos val="nextTo"/>
        <c:crossAx val="279705832"/>
        <c:crosses val="autoZero"/>
        <c:crossBetween val="between"/>
      </c:valAx>
    </c:plotArea>
    <c:plotVisOnly val="1"/>
    <c:dispBlanksAs val="gap"/>
    <c:showDLblsOverMax val="1"/>
  </c:chart>
  <c:txPr>
    <a:bodyPr/>
    <a:lstStyle/>
    <a:p>
      <a:pPr>
        <a:defRPr sz="1800"/>
      </a:pPr>
      <a:endParaRPr lang="en-US"/>
    </a:p>
  </c:tx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lang val="en-US"/>
  <c:roundedCorners val="1"/>
  <c:style val="2"/>
  <c:chart>
    <c:autoTitleDeleted val="1"/>
    <c:plotArea>
      <c:layout/>
      <c:barChart>
        <c:barDir val="bar"/>
        <c:grouping val="clustered"/>
        <c:varyColors val="1"/>
        <c:ser>
          <c:idx val="0"/>
          <c:order val="0"/>
          <c:tx>
            <c:strRef>
              <c:f>Sheet1!$B$1</c:f>
              <c:strCache>
                <c:ptCount val="1"/>
                <c:pt idx="0">
                  <c:v>Rules</c:v>
                </c:pt>
              </c:strCache>
            </c:strRef>
          </c:tx>
          <c:invertIfNegative val="1"/>
          <c:dPt>
            <c:idx val="0"/>
            <c:invertIfNegative val="1"/>
            <c:bubble3D val="0"/>
            <c:spPr>
              <a:solidFill>
                <a:srgbClr val="1F4E79"/>
              </a:solidFill>
            </c:spPr>
          </c:dPt>
          <c:dPt>
            <c:idx val="1"/>
            <c:invertIfNegative val="1"/>
            <c:bubble3D val="0"/>
            <c:spPr>
              <a:solidFill>
                <a:srgbClr val="1F4E79"/>
              </a:solidFill>
            </c:spPr>
          </c:dPt>
          <c:dPt>
            <c:idx val="2"/>
            <c:invertIfNegative val="1"/>
            <c:bubble3D val="0"/>
            <c:spPr>
              <a:solidFill>
                <a:srgbClr val="1F4E79"/>
              </a:solidFill>
            </c:spPr>
          </c:dPt>
          <c:dPt>
            <c:idx val="3"/>
            <c:invertIfNegative val="1"/>
            <c:bubble3D val="0"/>
            <c:spPr>
              <a:solidFill>
                <a:srgbClr val="1F4E79"/>
              </a:solidFill>
            </c:spPr>
          </c:dPt>
          <c:dPt>
            <c:idx val="4"/>
            <c:invertIfNegative val="1"/>
            <c:bubble3D val="0"/>
            <c:spPr>
              <a:solidFill>
                <a:srgbClr val="1F4E79"/>
              </a:solidFill>
            </c:spPr>
          </c:dPt>
          <c:dPt>
            <c:idx val="5"/>
            <c:invertIfNegative val="1"/>
            <c:bubble3D val="0"/>
            <c:spPr>
              <a:solidFill>
                <a:srgbClr val="1F4E79"/>
              </a:solidFill>
            </c:spPr>
          </c:dPt>
          <c:dLbls>
            <c:spPr>
              <a:noFill/>
              <a:ln>
                <a:noFill/>
              </a:ln>
              <a:effectLst/>
            </c:spPr>
            <c:txPr>
              <a:bodyPr/>
              <a:lstStyle/>
              <a:p>
                <a:pPr>
                  <a:defRPr sz="1000">
                    <a:solidFill>
                      <a:srgbClr val="24323F"/>
                    </a:solidFill>
                    <a:latin typeface="Segoe UI"/>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layout/>
                <c15:showLeaderLines val="0"/>
              </c:ext>
            </c:extLst>
          </c:dLbls>
          <c:cat>
            <c:strRef>
              <c:f>Sheet1!$A$2:$A$7</c:f>
              <c:strCache>
                <c:ptCount val="6"/>
                <c:pt idx="0">
                  <c:v>Conformity</c:v>
                </c:pt>
                <c:pt idx="1">
                  <c:v>Consistency</c:v>
                </c:pt>
                <c:pt idx="2">
                  <c:v>Uniqueness</c:v>
                </c:pt>
                <c:pt idx="3">
                  <c:v>Referential integrity</c:v>
                </c:pt>
                <c:pt idx="4">
                  <c:v>Completeness</c:v>
                </c:pt>
                <c:pt idx="5">
                  <c:v>Validity</c:v>
                </c:pt>
              </c:strCache>
            </c:strRef>
          </c:cat>
          <c:val>
            <c:numRef>
              <c:f>Sheet1!$B$2:$B$7</c:f>
              <c:numCache>
                <c:formatCode>General</c:formatCode>
                <c:ptCount val="6"/>
                <c:pt idx="0">
                  <c:v>1</c:v>
                </c:pt>
                <c:pt idx="1">
                  <c:v>4</c:v>
                </c:pt>
                <c:pt idx="2">
                  <c:v>4</c:v>
                </c:pt>
                <c:pt idx="3">
                  <c:v>9</c:v>
                </c:pt>
                <c:pt idx="4">
                  <c:v>9</c:v>
                </c:pt>
                <c:pt idx="5">
                  <c:v>16</c:v>
                </c:pt>
              </c:numCache>
            </c:numRef>
          </c:val>
        </c:ser>
        <c:dLbls>
          <c:dLblPos val="outEnd"/>
          <c:showLegendKey val="0"/>
          <c:showVal val="1"/>
          <c:showCatName val="0"/>
          <c:showSerName val="0"/>
          <c:showPercent val="0"/>
          <c:showBubbleSize val="0"/>
        </c:dLbls>
        <c:gapWidth val="40"/>
        <c:axId val="277974520"/>
        <c:axId val="277974912"/>
      </c:barChart>
      <c:catAx>
        <c:axId val="277974520"/>
        <c:scaling>
          <c:orientation val="minMax"/>
        </c:scaling>
        <c:delete val="0"/>
        <c:axPos val="l"/>
        <c:numFmt formatCode="General" sourceLinked="0"/>
        <c:majorTickMark val="out"/>
        <c:minorTickMark val="none"/>
        <c:tickLblPos val="nextTo"/>
        <c:spPr>
          <a:ln>
            <a:noFill/>
          </a:ln>
        </c:spPr>
        <c:txPr>
          <a:bodyPr/>
          <a:lstStyle/>
          <a:p>
            <a:pPr>
              <a:defRPr sz="1000">
                <a:solidFill>
                  <a:srgbClr val="6B7785"/>
                </a:solidFill>
                <a:latin typeface="Segoe UI"/>
              </a:defRPr>
            </a:pPr>
            <a:endParaRPr lang="en-US"/>
          </a:p>
        </c:txPr>
        <c:crossAx val="277974912"/>
        <c:crosses val="autoZero"/>
        <c:auto val="1"/>
        <c:lblAlgn val="ctr"/>
        <c:lblOffset val="100"/>
        <c:noMultiLvlLbl val="0"/>
      </c:catAx>
      <c:valAx>
        <c:axId val="277974912"/>
        <c:scaling>
          <c:orientation val="minMax"/>
        </c:scaling>
        <c:delete val="1"/>
        <c:axPos val="b"/>
        <c:numFmt formatCode="General" sourceLinked="1"/>
        <c:majorTickMark val="out"/>
        <c:minorTickMark val="none"/>
        <c:tickLblPos val="nextTo"/>
        <c:crossAx val="277974520"/>
        <c:crosses val="autoZero"/>
        <c:crossBetween val="between"/>
      </c:valAx>
    </c:plotArea>
    <c:plotVisOnly val="1"/>
    <c:dispBlanksAs val="gap"/>
    <c:showDLblsOverMax val="1"/>
  </c:chart>
  <c:txPr>
    <a:bodyPr/>
    <a:lstStyle/>
    <a:p>
      <a:pPr>
        <a:defRPr sz="1800"/>
      </a:pPr>
      <a:endParaRPr lang="en-US"/>
    </a:p>
  </c:tx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lang val="en-US"/>
  <c:roundedCorners val="0"/>
  <c:style val="2"/>
  <c:chart>
    <c:autoTitleDeleted val="1"/>
    <c:plotArea>
      <c:layout/>
      <c:doughnutChart>
        <c:varyColors val="1"/>
        <c:ser>
          <c:idx val="0"/>
          <c:order val="0"/>
          <c:tx>
            <c:strRef>
              <c:f>Sheet1!$B$1</c:f>
              <c:strCache>
                <c:ptCount val="1"/>
                <c:pt idx="0">
                  <c:v>Rows</c:v>
                </c:pt>
              </c:strCache>
            </c:strRef>
          </c:tx>
          <c:dPt>
            <c:idx val="0"/>
            <c:bubble3D val="0"/>
            <c:spPr>
              <a:solidFill>
                <a:srgbClr val="1F4E79"/>
              </a:solidFill>
              <a:ln w="25400">
                <a:solidFill>
                  <a:srgbClr val="FFFFFF"/>
                </a:solidFill>
              </a:ln>
            </c:spPr>
          </c:dPt>
          <c:dPt>
            <c:idx val="1"/>
            <c:bubble3D val="0"/>
            <c:spPr>
              <a:solidFill>
                <a:srgbClr val="F2A900"/>
              </a:solidFill>
              <a:ln w="25400">
                <a:solidFill>
                  <a:srgbClr val="FFFFFF"/>
                </a:solidFill>
              </a:ln>
            </c:spPr>
          </c:dPt>
          <c:dPt>
            <c:idx val="2"/>
            <c:bubble3D val="0"/>
            <c:spPr>
              <a:solidFill>
                <a:srgbClr val="D1495B"/>
              </a:solidFill>
              <a:ln w="25400">
                <a:solidFill>
                  <a:srgbClr val="FFFFFF"/>
                </a:solidFill>
              </a:ln>
            </c:spPr>
          </c:dPt>
          <c:cat>
            <c:strRef>
              <c:f>Sheet1!$A$2:$A$4</c:f>
              <c:strCache>
                <c:ptCount val="3"/>
                <c:pt idx="0">
                  <c:v>Accepted</c:v>
                </c:pt>
                <c:pt idx="1">
                  <c:v>Loaded with a warning</c:v>
                </c:pt>
                <c:pt idx="2">
                  <c:v>Held back or rejected</c:v>
                </c:pt>
              </c:strCache>
            </c:strRef>
          </c:cat>
          <c:val>
            <c:numRef>
              <c:f>Sheet1!$B$2:$B$4</c:f>
              <c:numCache>
                <c:formatCode>General</c:formatCode>
                <c:ptCount val="3"/>
                <c:pt idx="0">
                  <c:v>29686</c:v>
                </c:pt>
                <c:pt idx="1">
                  <c:v>38</c:v>
                </c:pt>
                <c:pt idx="2">
                  <c:v>1034</c:v>
                </c:pt>
              </c:numCache>
            </c:numRef>
          </c:val>
        </c:ser>
        <c:dLbls>
          <c:showLegendKey val="0"/>
          <c:showVal val="0"/>
          <c:showCatName val="0"/>
          <c:showSerName val="0"/>
          <c:showPercent val="0"/>
          <c:showBubbleSize val="0"/>
          <c:showLeaderLines val="1"/>
        </c:dLbls>
        <c:firstSliceAng val="0"/>
        <c:holeSize val="68"/>
      </c:doughnutChart>
    </c:plotArea>
    <c:plotVisOnly val="1"/>
    <c:dispBlanksAs val="gap"/>
    <c:showDLblsOverMax val="0"/>
  </c:chart>
  <c:txPr>
    <a:bodyPr/>
    <a:lstStyle/>
    <a:p>
      <a:pPr>
        <a:defRPr sz="1800"/>
      </a:pPr>
      <a:endParaRPr lang="en-US"/>
    </a:p>
  </c:tx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c:date1904 val="0"/>
  <c:lang val="en-US"/>
  <c:roundedCorners val="1"/>
  <c:style val="2"/>
  <c:chart>
    <c:autoTitleDeleted val="1"/>
    <c:plotArea>
      <c:layout/>
      <c:barChart>
        <c:barDir val="col"/>
        <c:grouping val="clustered"/>
        <c:varyColors val="1"/>
        <c:ser>
          <c:idx val="0"/>
          <c:order val="0"/>
          <c:tx>
            <c:strRef>
              <c:f>Sheet1!$B$1</c:f>
              <c:strCache>
                <c:ptCount val="1"/>
                <c:pt idx="0">
                  <c:v>ms</c:v>
                </c:pt>
              </c:strCache>
            </c:strRef>
          </c:tx>
          <c:invertIfNegative val="1"/>
          <c:dPt>
            <c:idx val="0"/>
            <c:invertIfNegative val="1"/>
            <c:bubble3D val="0"/>
            <c:spPr>
              <a:solidFill>
                <a:srgbClr val="C3CBD4"/>
              </a:solidFill>
            </c:spPr>
          </c:dPt>
          <c:dPt>
            <c:idx val="1"/>
            <c:invertIfNegative val="1"/>
            <c:bubble3D val="0"/>
            <c:spPr>
              <a:solidFill>
                <a:srgbClr val="1F4E79"/>
              </a:solidFill>
            </c:spPr>
          </c:dPt>
          <c:dLbls>
            <c:spPr>
              <a:noFill/>
              <a:ln>
                <a:noFill/>
              </a:ln>
              <a:effectLst/>
            </c:spPr>
            <c:txPr>
              <a:bodyPr/>
              <a:lstStyle/>
              <a:p>
                <a:pPr>
                  <a:defRPr sz="1200">
                    <a:solidFill>
                      <a:srgbClr val="24323F"/>
                    </a:solidFill>
                    <a:latin typeface="Segoe UI"/>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layout/>
                <c15:showLeaderLines val="0"/>
              </c:ext>
            </c:extLst>
          </c:dLbls>
          <c:cat>
            <c:strRef>
              <c:f>Sheet1!$A$2:$A$3</c:f>
              <c:strCache>
                <c:ptCount val="2"/>
                <c:pt idx="0">
                  <c:v>Live from 28,069 deliveries</c:v>
                </c:pt>
                <c:pt idx="1">
                  <c:v>Pre-aggregated over table</c:v>
                </c:pt>
              </c:strCache>
            </c:strRef>
          </c:cat>
          <c:val>
            <c:numRef>
              <c:f>Sheet1!$B$2:$B$3</c:f>
              <c:numCache>
                <c:formatCode>General</c:formatCode>
                <c:ptCount val="2"/>
                <c:pt idx="0">
                  <c:v>3.6</c:v>
                </c:pt>
                <c:pt idx="1">
                  <c:v>0.4</c:v>
                </c:pt>
              </c:numCache>
            </c:numRef>
          </c:val>
        </c:ser>
        <c:dLbls>
          <c:dLblPos val="outEnd"/>
          <c:showLegendKey val="0"/>
          <c:showVal val="1"/>
          <c:showCatName val="0"/>
          <c:showSerName val="0"/>
          <c:showPercent val="0"/>
          <c:showBubbleSize val="0"/>
        </c:dLbls>
        <c:gapWidth val="60"/>
        <c:axId val="281250840"/>
        <c:axId val="281252800"/>
      </c:barChart>
      <c:catAx>
        <c:axId val="281250840"/>
        <c:scaling>
          <c:orientation val="minMax"/>
        </c:scaling>
        <c:delete val="0"/>
        <c:axPos val="b"/>
        <c:numFmt formatCode="General" sourceLinked="0"/>
        <c:majorTickMark val="out"/>
        <c:minorTickMark val="none"/>
        <c:tickLblPos val="nextTo"/>
        <c:txPr>
          <a:bodyPr/>
          <a:lstStyle/>
          <a:p>
            <a:pPr>
              <a:defRPr sz="1000">
                <a:solidFill>
                  <a:srgbClr val="6B7785"/>
                </a:solidFill>
                <a:latin typeface="Segoe UI"/>
              </a:defRPr>
            </a:pPr>
            <a:endParaRPr lang="en-US"/>
          </a:p>
        </c:txPr>
        <c:crossAx val="281252800"/>
        <c:crosses val="autoZero"/>
        <c:auto val="1"/>
        <c:lblAlgn val="ctr"/>
        <c:lblOffset val="100"/>
        <c:noMultiLvlLbl val="0"/>
      </c:catAx>
      <c:valAx>
        <c:axId val="281252800"/>
        <c:scaling>
          <c:orientation val="minMax"/>
        </c:scaling>
        <c:delete val="1"/>
        <c:axPos val="l"/>
        <c:numFmt formatCode="General" sourceLinked="1"/>
        <c:majorTickMark val="out"/>
        <c:minorTickMark val="none"/>
        <c:tickLblPos val="nextTo"/>
        <c:crossAx val="281250840"/>
        <c:crosses val="autoZero"/>
        <c:crossBetween val="between"/>
      </c:valAx>
    </c:plotArea>
    <c:plotVisOnly val="1"/>
    <c:dispBlanksAs val="gap"/>
    <c:showDLblsOverMax val="1"/>
  </c:chart>
  <c:txPr>
    <a:bodyPr/>
    <a:lstStyle/>
    <a:p>
      <a:pPr>
        <a:defRPr sz="1800"/>
      </a:pPr>
      <a:endParaRPr lang="en-US"/>
    </a:p>
  </c:tx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91927825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Welcome. This is the Cricket Analytics Platform: a business-intelligence solution that takes cricket data from three separate places, checks it, organises it, and turns it into interactive dashboards. I will cover the problem, what we built and how, what it can do, and how it would run in production.</a:t>
            </a:r>
          </a:p>
        </p:txBody>
      </p:sp>
      <p:sp>
        <p:nvSpPr>
          <p:cNvPr id="4" name="Slide Number Placeholder 3"/>
          <p:cNvSpPr>
            <a:spLocks noGrp="1"/>
          </p:cNvSpPr>
          <p:nvPr>
            <p:ph type="sldNum" sz="quarter" idx="5"/>
          </p:nvPr>
        </p:nvSpPr>
        <p:spPr/>
      </p:sp>
    </p:spTree>
    <p:extLst>
      <p:ext uri="{BB962C8B-B14F-4D97-AF65-F5344CB8AC3E}">
        <p14:creationId xmlns:p14="http://schemas.microsoft.com/office/powerpoint/2010/main" val="155258458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The presentation follows the demonstration checklist in section 15 of the brief, one topic at a time: the business problem and our approach, the architecture and data flow, the SQL, Alteryx and data processing, the Tableau dashboards, data quality, security, performance and deployment. Each slide carries the brief section it answers in its top corner.</a:t>
            </a:r>
          </a:p>
        </p:txBody>
      </p:sp>
      <p:sp>
        <p:nvSpPr>
          <p:cNvPr id="4" name="Slide Number Placeholder 3"/>
          <p:cNvSpPr>
            <a:spLocks noGrp="1"/>
          </p:cNvSpPr>
          <p:nvPr>
            <p:ph type="sldNum" sz="quarter" idx="5"/>
          </p:nvPr>
        </p:nvSpPr>
        <p:spPr/>
      </p:sp>
    </p:spTree>
    <p:extLst>
      <p:ext uri="{BB962C8B-B14F-4D97-AF65-F5344CB8AC3E}">
        <p14:creationId xmlns:p14="http://schemas.microsoft.com/office/powerpoint/2010/main" val="108465582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The organisation already had cricket data, but in three unconnected places: a database of teams, players and venues; match files from an external provider; and detailed ball-by-ball and ranking files. Nobody could answer simple business questions without stitching these together by hand, and nobody could say whether the numbers could be trusted - the files contained missing, duplicated and invalid records.</a:t>
            </a:r>
          </a:p>
        </p:txBody>
      </p:sp>
      <p:sp>
        <p:nvSpPr>
          <p:cNvPr id="4" name="Slide Number Placeholder 3"/>
          <p:cNvSpPr>
            <a:spLocks noGrp="1"/>
          </p:cNvSpPr>
          <p:nvPr>
            <p:ph type="sldNum" sz="quarter" idx="5"/>
          </p:nvPr>
        </p:nvSpPr>
        <p:spPr/>
      </p:sp>
    </p:spTree>
    <p:extLst>
      <p:ext uri="{BB962C8B-B14F-4D97-AF65-F5344CB8AC3E}">
        <p14:creationId xmlns:p14="http://schemas.microsoft.com/office/powerpoint/2010/main" val="172388760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Here is the whole solution in one line. We collect the data from all three sources; check every row against quality rules; organise it in a warehouse designed for analysis; define each business measure exactly once; and present it in Tableau dashboards that answer the business questions. Alteryx does the collecting and checking, SQL Server stores and defines, Tableau visualises.</a:t>
            </a:r>
          </a:p>
        </p:txBody>
      </p:sp>
      <p:sp>
        <p:nvSpPr>
          <p:cNvPr id="4" name="Slide Number Placeholder 3"/>
          <p:cNvSpPr>
            <a:spLocks noGrp="1"/>
          </p:cNvSpPr>
          <p:nvPr>
            <p:ph type="sldNum" sz="quarter" idx="5"/>
          </p:nvPr>
        </p:nvSpPr>
        <p:spPr/>
      </p:sp>
    </p:spTree>
    <p:extLst>
      <p:ext uri="{BB962C8B-B14F-4D97-AF65-F5344CB8AC3E}">
        <p14:creationId xmlns:p14="http://schemas.microsoft.com/office/powerpoint/2010/main" val="1495897505"/>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How we built it, in nine milestones. We started with a scripted database foundation, created realistic sample data with deliberate problems in it, brought every source in with full traceability, added the quality gate, built the warehouse, defined the business rules once, automated the whole run behind one click, built the dashboards, and finally tested and documented everything so another person can rebuild it on their own PC.</a:t>
            </a:r>
          </a:p>
        </p:txBody>
      </p:sp>
      <p:sp>
        <p:nvSpPr>
          <p:cNvPr id="4" name="Slide Number Placeholder 3"/>
          <p:cNvSpPr>
            <a:spLocks noGrp="1"/>
          </p:cNvSpPr>
          <p:nvPr>
            <p:ph type="sldNum" sz="quarter" idx="5"/>
          </p:nvPr>
        </p:nvSpPr>
        <p:spPr/>
      </p:sp>
    </p:spTree>
    <p:extLst>
      <p:ext uri="{BB962C8B-B14F-4D97-AF65-F5344CB8AC3E}">
        <p14:creationId xmlns:p14="http://schemas.microsoft.com/office/powerpoint/2010/main" val="167022755"/>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This is the technical architecture. Data moves through medallion layers inside SQL Server. Bronze keeps every row exactly as received, with its source file, a content fingerprint and the run that loaded it. Silver holds only rows that passed the 43 quality rules. Gold is the star schema built for analysis. The semantic layer is a set of reporting views where every business measure is defined once. Alteryx moves data between layers and exports each view as a Tableau extract. Underneath, a metadata and control plane drives the pipeline: the quality rules, parameters and folder names are data, and every file, exception and run is logged. One orchestrator runs all of it under a single run ID.</a:t>
            </a:r>
          </a:p>
        </p:txBody>
      </p:sp>
      <p:sp>
        <p:nvSpPr>
          <p:cNvPr id="4" name="Slide Number Placeholder 3"/>
          <p:cNvSpPr>
            <a:spLocks noGrp="1"/>
          </p:cNvSpPr>
          <p:nvPr>
            <p:ph type="sldNum" sz="quarter" idx="5"/>
          </p:nvPr>
        </p:nvSpPr>
        <p:spPr/>
      </p:sp>
    </p:spTree>
    <p:extLst>
      <p:ext uri="{BB962C8B-B14F-4D97-AF65-F5344CB8AC3E}">
        <p14:creationId xmlns:p14="http://schemas.microsoft.com/office/powerpoint/2010/main" val="116666404"/>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This is the journey every number on a dashboard takes. 129 files and the live source database land in Bronze exactly as received - 30,758 rows, each carrying its file, fingerprint and run ID. The quality gate checks every row against 43 rules; the rows that pass move to Silver. The transform builds keys, Type-2 team history and the ball-level facts into 17 load-ready tables, and one transaction publishes them to the Gold star schema - 16 tables holding over 41,000 rows. The semantic layer defines the business rules once in 22 reporting views, which are exported as 22 Tableau extracts and read by 8 dashboards. Seven processing steps sit between a raw file and an insight, and every one is logged.</a:t>
            </a:r>
          </a:p>
        </p:txBody>
      </p:sp>
      <p:sp>
        <p:nvSpPr>
          <p:cNvPr id="4" name="Slide Number Placeholder 3"/>
          <p:cNvSpPr>
            <a:spLocks noGrp="1"/>
          </p:cNvSpPr>
          <p:nvPr>
            <p:ph type="sldNum" sz="quarter" idx="5"/>
          </p:nvPr>
        </p:nvSpPr>
        <p:spPr/>
      </p:sp>
    </p:spTree>
    <p:extLst>
      <p:ext uri="{BB962C8B-B14F-4D97-AF65-F5344CB8AC3E}">
        <p14:creationId xmlns:p14="http://schemas.microsoft.com/office/powerpoint/2010/main" val="1645606627"/>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SQL Server holds two databases. CricketSource stands in for the organisation's system of record: teams, players and venues. CricketDW is everything we built, organised by purpose into five schemas: staging, the warehouse, the reporting views, the audit trail and the configuration. Everything is created by eleven scripts run in order by one batch file, and every script can be re-run safely. The key SQL techniques are on the right: Type-2 history for teams, a single-transaction publish, quality rules stored as data, business rules as functions, and integrity and speed through foreign keys, indexes and a pre-aggregated over table.</a:t>
            </a:r>
          </a:p>
        </p:txBody>
      </p:sp>
      <p:sp>
        <p:nvSpPr>
          <p:cNvPr id="4" name="Slide Number Placeholder 3"/>
          <p:cNvSpPr>
            <a:spLocks noGrp="1"/>
          </p:cNvSpPr>
          <p:nvPr>
            <p:ph type="sldNum" sz="quarter" idx="5"/>
          </p:nvPr>
        </p:nvSpPr>
        <p:spPr/>
      </p:sp>
    </p:spTree>
    <p:extLst>
      <p:ext uri="{BB962C8B-B14F-4D97-AF65-F5344CB8AC3E}">
        <p14:creationId xmlns:p14="http://schemas.microsoft.com/office/powerpoint/2010/main" val="4118316972"/>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The warehouse is a Kimball star schema. The match result is the central fact, one row per match, linked to date, venue, format and team dimensions; each match has its innings, and every delivery is a row in the ball-by-ball fact. Batting, bowling, partnerships, falls of wicket and the over summary are derived from the ball-by-ball, so they always reconcile with it, which the tests prove. Teams keep their name history as Type-2 versions, and a bridge table tracks which player played for which team in each season.</a:t>
            </a:r>
          </a:p>
        </p:txBody>
      </p:sp>
      <p:sp>
        <p:nvSpPr>
          <p:cNvPr id="4" name="Slide Number Placeholder 3"/>
          <p:cNvSpPr>
            <a:spLocks noGrp="1"/>
          </p:cNvSpPr>
          <p:nvPr>
            <p:ph type="sldNum" sz="quarter" idx="5"/>
          </p:nvPr>
        </p:nvSpPr>
        <p:spPr/>
      </p:sp>
    </p:spTree>
    <p:extLst>
      <p:ext uri="{BB962C8B-B14F-4D97-AF65-F5344CB8AC3E}">
        <p14:creationId xmlns:p14="http://schemas.microsoft.com/office/powerpoint/2010/main" val="2497571040"/>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The ETL is built in Alteryx. One orchestrator workflow, shown here, runs seven stage workflows in order. Each stage sits in its own control container with a gate after it: the next stage starts only if the previous one finished without errors, and a run summary is written at the end. Ingestion reads the SQL master data live, and reads every JSON and CSV file whole, fingerprinting it with an MD5 hash before parsing, so a re-sent file is recognised. The quality gate runs the 43 rules inside SQL Server, only on new or changed files. The load builds the warehouse and publishes it in one database transaction, so it is never half-written. The export writes one Tableau extract per reporting view and reconciles the row counts. Shared macros give every stage the same logging, rule engine and file readers.</a:t>
            </a:r>
          </a:p>
        </p:txBody>
      </p:sp>
      <p:sp>
        <p:nvSpPr>
          <p:cNvPr id="4" name="Slide Number Placeholder 3"/>
          <p:cNvSpPr>
            <a:spLocks noGrp="1"/>
          </p:cNvSpPr>
          <p:nvPr>
            <p:ph type="sldNum" sz="quarter" idx="5"/>
          </p:nvPr>
        </p:nvSpPr>
        <p:spPr/>
      </p:sp>
    </p:spTree>
    <p:extLst>
      <p:ext uri="{BB962C8B-B14F-4D97-AF65-F5344CB8AC3E}">
        <p14:creationId xmlns:p14="http://schemas.microsoft.com/office/powerpoint/2010/main" val="2668807382"/>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A closer look inside the workflows. Each canvas is organised into labelled containers, one per step, and every workflow starts and ends with the shared logging macro, so each run leaves a Started and a Succeeded or Failed row in the audit log. Paths are relative and connections are named, so the same files run on any machine.</a:t>
            </a:r>
          </a:p>
        </p:txBody>
      </p:sp>
      <p:sp>
        <p:nvSpPr>
          <p:cNvPr id="4" name="Slide Number Placeholder 3"/>
          <p:cNvSpPr>
            <a:spLocks noGrp="1"/>
          </p:cNvSpPr>
          <p:nvPr>
            <p:ph type="sldNum" sz="quarter" idx="5"/>
          </p:nvPr>
        </p:nvSpPr>
        <p:spPr/>
      </p:sp>
    </p:spTree>
    <p:extLst>
      <p:ext uri="{BB962C8B-B14F-4D97-AF65-F5344CB8AC3E}">
        <p14:creationId xmlns:p14="http://schemas.microsoft.com/office/powerpoint/2010/main" val="1507431914"/>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Here is what processing actually does to the data. Nested match files are parsed and flattened into match and innings rows. Twenty-eight thousand deliveries are turned into batting and bowling figures, partnerships, falls of wicket and an over summary. A team's name as carried in each match file becomes Type-2 history. Mixed date formats and inconsistent names are standardised on the way into Silver. And every file is fingerprinted, so a re-sent copy is skipped while a corrected file replaces its match in one transaction.</a:t>
            </a:r>
          </a:p>
        </p:txBody>
      </p:sp>
      <p:sp>
        <p:nvSpPr>
          <p:cNvPr id="4" name="Slide Number Placeholder 3"/>
          <p:cNvSpPr>
            <a:spLocks noGrp="1"/>
          </p:cNvSpPr>
          <p:nvPr>
            <p:ph type="sldNum" sz="quarter" idx="5"/>
          </p:nvPr>
        </p:nvSpPr>
        <p:spPr/>
      </p:sp>
    </p:spTree>
    <p:extLst>
      <p:ext uri="{BB962C8B-B14F-4D97-AF65-F5344CB8AC3E}">
        <p14:creationId xmlns:p14="http://schemas.microsoft.com/office/powerpoint/2010/main" val="3110407125"/>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The real test of automation is new data. We prepared four situations. A new match: drop the file, one click, and it appears everywhere - match count goes from 119 to 120 and Chennai move to the top of the table. A corrected file: the result flips and the old rows are replaced, never duplicated. A duplicate: recognised and ignored. A broken file: rejected with its reason while everything else completes. Nobody prepares reporting data by hand.</a:t>
            </a:r>
          </a:p>
        </p:txBody>
      </p:sp>
      <p:sp>
        <p:nvSpPr>
          <p:cNvPr id="4" name="Slide Number Placeholder 3"/>
          <p:cNvSpPr>
            <a:spLocks noGrp="1"/>
          </p:cNvSpPr>
          <p:nvPr>
            <p:ph type="sldNum" sz="quarter" idx="5"/>
          </p:nvPr>
        </p:nvSpPr>
        <p:spPr/>
      </p:sp>
    </p:spTree>
    <p:extLst>
      <p:ext uri="{BB962C8B-B14F-4D97-AF65-F5344CB8AC3E}">
        <p14:creationId xmlns:p14="http://schemas.microsoft.com/office/powerpoint/2010/main" val="4091119804"/>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These are the eight dashboards. Overview gives the headline picture; Leaderboard is the points table; Team and Player let you pick any team or player; Player leaderboards rank who adds most value; Match centre replays any match; Trends shows how the game is changing; and Data quality shows how much of the data passed the checks. Every page opens with a one-line insight written by the data itself, so it stays true when new data arrives.</a:t>
            </a:r>
          </a:p>
        </p:txBody>
      </p:sp>
      <p:sp>
        <p:nvSpPr>
          <p:cNvPr id="4" name="Slide Number Placeholder 3"/>
          <p:cNvSpPr>
            <a:spLocks noGrp="1"/>
          </p:cNvSpPr>
          <p:nvPr>
            <p:ph type="sldNum" sz="quarter" idx="5"/>
          </p:nvPr>
        </p:nvSpPr>
        <p:spPr/>
      </p:sp>
    </p:spTree>
    <p:extLst>
      <p:ext uri="{BB962C8B-B14F-4D97-AF65-F5344CB8AC3E}">
        <p14:creationId xmlns:p14="http://schemas.microsoft.com/office/powerpoint/2010/main" val="12242757"/>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What does the data tell us? Bangalore Royals have the most wins. More interesting are the myths the dashboards test: winning the toss looks like an advantage at 56%, but with 115 matches a coin flip lands that far from 50% by chance alone, so the dashboard says it is not a reliable edge. Batting first, 58%, is a lean, not a rule. And 30% of decided matches are close finishes - the competition is balanced. The dashboards make this distinction automatically, so nobody over-reads a lucky streak.</a:t>
            </a:r>
          </a:p>
        </p:txBody>
      </p:sp>
      <p:sp>
        <p:nvSpPr>
          <p:cNvPr id="4" name="Slide Number Placeholder 3"/>
          <p:cNvSpPr>
            <a:spLocks noGrp="1"/>
          </p:cNvSpPr>
          <p:nvPr>
            <p:ph type="sldNum" sz="quarter" idx="5"/>
          </p:nvPr>
        </p:nvSpPr>
        <p:spPr/>
      </p:sp>
    </p:spTree>
    <p:extLst>
      <p:ext uri="{BB962C8B-B14F-4D97-AF65-F5344CB8AC3E}">
        <p14:creationId xmlns:p14="http://schemas.microsoft.com/office/powerpoint/2010/main" val="124675071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This is the data-quality workflow in detail. Only files whose content has not been seen before are checked. The rule engine reads the 43 rules from a table - each rule is a row with its dimension, a SQL condition, an action, an owner, a root cause and a fix hint - and runs them inside SQL Server. Every row then gets one outcome: accepted into Silver, loaded with a warning, or held back. Every violation is logged with the file, the row, the rule and the raw value, so any number can be traced. Workflow 04b then scores each run and writes a report for each data owner. Adding a rule is a new row in the table, not a change to any workflow.</a:t>
            </a:r>
          </a:p>
        </p:txBody>
      </p:sp>
      <p:sp>
        <p:nvSpPr>
          <p:cNvPr id="4" name="Slide Number Placeholder 3"/>
          <p:cNvSpPr>
            <a:spLocks noGrp="1"/>
          </p:cNvSpPr>
          <p:nvPr>
            <p:ph type="sldNum" sz="quarter" idx="5"/>
          </p:nvPr>
        </p:nvSpPr>
        <p:spPr/>
      </p:sp>
    </p:spTree>
    <p:extLst>
      <p:ext uri="{BB962C8B-B14F-4D97-AF65-F5344CB8AC3E}">
        <p14:creationId xmlns:p14="http://schemas.microsoft.com/office/powerpoint/2010/main" val="3917535568"/>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Trust was the hardest part. Every one of the 30,758 rows is checked against 43 rules before it reaches a dashboard. 96.6% were loaded: 29,686 clean and 38 with a warning; 1,034 were held back or rejected - and each of those has a recorded reason and an owner who can fix it at the source. If one ball of a match is wrong, the whole match's ball-by-ball is held, so no dashboard ever shows a half-loaded match.</a:t>
            </a:r>
          </a:p>
        </p:txBody>
      </p:sp>
      <p:sp>
        <p:nvSpPr>
          <p:cNvPr id="4" name="Slide Number Placeholder 3"/>
          <p:cNvSpPr>
            <a:spLocks noGrp="1"/>
          </p:cNvSpPr>
          <p:nvPr>
            <p:ph type="sldNum" sz="quarter" idx="5"/>
          </p:nvPr>
        </p:nvSpPr>
        <p:spPr/>
      </p:sp>
    </p:spTree>
    <p:extLst>
      <p:ext uri="{BB962C8B-B14F-4D97-AF65-F5344CB8AC3E}">
        <p14:creationId xmlns:p14="http://schemas.microsoft.com/office/powerpoint/2010/main" val="2444163520"/>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Security follows least privilege. Three SQL logins, each scoped to one database and one job, with permissions granted to roles rather than to people. The source reader can only read master data. The ETL writer can read and write staging, warehouse and audit, can read the rules but not change them, and cannot create objects. The reporting reader sees only the reporting views - not a single base table. Tableau holds no database credentials at all: it reads extracts. Passwords live only in a local file that is never committed, and the whole model is proven by impersonation tests. In production the same roles map to company groups, with single sign-on and row-level security.</a:t>
            </a:r>
          </a:p>
        </p:txBody>
      </p:sp>
      <p:sp>
        <p:nvSpPr>
          <p:cNvPr id="4" name="Slide Number Placeholder 3"/>
          <p:cNvSpPr>
            <a:spLocks noGrp="1"/>
          </p:cNvSpPr>
          <p:nvPr>
            <p:ph type="sldNum" sz="quarter" idx="5"/>
          </p:nvPr>
        </p:nvSpPr>
        <p:spPr/>
      </p:sp>
    </p:spTree>
    <p:extLst>
      <p:ext uri="{BB962C8B-B14F-4D97-AF65-F5344CB8AC3E}">
        <p14:creationId xmlns:p14="http://schemas.microsoft.com/office/powerpoint/2010/main" val="1386777563"/>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Performance was considered at every layer. In SQL, run-rate charts read a pre-aggregated over table instead of summing every delivery: 3.6 milliseconds becomes 0.4, nine times faster, and all reporting views read in 176 milliseconds in total. In Alteryx, only new or changed files are validated, and the 43 rules run as set-based SQL inside the database instead of row by row. In Tableau, every view is an extract already at dashboard grain, so a whole dashboard's queries take about a fifth of a second.</a:t>
            </a:r>
          </a:p>
        </p:txBody>
      </p:sp>
      <p:sp>
        <p:nvSpPr>
          <p:cNvPr id="4" name="Slide Number Placeholder 3"/>
          <p:cNvSpPr>
            <a:spLocks noGrp="1"/>
          </p:cNvSpPr>
          <p:nvPr>
            <p:ph type="sldNum" sz="quarter" idx="5"/>
          </p:nvPr>
        </p:nvSpPr>
        <p:spPr/>
      </p:sp>
    </p:spTree>
    <p:extLst>
      <p:ext uri="{BB962C8B-B14F-4D97-AF65-F5344CB8AC3E}">
        <p14:creationId xmlns:p14="http://schemas.microsoft.com/office/powerpoint/2010/main" val="73038878"/>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Deployment is designed so that another person can rebuild the whole solution on their own PC from the README. Install the four tools, enter the SQL Server instance once in a single config file, and run three scripts that check prerequisites, create both databases and create the ODBC data sources. Create the two Alteryx connections and run one relink script. From then on, a run is: stage the files, click run in the orchestrator, open the workbook. Nothing in the repository holds a server name, password or absolute path.</a:t>
            </a:r>
          </a:p>
        </p:txBody>
      </p:sp>
      <p:sp>
        <p:nvSpPr>
          <p:cNvPr id="4" name="Slide Number Placeholder 3"/>
          <p:cNvSpPr>
            <a:spLocks noGrp="1"/>
          </p:cNvSpPr>
          <p:nvPr>
            <p:ph type="sldNum" sz="quarter" idx="5"/>
          </p:nvPr>
        </p:nvSpPr>
        <p:spPr/>
      </p:sp>
    </p:spTree>
    <p:extLst>
      <p:ext uri="{BB962C8B-B14F-4D97-AF65-F5344CB8AC3E}">
        <p14:creationId xmlns:p14="http://schemas.microsoft.com/office/powerpoint/2010/main" val="2701108953"/>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Finally, the production architecture: the same medallion design, hosted for the organisation. Alteryx Server runs the orchestrator on a schedule or when new files land, with credentials held by a service account. A dedicated SQL Server holds the medallion layers and the metadata. Tableau Server publishes one certified data source; Alteryx triggers its refresh through the REST API only after a successful load, so dashboards never show a half-finished run. Users sign in with their company account, on the web or mobile, and row-level security shows each person only their data. Code is promoted from dev to test to production through Git.</a:t>
            </a:r>
          </a:p>
        </p:txBody>
      </p:sp>
      <p:sp>
        <p:nvSpPr>
          <p:cNvPr id="4" name="Slide Number Placeholder 3"/>
          <p:cNvSpPr>
            <a:spLocks noGrp="1"/>
          </p:cNvSpPr>
          <p:nvPr>
            <p:ph type="sldNum" sz="quarter" idx="5"/>
          </p:nvPr>
        </p:nvSpPr>
        <p:spPr/>
      </p:sp>
    </p:spTree>
    <p:extLst>
      <p:ext uri="{BB962C8B-B14F-4D97-AF65-F5344CB8AC3E}">
        <p14:creationId xmlns:p14="http://schemas.microsoft.com/office/powerpoint/2010/main" val="3250633232"/>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To summarise the design: each requirement of the brief maps to a design choice, and each choice brings a concrete benefit. Medallion layers keep raw data replayable and give each layer one job. Metadata-driven quality rules make checks easy to extend and fully traceable. The orchestrator, file fingerprints and run log make runs reliable and auditable. A semantic layer keeps every calculation consistent. The star schema, pre-aggregation and extracts keep it fast. Least-privilege access and scripted setup keep it secure and reproducible.</a:t>
            </a:r>
          </a:p>
        </p:txBody>
      </p:sp>
      <p:sp>
        <p:nvSpPr>
          <p:cNvPr id="4" name="Slide Number Placeholder 3"/>
          <p:cNvSpPr>
            <a:spLocks noGrp="1"/>
          </p:cNvSpPr>
          <p:nvPr>
            <p:ph type="sldNum" sz="quarter" idx="5"/>
          </p:nvPr>
        </p:nvSpPr>
        <p:spPr/>
      </p:sp>
    </p:spTree>
    <p:extLst>
      <p:ext uri="{BB962C8B-B14F-4D97-AF65-F5344CB8AC3E}">
        <p14:creationId xmlns:p14="http://schemas.microsoft.com/office/powerpoint/2010/main" val="3191942394"/>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To give a sense of the work behind the dashboards: eight Alteryx workflows - an orchestrator and seven stages - built from 648 tools in 52 labelled containers, sharing six reusable macros. 43 data-quality rules across six dimensions check over thirty thousand rows on every run. SQL Server holds 57 tables and 32 views, with ten business-rule functions, 36 foreign keys and 50 indexes, all created by script. Quality is proven by 108 automated SQL checks and 58 documented test cases, and the solution is documented end to end so anyone can rebuild it.</a:t>
            </a:r>
          </a:p>
        </p:txBody>
      </p:sp>
      <p:sp>
        <p:nvSpPr>
          <p:cNvPr id="4" name="Slide Number Placeholder 3"/>
          <p:cNvSpPr>
            <a:spLocks noGrp="1"/>
          </p:cNvSpPr>
          <p:nvPr>
            <p:ph type="sldNum" sz="quarter" idx="5"/>
          </p:nvPr>
        </p:nvSpPr>
        <p:spPr/>
      </p:sp>
    </p:spTree>
    <p:extLst>
      <p:ext uri="{BB962C8B-B14F-4D97-AF65-F5344CB8AC3E}">
        <p14:creationId xmlns:p14="http://schemas.microsoft.com/office/powerpoint/2010/main" val="704495197"/>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So what changed? Before, answering a question meant stitching three sources together by hand, with no way to know whether a number was right. Now one click brings everything up to date, every number can be traced back to the row and file it came from, and business users explore the answers themselves in interactive dashboards. And because setup is scripted, the whole solution can be rebuilt on another PC from the instructions.</a:t>
            </a:r>
          </a:p>
        </p:txBody>
      </p:sp>
      <p:sp>
        <p:nvSpPr>
          <p:cNvPr id="4" name="Slide Number Placeholder 3"/>
          <p:cNvSpPr>
            <a:spLocks noGrp="1"/>
          </p:cNvSpPr>
          <p:nvPr>
            <p:ph type="sldNum" sz="quarter" idx="5"/>
          </p:nvPr>
        </p:nvSpPr>
        <p:spPr/>
      </p:sp>
    </p:spTree>
    <p:extLst>
      <p:ext uri="{BB962C8B-B14F-4D97-AF65-F5344CB8AC3E}">
        <p14:creationId xmlns:p14="http://schemas.microsoft.com/office/powerpoint/2010/main" val="210994698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10/9/2026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10/9/2026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10/9/2026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10/9/2026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10/9/2026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10/9/2026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10/9/2026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10/9/2026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10/9/2026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10/9/2026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10/9/2026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10/9/2026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0.xml"/><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8" Type="http://schemas.openxmlformats.org/officeDocument/2006/relationships/image" Target="../media/image8.png"/><Relationship Id="rId3" Type="http://schemas.openxmlformats.org/officeDocument/2006/relationships/image" Target="../media/image3.png"/><Relationship Id="rId7" Type="http://schemas.openxmlformats.org/officeDocument/2006/relationships/image" Target="../media/image7.png"/><Relationship Id="rId2" Type="http://schemas.openxmlformats.org/officeDocument/2006/relationships/notesSlide" Target="../notesSlides/notesSlide11.xml"/><Relationship Id="rId1" Type="http://schemas.openxmlformats.org/officeDocument/2006/relationships/slideLayout" Target="../slideLayouts/slideLayout7.xml"/><Relationship Id="rId6" Type="http://schemas.openxmlformats.org/officeDocument/2006/relationships/image" Target="../media/image6.png"/><Relationship Id="rId5" Type="http://schemas.openxmlformats.org/officeDocument/2006/relationships/image" Target="../media/image5.png"/><Relationship Id="rId4" Type="http://schemas.openxmlformats.org/officeDocument/2006/relationships/image" Target="../media/image4.png"/></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8" Type="http://schemas.openxmlformats.org/officeDocument/2006/relationships/image" Target="../media/image14.png"/><Relationship Id="rId3" Type="http://schemas.openxmlformats.org/officeDocument/2006/relationships/image" Target="../media/image9.png"/><Relationship Id="rId7" Type="http://schemas.openxmlformats.org/officeDocument/2006/relationships/image" Target="../media/image13.png"/><Relationship Id="rId2" Type="http://schemas.openxmlformats.org/officeDocument/2006/relationships/notesSlide" Target="../notesSlides/notesSlide14.xml"/><Relationship Id="rId1" Type="http://schemas.openxmlformats.org/officeDocument/2006/relationships/slideLayout" Target="../slideLayouts/slideLayout7.xml"/><Relationship Id="rId6" Type="http://schemas.openxmlformats.org/officeDocument/2006/relationships/image" Target="../media/image12.png"/><Relationship Id="rId5" Type="http://schemas.openxmlformats.org/officeDocument/2006/relationships/image" Target="../media/image11.png"/><Relationship Id="rId10" Type="http://schemas.openxmlformats.org/officeDocument/2006/relationships/image" Target="../media/image16.png"/><Relationship Id="rId4" Type="http://schemas.openxmlformats.org/officeDocument/2006/relationships/image" Target="../media/image10.png"/><Relationship Id="rId9" Type="http://schemas.openxmlformats.org/officeDocument/2006/relationships/image" Target="../media/image15.png"/></Relationships>
</file>

<file path=ppt/slides/_rels/slide15.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15.xml"/><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3" Type="http://schemas.openxmlformats.org/officeDocument/2006/relationships/chart" Target="../charts/chart2.xml"/><Relationship Id="rId2" Type="http://schemas.openxmlformats.org/officeDocument/2006/relationships/notesSlide" Target="../notesSlides/notesSlide16.xml"/><Relationship Id="rId1" Type="http://schemas.openxmlformats.org/officeDocument/2006/relationships/slideLayout" Target="../slideLayouts/slideLayout7.xml"/><Relationship Id="rId4" Type="http://schemas.openxmlformats.org/officeDocument/2006/relationships/image" Target="../media/image17.png"/></Relationships>
</file>

<file path=ppt/slides/_rels/slide17.xml.rels><?xml version="1.0" encoding="UTF-8" standalone="yes"?>
<Relationships xmlns="http://schemas.openxmlformats.org/package/2006/relationships"><Relationship Id="rId3" Type="http://schemas.openxmlformats.org/officeDocument/2006/relationships/chart" Target="../charts/chart3.xml"/><Relationship Id="rId2" Type="http://schemas.openxmlformats.org/officeDocument/2006/relationships/notesSlide" Target="../notesSlides/notesSlide17.xml"/><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3" Type="http://schemas.openxmlformats.org/officeDocument/2006/relationships/chart" Target="../charts/chart4.xml"/><Relationship Id="rId2" Type="http://schemas.openxmlformats.org/officeDocument/2006/relationships/notesSlide" Target="../notesSlides/notesSlide19.xml"/><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1F4E79"/>
        </a:solidFill>
        <a:effectLst/>
      </p:bgPr>
    </p:bg>
    <p:spTree>
      <p:nvGrpSpPr>
        <p:cNvPr id="1" name=""/>
        <p:cNvGrpSpPr/>
        <p:nvPr/>
      </p:nvGrpSpPr>
      <p:grpSpPr>
        <a:xfrm>
          <a:off x="0" y="0"/>
          <a:ext cx="0" cy="0"/>
          <a:chOff x="0" y="0"/>
          <a:chExt cx="0" cy="0"/>
        </a:xfrm>
      </p:grpSpPr>
      <p:pic>
        <p:nvPicPr>
          <p:cNvPr id="2" name="Picture 1" descr="gpl_logo.png"/>
          <p:cNvPicPr>
            <a:picLocks noChangeAspect="1"/>
          </p:cNvPicPr>
          <p:nvPr/>
        </p:nvPicPr>
        <p:blipFill>
          <a:blip r:embed="rId3"/>
          <a:stretch>
            <a:fillRect/>
          </a:stretch>
        </p:blipFill>
        <p:spPr>
          <a:xfrm>
            <a:off x="548640" y="502920"/>
            <a:ext cx="1975104" cy="822960"/>
          </a:xfrm>
          <a:prstGeom prst="rect">
            <a:avLst/>
          </a:prstGeom>
        </p:spPr>
      </p:pic>
      <p:sp>
        <p:nvSpPr>
          <p:cNvPr id="3" name="TextBox 2"/>
          <p:cNvSpPr txBox="1"/>
          <p:nvPr/>
        </p:nvSpPr>
        <p:spPr>
          <a:xfrm>
            <a:off x="548640" y="2148840"/>
            <a:ext cx="7863840" cy="1097280"/>
          </a:xfrm>
          <a:prstGeom prst="rect">
            <a:avLst/>
          </a:prstGeom>
          <a:noFill/>
        </p:spPr>
        <p:txBody>
          <a:bodyPr wrap="square" lIns="0" tIns="0" rIns="0" bIns="0" anchor="t">
            <a:spAutoFit/>
          </a:bodyPr>
          <a:lstStyle/>
          <a:p>
            <a:pPr algn="l">
              <a:lnSpc>
                <a:spcPct val="100000"/>
              </a:lnSpc>
            </a:pPr>
            <a:r>
              <a:rPr sz="5000" b="0">
                <a:solidFill>
                  <a:srgbClr val="FFFFFF"/>
                </a:solidFill>
                <a:latin typeface="Segoe UI Semibold"/>
              </a:rPr>
              <a:t>Cricket Analytics Platform</a:t>
            </a:r>
          </a:p>
        </p:txBody>
      </p:sp>
      <p:sp>
        <p:nvSpPr>
          <p:cNvPr id="4" name="TextBox 3"/>
          <p:cNvSpPr txBox="1"/>
          <p:nvPr/>
        </p:nvSpPr>
        <p:spPr>
          <a:xfrm>
            <a:off x="548640" y="3246120"/>
            <a:ext cx="7863840" cy="338554"/>
          </a:xfrm>
          <a:prstGeom prst="rect">
            <a:avLst/>
          </a:prstGeom>
          <a:noFill/>
        </p:spPr>
        <p:txBody>
          <a:bodyPr wrap="square" lIns="0" tIns="0" rIns="0" bIns="0" anchor="t">
            <a:spAutoFit/>
          </a:bodyPr>
          <a:lstStyle/>
          <a:p>
            <a:pPr algn="l">
              <a:lnSpc>
                <a:spcPct val="100000"/>
              </a:lnSpc>
            </a:pPr>
            <a:r>
              <a:rPr sz="2200" b="0" dirty="0">
                <a:solidFill>
                  <a:srgbClr val="C9D6E3"/>
                </a:solidFill>
                <a:latin typeface="Segoe UI"/>
              </a:rPr>
              <a:t>From scattered data to trusted, decision-ready </a:t>
            </a:r>
            <a:r>
              <a:rPr sz="2200" b="0" dirty="0" smtClean="0">
                <a:solidFill>
                  <a:srgbClr val="C9D6E3"/>
                </a:solidFill>
                <a:latin typeface="Segoe UI"/>
              </a:rPr>
              <a:t>insight</a:t>
            </a:r>
            <a:endParaRPr lang="en-US" sz="2200" b="0" dirty="0" smtClean="0">
              <a:solidFill>
                <a:srgbClr val="C9D6E3"/>
              </a:solidFill>
              <a:latin typeface="Segoe UI"/>
            </a:endParaRPr>
          </a:p>
        </p:txBody>
      </p:sp>
      <p:sp>
        <p:nvSpPr>
          <p:cNvPr id="5" name="TextBox 4"/>
          <p:cNvSpPr txBox="1"/>
          <p:nvPr/>
        </p:nvSpPr>
        <p:spPr>
          <a:xfrm>
            <a:off x="548640" y="4892040"/>
            <a:ext cx="7315200" cy="365760"/>
          </a:xfrm>
          <a:prstGeom prst="rect">
            <a:avLst/>
          </a:prstGeom>
          <a:noFill/>
        </p:spPr>
        <p:txBody>
          <a:bodyPr wrap="square" lIns="0" tIns="0" rIns="0" bIns="0" anchor="t">
            <a:spAutoFit/>
          </a:bodyPr>
          <a:lstStyle/>
          <a:p>
            <a:pPr algn="l">
              <a:lnSpc>
                <a:spcPct val="100000"/>
              </a:lnSpc>
            </a:pPr>
            <a:r>
              <a:rPr sz="1600" b="1" dirty="0">
                <a:solidFill>
                  <a:srgbClr val="F2A900"/>
                </a:solidFill>
                <a:latin typeface="Segoe UI"/>
              </a:rPr>
              <a:t>SQL Server</a:t>
            </a:r>
            <a:r>
              <a:rPr sz="1600" b="0" dirty="0">
                <a:solidFill>
                  <a:srgbClr val="C9D6E3"/>
                </a:solidFill>
                <a:latin typeface="Segoe UI"/>
              </a:rPr>
              <a:t>   ·   </a:t>
            </a:r>
            <a:r>
              <a:rPr sz="1600" b="1" dirty="0" err="1">
                <a:solidFill>
                  <a:srgbClr val="F2A900"/>
                </a:solidFill>
                <a:latin typeface="Segoe UI"/>
              </a:rPr>
              <a:t>Alteryx</a:t>
            </a:r>
            <a:r>
              <a:rPr sz="1600" b="0" dirty="0">
                <a:solidFill>
                  <a:srgbClr val="C9D6E3"/>
                </a:solidFill>
                <a:latin typeface="Segoe UI"/>
              </a:rPr>
              <a:t>   ·   </a:t>
            </a:r>
            <a:r>
              <a:rPr sz="1600" b="1" dirty="0">
                <a:solidFill>
                  <a:srgbClr val="F2A900"/>
                </a:solidFill>
                <a:latin typeface="Segoe UI"/>
              </a:rPr>
              <a:t>Tableau</a:t>
            </a:r>
          </a:p>
        </p:txBody>
      </p:sp>
      <p:sp>
        <p:nvSpPr>
          <p:cNvPr id="6" name="TextBox 5"/>
          <p:cNvSpPr txBox="1"/>
          <p:nvPr/>
        </p:nvSpPr>
        <p:spPr>
          <a:xfrm>
            <a:off x="548640" y="5349240"/>
            <a:ext cx="7315200" cy="320040"/>
          </a:xfrm>
          <a:prstGeom prst="rect">
            <a:avLst/>
          </a:prstGeom>
          <a:noFill/>
        </p:spPr>
        <p:txBody>
          <a:bodyPr wrap="square" lIns="0" tIns="0" rIns="0" bIns="0" anchor="t">
            <a:spAutoFit/>
          </a:bodyPr>
          <a:lstStyle/>
          <a:p>
            <a:pPr algn="l">
              <a:lnSpc>
                <a:spcPct val="100000"/>
              </a:lnSpc>
            </a:pPr>
            <a:r>
              <a:rPr sz="1300" b="0">
                <a:solidFill>
                  <a:srgbClr val="C9D6E3"/>
                </a:solidFill>
                <a:latin typeface="Segoe UI"/>
              </a:rPr>
              <a:t>Business Intelligence Practical Assignment</a:t>
            </a:r>
          </a:p>
        </p:txBody>
      </p:sp>
      <p:sp>
        <p:nvSpPr>
          <p:cNvPr id="7" name="Oval 6"/>
          <p:cNvSpPr/>
          <p:nvPr/>
        </p:nvSpPr>
        <p:spPr>
          <a:xfrm>
            <a:off x="8631936" y="3145536"/>
            <a:ext cx="566928" cy="566928"/>
          </a:xfrm>
          <a:prstGeom prst="ellipse">
            <a:avLst/>
          </a:prstGeom>
          <a:solidFill>
            <a:srgbClr val="17385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Can 7"/>
          <p:cNvSpPr/>
          <p:nvPr/>
        </p:nvSpPr>
        <p:spPr>
          <a:xfrm>
            <a:off x="8790675" y="3281598"/>
            <a:ext cx="249448" cy="294802"/>
          </a:xfrm>
          <a:prstGeom prst="can">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cxnSp>
        <p:nvCxnSpPr>
          <p:cNvPr id="9" name="Connector 8"/>
          <p:cNvCxnSpPr/>
          <p:nvPr/>
        </p:nvCxnSpPr>
        <p:spPr>
          <a:xfrm>
            <a:off x="9217152" y="3429000"/>
            <a:ext cx="265176" cy="0"/>
          </a:xfrm>
          <a:prstGeom prst="line">
            <a:avLst/>
          </a:prstGeom>
          <a:ln w="19050">
            <a:solidFill>
              <a:srgbClr val="C9D6E3"/>
            </a:solidFill>
            <a:tailEnd type="triangle" w="med" len="med"/>
          </a:ln>
        </p:spPr>
        <p:style>
          <a:lnRef idx="2">
            <a:schemeClr val="accent1"/>
          </a:lnRef>
          <a:fillRef idx="0">
            <a:schemeClr val="accent1"/>
          </a:fillRef>
          <a:effectRef idx="1">
            <a:schemeClr val="accent1"/>
          </a:effectRef>
          <a:fontRef idx="minor">
            <a:schemeClr val="tx1"/>
          </a:fontRef>
        </p:style>
      </p:cxnSp>
      <p:sp>
        <p:nvSpPr>
          <p:cNvPr id="10" name="Oval 9"/>
          <p:cNvSpPr/>
          <p:nvPr/>
        </p:nvSpPr>
        <p:spPr>
          <a:xfrm>
            <a:off x="9500615" y="3145536"/>
            <a:ext cx="566928" cy="566928"/>
          </a:xfrm>
          <a:prstGeom prst="ellipse">
            <a:avLst/>
          </a:prstGeom>
          <a:solidFill>
            <a:srgbClr val="17385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9614001" y="3247583"/>
            <a:ext cx="340156" cy="340156"/>
          </a:xfrm>
          <a:prstGeom prst="rect">
            <a:avLst/>
          </a:prstGeom>
          <a:noFill/>
        </p:spPr>
        <p:txBody>
          <a:bodyPr wrap="square" lIns="0" tIns="0" rIns="0" bIns="0" anchor="ctr">
            <a:spAutoFit/>
          </a:bodyPr>
          <a:lstStyle/>
          <a:p>
            <a:pPr algn="ctr">
              <a:lnSpc>
                <a:spcPct val="100000"/>
              </a:lnSpc>
            </a:pPr>
            <a:r>
              <a:rPr sz="2100" b="0">
                <a:solidFill>
                  <a:srgbClr val="FFFFFF"/>
                </a:solidFill>
                <a:latin typeface="Segoe UI Symbol"/>
              </a:rPr>
              <a:t>✓</a:t>
            </a:r>
          </a:p>
        </p:txBody>
      </p:sp>
      <p:cxnSp>
        <p:nvCxnSpPr>
          <p:cNvPr id="12" name="Connector 11"/>
          <p:cNvCxnSpPr/>
          <p:nvPr/>
        </p:nvCxnSpPr>
        <p:spPr>
          <a:xfrm>
            <a:off x="10085832" y="3429000"/>
            <a:ext cx="265176" cy="0"/>
          </a:xfrm>
          <a:prstGeom prst="line">
            <a:avLst/>
          </a:prstGeom>
          <a:ln w="19050">
            <a:solidFill>
              <a:srgbClr val="C9D6E3"/>
            </a:solidFill>
            <a:tailEnd type="triangle" w="med" len="med"/>
          </a:ln>
        </p:spPr>
        <p:style>
          <a:lnRef idx="2">
            <a:schemeClr val="accent1"/>
          </a:lnRef>
          <a:fillRef idx="0">
            <a:schemeClr val="accent1"/>
          </a:fillRef>
          <a:effectRef idx="1">
            <a:schemeClr val="accent1"/>
          </a:effectRef>
          <a:fontRef idx="minor">
            <a:schemeClr val="tx1"/>
          </a:fontRef>
        </p:style>
      </p:cxnSp>
      <p:sp>
        <p:nvSpPr>
          <p:cNvPr id="13" name="Oval 12"/>
          <p:cNvSpPr/>
          <p:nvPr/>
        </p:nvSpPr>
        <p:spPr>
          <a:xfrm>
            <a:off x="10369296" y="3145536"/>
            <a:ext cx="566928" cy="566928"/>
          </a:xfrm>
          <a:prstGeom prst="ellipse">
            <a:avLst/>
          </a:prstGeom>
          <a:solidFill>
            <a:srgbClr val="17385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Rounded Rectangle 13"/>
          <p:cNvSpPr/>
          <p:nvPr/>
        </p:nvSpPr>
        <p:spPr>
          <a:xfrm>
            <a:off x="10522366" y="3298606"/>
            <a:ext cx="119054" cy="119054"/>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Rounded Rectangle 14"/>
          <p:cNvSpPr/>
          <p:nvPr/>
        </p:nvSpPr>
        <p:spPr>
          <a:xfrm>
            <a:off x="10522366" y="3440338"/>
            <a:ext cx="119054" cy="119054"/>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Rounded Rectangle 15"/>
          <p:cNvSpPr/>
          <p:nvPr/>
        </p:nvSpPr>
        <p:spPr>
          <a:xfrm>
            <a:off x="10664098" y="3298606"/>
            <a:ext cx="119054" cy="119054"/>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Rounded Rectangle 16"/>
          <p:cNvSpPr/>
          <p:nvPr/>
        </p:nvSpPr>
        <p:spPr>
          <a:xfrm>
            <a:off x="10664098" y="3440338"/>
            <a:ext cx="119054" cy="119054"/>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cxnSp>
        <p:nvCxnSpPr>
          <p:cNvPr id="18" name="Connector 17"/>
          <p:cNvCxnSpPr/>
          <p:nvPr/>
        </p:nvCxnSpPr>
        <p:spPr>
          <a:xfrm>
            <a:off x="10954512" y="3429000"/>
            <a:ext cx="265176" cy="0"/>
          </a:xfrm>
          <a:prstGeom prst="line">
            <a:avLst/>
          </a:prstGeom>
          <a:ln w="19050">
            <a:solidFill>
              <a:srgbClr val="C9D6E3"/>
            </a:solidFill>
            <a:tailEnd type="triangle" w="med" len="med"/>
          </a:ln>
        </p:spPr>
        <p:style>
          <a:lnRef idx="2">
            <a:schemeClr val="accent1"/>
          </a:lnRef>
          <a:fillRef idx="0">
            <a:schemeClr val="accent1"/>
          </a:fillRef>
          <a:effectRef idx="1">
            <a:schemeClr val="accent1"/>
          </a:effectRef>
          <a:fontRef idx="minor">
            <a:schemeClr val="tx1"/>
          </a:fontRef>
        </p:style>
      </p:cxnSp>
      <p:sp>
        <p:nvSpPr>
          <p:cNvPr id="19" name="Oval 18"/>
          <p:cNvSpPr/>
          <p:nvPr/>
        </p:nvSpPr>
        <p:spPr>
          <a:xfrm>
            <a:off x="11237976" y="3145536"/>
            <a:ext cx="566928" cy="566928"/>
          </a:xfrm>
          <a:prstGeom prst="ellipse">
            <a:avLst/>
          </a:prstGeom>
          <a:solidFill>
            <a:srgbClr val="F2A9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Rectangle 19"/>
          <p:cNvSpPr/>
          <p:nvPr/>
        </p:nvSpPr>
        <p:spPr>
          <a:xfrm>
            <a:off x="11385377" y="3446007"/>
            <a:ext cx="70866" cy="113385"/>
          </a:xfrm>
          <a:prstGeom prst="rect">
            <a:avLst/>
          </a:prstGeom>
          <a:solidFill>
            <a:srgbClr val="1F4E7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Rectangle 20"/>
          <p:cNvSpPr/>
          <p:nvPr/>
        </p:nvSpPr>
        <p:spPr>
          <a:xfrm>
            <a:off x="11484589" y="3366637"/>
            <a:ext cx="70866" cy="192755"/>
          </a:xfrm>
          <a:prstGeom prst="rect">
            <a:avLst/>
          </a:prstGeom>
          <a:solidFill>
            <a:srgbClr val="1F4E7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Rectangle 21"/>
          <p:cNvSpPr/>
          <p:nvPr/>
        </p:nvSpPr>
        <p:spPr>
          <a:xfrm>
            <a:off x="11583802" y="3298606"/>
            <a:ext cx="70866" cy="260786"/>
          </a:xfrm>
          <a:prstGeom prst="rect">
            <a:avLst/>
          </a:prstGeom>
          <a:solidFill>
            <a:srgbClr val="1F4E7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4791455" y="698956"/>
            <a:ext cx="7013449" cy="430887"/>
          </a:xfrm>
          <a:prstGeom prst="rect">
            <a:avLst/>
          </a:prstGeom>
          <a:noFill/>
        </p:spPr>
        <p:txBody>
          <a:bodyPr wrap="square" lIns="0" tIns="0" rIns="0" bIns="0" anchor="t">
            <a:spAutoFit/>
          </a:bodyPr>
          <a:lstStyle/>
          <a:p>
            <a:pPr algn="r">
              <a:lnSpc>
                <a:spcPct val="100000"/>
              </a:lnSpc>
            </a:pPr>
            <a:r>
              <a:rPr lang="en-US" sz="2800" b="1" dirty="0" smtClean="0">
                <a:solidFill>
                  <a:schemeClr val="tx2">
                    <a:lumMod val="20000"/>
                    <a:lumOff val="80000"/>
                  </a:schemeClr>
                </a:solidFill>
                <a:effectLst>
                  <a:outerShdw blurRad="38100" dist="38100" dir="2700000" algn="tl">
                    <a:srgbClr val="000000">
                      <a:alpha val="43137"/>
                    </a:srgbClr>
                  </a:outerShdw>
                </a:effectLst>
                <a:latin typeface="Segoe UI"/>
              </a:rPr>
              <a:t>PRIYANSHI JANI</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EEF2F6"/>
        </a:solidFill>
        <a:effectLst/>
      </p:bgPr>
    </p:bg>
    <p:spTree>
      <p:nvGrpSpPr>
        <p:cNvPr id="1" name=""/>
        <p:cNvGrpSpPr/>
        <p:nvPr/>
      </p:nvGrpSpPr>
      <p:grpSpPr>
        <a:xfrm>
          <a:off x="0" y="0"/>
          <a:ext cx="0" cy="0"/>
          <a:chOff x="0" y="0"/>
          <a:chExt cx="0" cy="0"/>
        </a:xfrm>
      </p:grpSpPr>
      <p:sp>
        <p:nvSpPr>
          <p:cNvPr id="2" name="TextBox 1"/>
          <p:cNvSpPr txBox="1"/>
          <p:nvPr/>
        </p:nvSpPr>
        <p:spPr>
          <a:xfrm>
            <a:off x="548640" y="411480"/>
            <a:ext cx="11064240" cy="640080"/>
          </a:xfrm>
          <a:prstGeom prst="rect">
            <a:avLst/>
          </a:prstGeom>
          <a:noFill/>
        </p:spPr>
        <p:txBody>
          <a:bodyPr wrap="square" lIns="0" tIns="0" rIns="0" bIns="0" anchor="t">
            <a:spAutoFit/>
          </a:bodyPr>
          <a:lstStyle/>
          <a:p>
            <a:pPr algn="l">
              <a:lnSpc>
                <a:spcPct val="100000"/>
              </a:lnSpc>
            </a:pPr>
            <a:r>
              <a:rPr sz="3200" b="0">
                <a:solidFill>
                  <a:srgbClr val="1F4E79"/>
                </a:solidFill>
                <a:latin typeface="Segoe UI Semibold"/>
              </a:rPr>
              <a:t>Agenda</a:t>
            </a:r>
          </a:p>
        </p:txBody>
      </p:sp>
      <p:sp>
        <p:nvSpPr>
          <p:cNvPr id="3" name="TextBox 2"/>
          <p:cNvSpPr txBox="1"/>
          <p:nvPr/>
        </p:nvSpPr>
        <p:spPr>
          <a:xfrm>
            <a:off x="548640" y="1024128"/>
            <a:ext cx="11064240" cy="411480"/>
          </a:xfrm>
          <a:prstGeom prst="rect">
            <a:avLst/>
          </a:prstGeom>
          <a:noFill/>
        </p:spPr>
        <p:txBody>
          <a:bodyPr wrap="square" lIns="0" tIns="0" rIns="0" bIns="0" anchor="t">
            <a:spAutoFit/>
          </a:bodyPr>
          <a:lstStyle/>
          <a:p>
            <a:pPr algn="l">
              <a:lnSpc>
                <a:spcPct val="100000"/>
              </a:lnSpc>
            </a:pPr>
            <a:r>
              <a:rPr sz="1500" b="0">
                <a:solidFill>
                  <a:srgbClr val="6B7785"/>
                </a:solidFill>
                <a:latin typeface="Segoe UI"/>
              </a:rPr>
              <a:t>Following the brief's demonstration checklist (section 15)</a:t>
            </a:r>
          </a:p>
        </p:txBody>
      </p:sp>
      <p:sp>
        <p:nvSpPr>
          <p:cNvPr id="4" name="Rounded Rectangle 3"/>
          <p:cNvSpPr/>
          <p:nvPr/>
        </p:nvSpPr>
        <p:spPr>
          <a:xfrm>
            <a:off x="548640" y="1645920"/>
            <a:ext cx="5440680" cy="621792"/>
          </a:xfrm>
          <a:prstGeom prst="roundRect">
            <a:avLst>
              <a:gd name="adj" fmla="val 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Oval 4"/>
          <p:cNvSpPr/>
          <p:nvPr/>
        </p:nvSpPr>
        <p:spPr>
          <a:xfrm>
            <a:off x="713232" y="1737360"/>
            <a:ext cx="438912" cy="438912"/>
          </a:xfrm>
          <a:prstGeom prst="ellipse">
            <a:avLst/>
          </a:prstGeom>
          <a:solidFill>
            <a:srgbClr val="1F4E7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713232" y="1737360"/>
            <a:ext cx="438912" cy="438912"/>
          </a:xfrm>
          <a:prstGeom prst="rect">
            <a:avLst/>
          </a:prstGeom>
          <a:noFill/>
        </p:spPr>
        <p:txBody>
          <a:bodyPr wrap="square" lIns="0" tIns="0" rIns="0" bIns="0" anchor="ctr">
            <a:spAutoFit/>
          </a:bodyPr>
          <a:lstStyle/>
          <a:p>
            <a:pPr algn="ctr">
              <a:lnSpc>
                <a:spcPct val="100000"/>
              </a:lnSpc>
            </a:pPr>
            <a:r>
              <a:rPr sz="1200" b="1">
                <a:solidFill>
                  <a:srgbClr val="FFFFFF"/>
                </a:solidFill>
                <a:latin typeface="Segoe UI"/>
              </a:rPr>
              <a:t>01</a:t>
            </a:r>
          </a:p>
        </p:txBody>
      </p:sp>
      <p:sp>
        <p:nvSpPr>
          <p:cNvPr id="7" name="TextBox 6"/>
          <p:cNvSpPr txBox="1"/>
          <p:nvPr/>
        </p:nvSpPr>
        <p:spPr>
          <a:xfrm>
            <a:off x="1325880" y="1645920"/>
            <a:ext cx="3566160" cy="621792"/>
          </a:xfrm>
          <a:prstGeom prst="rect">
            <a:avLst/>
          </a:prstGeom>
          <a:noFill/>
        </p:spPr>
        <p:txBody>
          <a:bodyPr wrap="square" lIns="0" tIns="0" rIns="0" bIns="0" anchor="ctr">
            <a:spAutoFit/>
          </a:bodyPr>
          <a:lstStyle/>
          <a:p>
            <a:pPr algn="l">
              <a:lnSpc>
                <a:spcPct val="100000"/>
              </a:lnSpc>
            </a:pPr>
            <a:r>
              <a:rPr sz="1500" b="0">
                <a:solidFill>
                  <a:srgbClr val="24323F"/>
                </a:solidFill>
                <a:latin typeface="Segoe UI Semibold"/>
              </a:rPr>
              <a:t>Business problem and approach</a:t>
            </a:r>
          </a:p>
        </p:txBody>
      </p:sp>
      <p:sp>
        <p:nvSpPr>
          <p:cNvPr id="8" name="TextBox 7"/>
          <p:cNvSpPr txBox="1"/>
          <p:nvPr/>
        </p:nvSpPr>
        <p:spPr>
          <a:xfrm>
            <a:off x="4892040" y="1879872"/>
            <a:ext cx="960120" cy="153888"/>
          </a:xfrm>
          <a:prstGeom prst="rect">
            <a:avLst/>
          </a:prstGeom>
          <a:noFill/>
        </p:spPr>
        <p:txBody>
          <a:bodyPr wrap="square" lIns="0" tIns="0" rIns="0" bIns="0" anchor="ctr">
            <a:spAutoFit/>
          </a:bodyPr>
          <a:lstStyle/>
          <a:p>
            <a:pPr algn="r">
              <a:lnSpc>
                <a:spcPct val="100000"/>
              </a:lnSpc>
            </a:pPr>
            <a:r>
              <a:rPr sz="1000" b="0" dirty="0">
                <a:solidFill>
                  <a:srgbClr val="6B7785"/>
                </a:solidFill>
                <a:latin typeface="Segoe UI"/>
              </a:rPr>
              <a:t>Brief </a:t>
            </a:r>
            <a:r>
              <a:rPr sz="1000" b="0" dirty="0" smtClean="0">
                <a:solidFill>
                  <a:srgbClr val="6B7785"/>
                </a:solidFill>
                <a:latin typeface="Segoe UI"/>
              </a:rPr>
              <a:t>1–2</a:t>
            </a:r>
            <a:endParaRPr sz="1000" b="0" dirty="0">
              <a:solidFill>
                <a:srgbClr val="6B7785"/>
              </a:solidFill>
              <a:latin typeface="Segoe UI"/>
            </a:endParaRPr>
          </a:p>
        </p:txBody>
      </p:sp>
      <p:sp>
        <p:nvSpPr>
          <p:cNvPr id="9" name="Rounded Rectangle 8"/>
          <p:cNvSpPr/>
          <p:nvPr/>
        </p:nvSpPr>
        <p:spPr>
          <a:xfrm>
            <a:off x="548640" y="2395728"/>
            <a:ext cx="5440680" cy="621792"/>
          </a:xfrm>
          <a:prstGeom prst="roundRect">
            <a:avLst>
              <a:gd name="adj" fmla="val 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Oval 9"/>
          <p:cNvSpPr/>
          <p:nvPr/>
        </p:nvSpPr>
        <p:spPr>
          <a:xfrm>
            <a:off x="713232" y="2487168"/>
            <a:ext cx="438912" cy="438912"/>
          </a:xfrm>
          <a:prstGeom prst="ellipse">
            <a:avLst/>
          </a:prstGeom>
          <a:solidFill>
            <a:srgbClr val="1F4E7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713232" y="2487168"/>
            <a:ext cx="438912" cy="438912"/>
          </a:xfrm>
          <a:prstGeom prst="rect">
            <a:avLst/>
          </a:prstGeom>
          <a:noFill/>
        </p:spPr>
        <p:txBody>
          <a:bodyPr wrap="square" lIns="0" tIns="0" rIns="0" bIns="0" anchor="ctr">
            <a:spAutoFit/>
          </a:bodyPr>
          <a:lstStyle/>
          <a:p>
            <a:pPr algn="ctr">
              <a:lnSpc>
                <a:spcPct val="100000"/>
              </a:lnSpc>
            </a:pPr>
            <a:r>
              <a:rPr sz="1200" b="1">
                <a:solidFill>
                  <a:srgbClr val="FFFFFF"/>
                </a:solidFill>
                <a:latin typeface="Segoe UI"/>
              </a:rPr>
              <a:t>02</a:t>
            </a:r>
          </a:p>
        </p:txBody>
      </p:sp>
      <p:sp>
        <p:nvSpPr>
          <p:cNvPr id="12" name="TextBox 11"/>
          <p:cNvSpPr txBox="1"/>
          <p:nvPr/>
        </p:nvSpPr>
        <p:spPr>
          <a:xfrm>
            <a:off x="1325880" y="2395728"/>
            <a:ext cx="3566160" cy="621792"/>
          </a:xfrm>
          <a:prstGeom prst="rect">
            <a:avLst/>
          </a:prstGeom>
          <a:noFill/>
        </p:spPr>
        <p:txBody>
          <a:bodyPr wrap="square" lIns="0" tIns="0" rIns="0" bIns="0" anchor="ctr">
            <a:spAutoFit/>
          </a:bodyPr>
          <a:lstStyle/>
          <a:p>
            <a:pPr algn="l">
              <a:lnSpc>
                <a:spcPct val="100000"/>
              </a:lnSpc>
            </a:pPr>
            <a:r>
              <a:rPr sz="1500" b="0">
                <a:solidFill>
                  <a:srgbClr val="24323F"/>
                </a:solidFill>
                <a:latin typeface="Segoe UI Semibold"/>
              </a:rPr>
              <a:t>Solution architecture</a:t>
            </a:r>
          </a:p>
        </p:txBody>
      </p:sp>
      <p:sp>
        <p:nvSpPr>
          <p:cNvPr id="13" name="TextBox 12"/>
          <p:cNvSpPr txBox="1"/>
          <p:nvPr/>
        </p:nvSpPr>
        <p:spPr>
          <a:xfrm>
            <a:off x="4892040" y="2629680"/>
            <a:ext cx="960120" cy="153888"/>
          </a:xfrm>
          <a:prstGeom prst="rect">
            <a:avLst/>
          </a:prstGeom>
          <a:noFill/>
        </p:spPr>
        <p:txBody>
          <a:bodyPr wrap="square" lIns="0" tIns="0" rIns="0" bIns="0" anchor="ctr">
            <a:spAutoFit/>
          </a:bodyPr>
          <a:lstStyle/>
          <a:p>
            <a:pPr algn="r">
              <a:lnSpc>
                <a:spcPct val="100000"/>
              </a:lnSpc>
            </a:pPr>
            <a:r>
              <a:rPr sz="1000" b="0" dirty="0">
                <a:solidFill>
                  <a:srgbClr val="6B7785"/>
                </a:solidFill>
                <a:latin typeface="Segoe UI"/>
              </a:rPr>
              <a:t>Brief </a:t>
            </a:r>
            <a:r>
              <a:rPr sz="1000" b="0" dirty="0" smtClean="0">
                <a:solidFill>
                  <a:srgbClr val="6B7785"/>
                </a:solidFill>
                <a:latin typeface="Segoe UI"/>
              </a:rPr>
              <a:t>5</a:t>
            </a:r>
            <a:endParaRPr sz="1000" b="0" dirty="0">
              <a:solidFill>
                <a:srgbClr val="6B7785"/>
              </a:solidFill>
              <a:latin typeface="Segoe UI"/>
            </a:endParaRPr>
          </a:p>
        </p:txBody>
      </p:sp>
      <p:sp>
        <p:nvSpPr>
          <p:cNvPr id="14" name="Rounded Rectangle 13"/>
          <p:cNvSpPr/>
          <p:nvPr/>
        </p:nvSpPr>
        <p:spPr>
          <a:xfrm>
            <a:off x="548640" y="3145536"/>
            <a:ext cx="5440680" cy="621792"/>
          </a:xfrm>
          <a:prstGeom prst="roundRect">
            <a:avLst>
              <a:gd name="adj" fmla="val 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Oval 14"/>
          <p:cNvSpPr/>
          <p:nvPr/>
        </p:nvSpPr>
        <p:spPr>
          <a:xfrm>
            <a:off x="713232" y="3236976"/>
            <a:ext cx="438912" cy="438912"/>
          </a:xfrm>
          <a:prstGeom prst="ellipse">
            <a:avLst/>
          </a:prstGeom>
          <a:solidFill>
            <a:srgbClr val="1F4E7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713232" y="3236976"/>
            <a:ext cx="438912" cy="438912"/>
          </a:xfrm>
          <a:prstGeom prst="rect">
            <a:avLst/>
          </a:prstGeom>
          <a:noFill/>
        </p:spPr>
        <p:txBody>
          <a:bodyPr wrap="square" lIns="0" tIns="0" rIns="0" bIns="0" anchor="ctr">
            <a:spAutoFit/>
          </a:bodyPr>
          <a:lstStyle/>
          <a:p>
            <a:pPr algn="ctr">
              <a:lnSpc>
                <a:spcPct val="100000"/>
              </a:lnSpc>
            </a:pPr>
            <a:r>
              <a:rPr sz="1200" b="1">
                <a:solidFill>
                  <a:srgbClr val="FFFFFF"/>
                </a:solidFill>
                <a:latin typeface="Segoe UI"/>
              </a:rPr>
              <a:t>03</a:t>
            </a:r>
          </a:p>
        </p:txBody>
      </p:sp>
      <p:sp>
        <p:nvSpPr>
          <p:cNvPr id="17" name="TextBox 16"/>
          <p:cNvSpPr txBox="1"/>
          <p:nvPr/>
        </p:nvSpPr>
        <p:spPr>
          <a:xfrm>
            <a:off x="1325880" y="3145536"/>
            <a:ext cx="3566160" cy="621792"/>
          </a:xfrm>
          <a:prstGeom prst="rect">
            <a:avLst/>
          </a:prstGeom>
          <a:noFill/>
        </p:spPr>
        <p:txBody>
          <a:bodyPr wrap="square" lIns="0" tIns="0" rIns="0" bIns="0" anchor="ctr">
            <a:spAutoFit/>
          </a:bodyPr>
          <a:lstStyle/>
          <a:p>
            <a:pPr algn="l">
              <a:lnSpc>
                <a:spcPct val="100000"/>
              </a:lnSpc>
            </a:pPr>
            <a:r>
              <a:rPr sz="1500" b="0">
                <a:solidFill>
                  <a:srgbClr val="24323F"/>
                </a:solidFill>
                <a:latin typeface="Segoe UI Semibold"/>
              </a:rPr>
              <a:t>Data flow</a:t>
            </a:r>
          </a:p>
        </p:txBody>
      </p:sp>
      <p:sp>
        <p:nvSpPr>
          <p:cNvPr id="18" name="TextBox 17"/>
          <p:cNvSpPr txBox="1"/>
          <p:nvPr/>
        </p:nvSpPr>
        <p:spPr>
          <a:xfrm>
            <a:off x="4892040" y="3379488"/>
            <a:ext cx="960120" cy="153888"/>
          </a:xfrm>
          <a:prstGeom prst="rect">
            <a:avLst/>
          </a:prstGeom>
          <a:noFill/>
        </p:spPr>
        <p:txBody>
          <a:bodyPr wrap="square" lIns="0" tIns="0" rIns="0" bIns="0" anchor="ctr">
            <a:spAutoFit/>
          </a:bodyPr>
          <a:lstStyle/>
          <a:p>
            <a:pPr algn="r">
              <a:lnSpc>
                <a:spcPct val="100000"/>
              </a:lnSpc>
            </a:pPr>
            <a:r>
              <a:rPr sz="1000" b="0" dirty="0" smtClean="0">
                <a:solidFill>
                  <a:srgbClr val="6B7785"/>
                </a:solidFill>
                <a:latin typeface="Segoe UI"/>
              </a:rPr>
              <a:t>Brief</a:t>
            </a:r>
            <a:r>
              <a:rPr lang="en-US" sz="1000" b="0" dirty="0" smtClean="0">
                <a:solidFill>
                  <a:srgbClr val="6B7785"/>
                </a:solidFill>
                <a:latin typeface="Segoe UI"/>
              </a:rPr>
              <a:t> </a:t>
            </a:r>
            <a:r>
              <a:rPr sz="1000" b="0" dirty="0" smtClean="0">
                <a:solidFill>
                  <a:srgbClr val="6B7785"/>
                </a:solidFill>
                <a:latin typeface="Segoe UI"/>
              </a:rPr>
              <a:t>5</a:t>
            </a:r>
            <a:endParaRPr sz="1000" b="0" dirty="0">
              <a:solidFill>
                <a:srgbClr val="6B7785"/>
              </a:solidFill>
              <a:latin typeface="Segoe UI"/>
            </a:endParaRPr>
          </a:p>
        </p:txBody>
      </p:sp>
      <p:sp>
        <p:nvSpPr>
          <p:cNvPr id="19" name="Rounded Rectangle 18"/>
          <p:cNvSpPr/>
          <p:nvPr/>
        </p:nvSpPr>
        <p:spPr>
          <a:xfrm>
            <a:off x="548640" y="3895344"/>
            <a:ext cx="5440680" cy="621792"/>
          </a:xfrm>
          <a:prstGeom prst="roundRect">
            <a:avLst>
              <a:gd name="adj" fmla="val 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Oval 19"/>
          <p:cNvSpPr/>
          <p:nvPr/>
        </p:nvSpPr>
        <p:spPr>
          <a:xfrm>
            <a:off x="713232" y="3986783"/>
            <a:ext cx="438912" cy="438912"/>
          </a:xfrm>
          <a:prstGeom prst="ellipse">
            <a:avLst/>
          </a:prstGeom>
          <a:solidFill>
            <a:srgbClr val="1F4E7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713232" y="3986783"/>
            <a:ext cx="438912" cy="438912"/>
          </a:xfrm>
          <a:prstGeom prst="rect">
            <a:avLst/>
          </a:prstGeom>
          <a:noFill/>
        </p:spPr>
        <p:txBody>
          <a:bodyPr wrap="square" lIns="0" tIns="0" rIns="0" bIns="0" anchor="ctr">
            <a:spAutoFit/>
          </a:bodyPr>
          <a:lstStyle/>
          <a:p>
            <a:pPr algn="ctr">
              <a:lnSpc>
                <a:spcPct val="100000"/>
              </a:lnSpc>
            </a:pPr>
            <a:r>
              <a:rPr sz="1200" b="1">
                <a:solidFill>
                  <a:srgbClr val="FFFFFF"/>
                </a:solidFill>
                <a:latin typeface="Segoe UI"/>
              </a:rPr>
              <a:t>04</a:t>
            </a:r>
          </a:p>
        </p:txBody>
      </p:sp>
      <p:sp>
        <p:nvSpPr>
          <p:cNvPr id="22" name="TextBox 21"/>
          <p:cNvSpPr txBox="1"/>
          <p:nvPr/>
        </p:nvSpPr>
        <p:spPr>
          <a:xfrm>
            <a:off x="1325880" y="3895344"/>
            <a:ext cx="3566160" cy="621792"/>
          </a:xfrm>
          <a:prstGeom prst="rect">
            <a:avLst/>
          </a:prstGeom>
          <a:noFill/>
        </p:spPr>
        <p:txBody>
          <a:bodyPr wrap="square" lIns="0" tIns="0" rIns="0" bIns="0" anchor="ctr">
            <a:spAutoFit/>
          </a:bodyPr>
          <a:lstStyle/>
          <a:p>
            <a:pPr algn="l">
              <a:lnSpc>
                <a:spcPct val="100000"/>
              </a:lnSpc>
            </a:pPr>
            <a:r>
              <a:rPr sz="1500" b="0">
                <a:solidFill>
                  <a:srgbClr val="24323F"/>
                </a:solidFill>
                <a:latin typeface="Segoe UI Semibold"/>
              </a:rPr>
              <a:t>SQL implementation</a:t>
            </a:r>
          </a:p>
        </p:txBody>
      </p:sp>
      <p:sp>
        <p:nvSpPr>
          <p:cNvPr id="23" name="TextBox 22"/>
          <p:cNvSpPr txBox="1"/>
          <p:nvPr/>
        </p:nvSpPr>
        <p:spPr>
          <a:xfrm>
            <a:off x="4892040" y="4129296"/>
            <a:ext cx="960120" cy="153888"/>
          </a:xfrm>
          <a:prstGeom prst="rect">
            <a:avLst/>
          </a:prstGeom>
          <a:noFill/>
        </p:spPr>
        <p:txBody>
          <a:bodyPr wrap="square" lIns="0" tIns="0" rIns="0" bIns="0" anchor="ctr">
            <a:spAutoFit/>
          </a:bodyPr>
          <a:lstStyle/>
          <a:p>
            <a:pPr algn="r">
              <a:lnSpc>
                <a:spcPct val="100000"/>
              </a:lnSpc>
            </a:pPr>
            <a:r>
              <a:rPr sz="1000" b="0" dirty="0">
                <a:solidFill>
                  <a:srgbClr val="6B7785"/>
                </a:solidFill>
                <a:latin typeface="Segoe UI"/>
              </a:rPr>
              <a:t>Brief </a:t>
            </a:r>
            <a:r>
              <a:rPr sz="1000" b="0" dirty="0" smtClean="0">
                <a:solidFill>
                  <a:srgbClr val="6B7785"/>
                </a:solidFill>
                <a:latin typeface="Segoe UI"/>
              </a:rPr>
              <a:t>4–5</a:t>
            </a:r>
            <a:endParaRPr sz="1000" b="0" dirty="0">
              <a:solidFill>
                <a:srgbClr val="6B7785"/>
              </a:solidFill>
              <a:latin typeface="Segoe UI"/>
            </a:endParaRPr>
          </a:p>
        </p:txBody>
      </p:sp>
      <p:sp>
        <p:nvSpPr>
          <p:cNvPr id="24" name="Rounded Rectangle 23"/>
          <p:cNvSpPr/>
          <p:nvPr/>
        </p:nvSpPr>
        <p:spPr>
          <a:xfrm>
            <a:off x="548640" y="4645152"/>
            <a:ext cx="5440680" cy="621792"/>
          </a:xfrm>
          <a:prstGeom prst="roundRect">
            <a:avLst>
              <a:gd name="adj" fmla="val 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Oval 24"/>
          <p:cNvSpPr/>
          <p:nvPr/>
        </p:nvSpPr>
        <p:spPr>
          <a:xfrm>
            <a:off x="713232" y="4736592"/>
            <a:ext cx="438912" cy="438912"/>
          </a:xfrm>
          <a:prstGeom prst="ellipse">
            <a:avLst/>
          </a:prstGeom>
          <a:solidFill>
            <a:srgbClr val="1F4E7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Box 25"/>
          <p:cNvSpPr txBox="1"/>
          <p:nvPr/>
        </p:nvSpPr>
        <p:spPr>
          <a:xfrm>
            <a:off x="713232" y="4736592"/>
            <a:ext cx="438912" cy="438912"/>
          </a:xfrm>
          <a:prstGeom prst="rect">
            <a:avLst/>
          </a:prstGeom>
          <a:noFill/>
        </p:spPr>
        <p:txBody>
          <a:bodyPr wrap="square" lIns="0" tIns="0" rIns="0" bIns="0" anchor="ctr">
            <a:spAutoFit/>
          </a:bodyPr>
          <a:lstStyle/>
          <a:p>
            <a:pPr algn="ctr">
              <a:lnSpc>
                <a:spcPct val="100000"/>
              </a:lnSpc>
            </a:pPr>
            <a:r>
              <a:rPr sz="1200" b="1">
                <a:solidFill>
                  <a:srgbClr val="FFFFFF"/>
                </a:solidFill>
                <a:latin typeface="Segoe UI"/>
              </a:rPr>
              <a:t>05</a:t>
            </a:r>
          </a:p>
        </p:txBody>
      </p:sp>
      <p:sp>
        <p:nvSpPr>
          <p:cNvPr id="27" name="TextBox 26"/>
          <p:cNvSpPr txBox="1"/>
          <p:nvPr/>
        </p:nvSpPr>
        <p:spPr>
          <a:xfrm>
            <a:off x="1325880" y="4645152"/>
            <a:ext cx="3566160" cy="621792"/>
          </a:xfrm>
          <a:prstGeom prst="rect">
            <a:avLst/>
          </a:prstGeom>
          <a:noFill/>
        </p:spPr>
        <p:txBody>
          <a:bodyPr wrap="square" lIns="0" tIns="0" rIns="0" bIns="0" anchor="ctr">
            <a:spAutoFit/>
          </a:bodyPr>
          <a:lstStyle/>
          <a:p>
            <a:pPr algn="l">
              <a:lnSpc>
                <a:spcPct val="100000"/>
              </a:lnSpc>
            </a:pPr>
            <a:r>
              <a:rPr sz="1500" b="0">
                <a:solidFill>
                  <a:srgbClr val="24323F"/>
                </a:solidFill>
                <a:latin typeface="Segoe UI Semibold"/>
              </a:rPr>
              <a:t>Alteryx implementation</a:t>
            </a:r>
          </a:p>
        </p:txBody>
      </p:sp>
      <p:sp>
        <p:nvSpPr>
          <p:cNvPr id="28" name="TextBox 27"/>
          <p:cNvSpPr txBox="1"/>
          <p:nvPr/>
        </p:nvSpPr>
        <p:spPr>
          <a:xfrm>
            <a:off x="4892040" y="4879104"/>
            <a:ext cx="960120" cy="153888"/>
          </a:xfrm>
          <a:prstGeom prst="rect">
            <a:avLst/>
          </a:prstGeom>
          <a:noFill/>
        </p:spPr>
        <p:txBody>
          <a:bodyPr wrap="square" lIns="0" tIns="0" rIns="0" bIns="0" anchor="ctr">
            <a:spAutoFit/>
          </a:bodyPr>
          <a:lstStyle/>
          <a:p>
            <a:pPr algn="r">
              <a:lnSpc>
                <a:spcPct val="100000"/>
              </a:lnSpc>
            </a:pPr>
            <a:r>
              <a:rPr sz="1000" b="0" dirty="0">
                <a:solidFill>
                  <a:srgbClr val="6B7785"/>
                </a:solidFill>
                <a:latin typeface="Segoe UI"/>
              </a:rPr>
              <a:t>Brief </a:t>
            </a:r>
            <a:r>
              <a:rPr sz="1000" b="0" dirty="0" smtClean="0">
                <a:solidFill>
                  <a:srgbClr val="6B7785"/>
                </a:solidFill>
                <a:latin typeface="Segoe UI"/>
              </a:rPr>
              <a:t>4–5</a:t>
            </a:r>
            <a:endParaRPr sz="1000" b="0" dirty="0">
              <a:solidFill>
                <a:srgbClr val="6B7785"/>
              </a:solidFill>
              <a:latin typeface="Segoe UI"/>
            </a:endParaRPr>
          </a:p>
        </p:txBody>
      </p:sp>
      <p:sp>
        <p:nvSpPr>
          <p:cNvPr id="29" name="Rounded Rectangle 28"/>
          <p:cNvSpPr/>
          <p:nvPr/>
        </p:nvSpPr>
        <p:spPr>
          <a:xfrm>
            <a:off x="548640" y="5394959"/>
            <a:ext cx="5440680" cy="621792"/>
          </a:xfrm>
          <a:prstGeom prst="roundRect">
            <a:avLst>
              <a:gd name="adj" fmla="val 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Oval 29"/>
          <p:cNvSpPr/>
          <p:nvPr/>
        </p:nvSpPr>
        <p:spPr>
          <a:xfrm>
            <a:off x="713232" y="5486399"/>
            <a:ext cx="438912" cy="438912"/>
          </a:xfrm>
          <a:prstGeom prst="ellipse">
            <a:avLst/>
          </a:prstGeom>
          <a:solidFill>
            <a:srgbClr val="1F4E7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TextBox 30"/>
          <p:cNvSpPr txBox="1"/>
          <p:nvPr/>
        </p:nvSpPr>
        <p:spPr>
          <a:xfrm>
            <a:off x="713232" y="5486399"/>
            <a:ext cx="438912" cy="438912"/>
          </a:xfrm>
          <a:prstGeom prst="rect">
            <a:avLst/>
          </a:prstGeom>
          <a:noFill/>
        </p:spPr>
        <p:txBody>
          <a:bodyPr wrap="square" lIns="0" tIns="0" rIns="0" bIns="0" anchor="ctr">
            <a:spAutoFit/>
          </a:bodyPr>
          <a:lstStyle/>
          <a:p>
            <a:pPr algn="ctr">
              <a:lnSpc>
                <a:spcPct val="100000"/>
              </a:lnSpc>
            </a:pPr>
            <a:r>
              <a:rPr sz="1200" b="1">
                <a:solidFill>
                  <a:srgbClr val="FFFFFF"/>
                </a:solidFill>
                <a:latin typeface="Segoe UI"/>
              </a:rPr>
              <a:t>06</a:t>
            </a:r>
          </a:p>
        </p:txBody>
      </p:sp>
      <p:sp>
        <p:nvSpPr>
          <p:cNvPr id="32" name="TextBox 31"/>
          <p:cNvSpPr txBox="1"/>
          <p:nvPr/>
        </p:nvSpPr>
        <p:spPr>
          <a:xfrm>
            <a:off x="1325880" y="5394959"/>
            <a:ext cx="3566160" cy="621792"/>
          </a:xfrm>
          <a:prstGeom prst="rect">
            <a:avLst/>
          </a:prstGeom>
          <a:noFill/>
        </p:spPr>
        <p:txBody>
          <a:bodyPr wrap="square" lIns="0" tIns="0" rIns="0" bIns="0" anchor="ctr">
            <a:spAutoFit/>
          </a:bodyPr>
          <a:lstStyle/>
          <a:p>
            <a:pPr algn="l">
              <a:lnSpc>
                <a:spcPct val="100000"/>
              </a:lnSpc>
            </a:pPr>
            <a:r>
              <a:rPr sz="1500" b="0">
                <a:solidFill>
                  <a:srgbClr val="24323F"/>
                </a:solidFill>
                <a:latin typeface="Segoe UI Semibold"/>
              </a:rPr>
              <a:t>Data processing</a:t>
            </a:r>
          </a:p>
        </p:txBody>
      </p:sp>
      <p:sp>
        <p:nvSpPr>
          <p:cNvPr id="33" name="TextBox 32"/>
          <p:cNvSpPr txBox="1"/>
          <p:nvPr/>
        </p:nvSpPr>
        <p:spPr>
          <a:xfrm>
            <a:off x="4892040" y="5628911"/>
            <a:ext cx="960120" cy="153888"/>
          </a:xfrm>
          <a:prstGeom prst="rect">
            <a:avLst/>
          </a:prstGeom>
          <a:noFill/>
        </p:spPr>
        <p:txBody>
          <a:bodyPr wrap="square" lIns="0" tIns="0" rIns="0" bIns="0" anchor="ctr">
            <a:spAutoFit/>
          </a:bodyPr>
          <a:lstStyle/>
          <a:p>
            <a:pPr algn="r">
              <a:lnSpc>
                <a:spcPct val="100000"/>
              </a:lnSpc>
            </a:pPr>
            <a:r>
              <a:rPr sz="1000" b="0" dirty="0">
                <a:solidFill>
                  <a:srgbClr val="6B7785"/>
                </a:solidFill>
                <a:latin typeface="Segoe UI"/>
              </a:rPr>
              <a:t>Brief </a:t>
            </a:r>
            <a:r>
              <a:rPr sz="1000" b="0" dirty="0" smtClean="0">
                <a:solidFill>
                  <a:srgbClr val="6B7785"/>
                </a:solidFill>
                <a:latin typeface="Segoe UI"/>
              </a:rPr>
              <a:t>5</a:t>
            </a:r>
            <a:r>
              <a:rPr sz="1000" b="0" dirty="0">
                <a:solidFill>
                  <a:srgbClr val="6B7785"/>
                </a:solidFill>
                <a:latin typeface="Segoe UI"/>
              </a:rPr>
              <a:t>, </a:t>
            </a:r>
            <a:r>
              <a:rPr sz="1000" b="0" dirty="0" smtClean="0">
                <a:solidFill>
                  <a:srgbClr val="6B7785"/>
                </a:solidFill>
                <a:latin typeface="Segoe UI"/>
              </a:rPr>
              <a:t>16</a:t>
            </a:r>
            <a:endParaRPr sz="1000" b="0" dirty="0">
              <a:solidFill>
                <a:srgbClr val="6B7785"/>
              </a:solidFill>
              <a:latin typeface="Segoe UI"/>
            </a:endParaRPr>
          </a:p>
        </p:txBody>
      </p:sp>
      <p:sp>
        <p:nvSpPr>
          <p:cNvPr id="34" name="Rounded Rectangle 33"/>
          <p:cNvSpPr/>
          <p:nvPr/>
        </p:nvSpPr>
        <p:spPr>
          <a:xfrm>
            <a:off x="6172200" y="1645920"/>
            <a:ext cx="5440680" cy="621792"/>
          </a:xfrm>
          <a:prstGeom prst="roundRect">
            <a:avLst>
              <a:gd name="adj" fmla="val 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 name="Oval 34"/>
          <p:cNvSpPr/>
          <p:nvPr/>
        </p:nvSpPr>
        <p:spPr>
          <a:xfrm>
            <a:off x="6336792" y="1737360"/>
            <a:ext cx="438912" cy="438912"/>
          </a:xfrm>
          <a:prstGeom prst="ellipse">
            <a:avLst/>
          </a:prstGeom>
          <a:solidFill>
            <a:srgbClr val="1F4E7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6" name="TextBox 35"/>
          <p:cNvSpPr txBox="1"/>
          <p:nvPr/>
        </p:nvSpPr>
        <p:spPr>
          <a:xfrm>
            <a:off x="6336792" y="1737360"/>
            <a:ext cx="438912" cy="438912"/>
          </a:xfrm>
          <a:prstGeom prst="rect">
            <a:avLst/>
          </a:prstGeom>
          <a:noFill/>
        </p:spPr>
        <p:txBody>
          <a:bodyPr wrap="square" lIns="0" tIns="0" rIns="0" bIns="0" anchor="ctr">
            <a:spAutoFit/>
          </a:bodyPr>
          <a:lstStyle/>
          <a:p>
            <a:pPr algn="ctr">
              <a:lnSpc>
                <a:spcPct val="100000"/>
              </a:lnSpc>
            </a:pPr>
            <a:r>
              <a:rPr sz="1200" b="1">
                <a:solidFill>
                  <a:srgbClr val="FFFFFF"/>
                </a:solidFill>
                <a:latin typeface="Segoe UI"/>
              </a:rPr>
              <a:t>07</a:t>
            </a:r>
          </a:p>
        </p:txBody>
      </p:sp>
      <p:sp>
        <p:nvSpPr>
          <p:cNvPr id="37" name="TextBox 36"/>
          <p:cNvSpPr txBox="1"/>
          <p:nvPr/>
        </p:nvSpPr>
        <p:spPr>
          <a:xfrm>
            <a:off x="6949440" y="1645920"/>
            <a:ext cx="3566160" cy="621792"/>
          </a:xfrm>
          <a:prstGeom prst="rect">
            <a:avLst/>
          </a:prstGeom>
          <a:noFill/>
        </p:spPr>
        <p:txBody>
          <a:bodyPr wrap="square" lIns="0" tIns="0" rIns="0" bIns="0" anchor="ctr">
            <a:spAutoFit/>
          </a:bodyPr>
          <a:lstStyle/>
          <a:p>
            <a:pPr algn="l">
              <a:lnSpc>
                <a:spcPct val="100000"/>
              </a:lnSpc>
            </a:pPr>
            <a:r>
              <a:rPr sz="1500" b="0">
                <a:solidFill>
                  <a:srgbClr val="24323F"/>
                </a:solidFill>
                <a:latin typeface="Segoe UI Semibold"/>
              </a:rPr>
              <a:t>Tableau dashboards</a:t>
            </a:r>
          </a:p>
        </p:txBody>
      </p:sp>
      <p:sp>
        <p:nvSpPr>
          <p:cNvPr id="38" name="TextBox 37"/>
          <p:cNvSpPr txBox="1"/>
          <p:nvPr/>
        </p:nvSpPr>
        <p:spPr>
          <a:xfrm>
            <a:off x="10515600" y="1879872"/>
            <a:ext cx="960120" cy="153888"/>
          </a:xfrm>
          <a:prstGeom prst="rect">
            <a:avLst/>
          </a:prstGeom>
          <a:noFill/>
        </p:spPr>
        <p:txBody>
          <a:bodyPr wrap="square" lIns="0" tIns="0" rIns="0" bIns="0" anchor="ctr">
            <a:spAutoFit/>
          </a:bodyPr>
          <a:lstStyle/>
          <a:p>
            <a:pPr algn="r">
              <a:lnSpc>
                <a:spcPct val="100000"/>
              </a:lnSpc>
            </a:pPr>
            <a:r>
              <a:rPr sz="1000" b="0" dirty="0">
                <a:solidFill>
                  <a:srgbClr val="6B7785"/>
                </a:solidFill>
                <a:latin typeface="Segoe UI"/>
              </a:rPr>
              <a:t>Brief </a:t>
            </a:r>
            <a:r>
              <a:rPr sz="1000" b="0" dirty="0" smtClean="0">
                <a:solidFill>
                  <a:srgbClr val="6B7785"/>
                </a:solidFill>
                <a:latin typeface="Segoe UI"/>
              </a:rPr>
              <a:t>8–9</a:t>
            </a:r>
            <a:endParaRPr sz="1000" b="0" dirty="0">
              <a:solidFill>
                <a:srgbClr val="6B7785"/>
              </a:solidFill>
              <a:latin typeface="Segoe UI"/>
            </a:endParaRPr>
          </a:p>
        </p:txBody>
      </p:sp>
      <p:sp>
        <p:nvSpPr>
          <p:cNvPr id="39" name="Rounded Rectangle 38"/>
          <p:cNvSpPr/>
          <p:nvPr/>
        </p:nvSpPr>
        <p:spPr>
          <a:xfrm>
            <a:off x="6172200" y="2395728"/>
            <a:ext cx="5440680" cy="621792"/>
          </a:xfrm>
          <a:prstGeom prst="roundRect">
            <a:avLst>
              <a:gd name="adj" fmla="val 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0" name="Oval 39"/>
          <p:cNvSpPr/>
          <p:nvPr/>
        </p:nvSpPr>
        <p:spPr>
          <a:xfrm>
            <a:off x="6336792" y="2487168"/>
            <a:ext cx="438912" cy="438912"/>
          </a:xfrm>
          <a:prstGeom prst="ellipse">
            <a:avLst/>
          </a:prstGeom>
          <a:solidFill>
            <a:srgbClr val="1F4E7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1" name="TextBox 40"/>
          <p:cNvSpPr txBox="1"/>
          <p:nvPr/>
        </p:nvSpPr>
        <p:spPr>
          <a:xfrm>
            <a:off x="6336792" y="2487168"/>
            <a:ext cx="438912" cy="438912"/>
          </a:xfrm>
          <a:prstGeom prst="rect">
            <a:avLst/>
          </a:prstGeom>
          <a:noFill/>
        </p:spPr>
        <p:txBody>
          <a:bodyPr wrap="square" lIns="0" tIns="0" rIns="0" bIns="0" anchor="ctr">
            <a:spAutoFit/>
          </a:bodyPr>
          <a:lstStyle/>
          <a:p>
            <a:pPr algn="ctr">
              <a:lnSpc>
                <a:spcPct val="100000"/>
              </a:lnSpc>
            </a:pPr>
            <a:r>
              <a:rPr sz="1200" b="1">
                <a:solidFill>
                  <a:srgbClr val="FFFFFF"/>
                </a:solidFill>
                <a:latin typeface="Segoe UI"/>
              </a:rPr>
              <a:t>08</a:t>
            </a:r>
          </a:p>
        </p:txBody>
      </p:sp>
      <p:sp>
        <p:nvSpPr>
          <p:cNvPr id="42" name="TextBox 41"/>
          <p:cNvSpPr txBox="1"/>
          <p:nvPr/>
        </p:nvSpPr>
        <p:spPr>
          <a:xfrm>
            <a:off x="6949440" y="2395728"/>
            <a:ext cx="3566160" cy="621792"/>
          </a:xfrm>
          <a:prstGeom prst="rect">
            <a:avLst/>
          </a:prstGeom>
          <a:noFill/>
        </p:spPr>
        <p:txBody>
          <a:bodyPr wrap="square" lIns="0" tIns="0" rIns="0" bIns="0" anchor="ctr">
            <a:spAutoFit/>
          </a:bodyPr>
          <a:lstStyle/>
          <a:p>
            <a:pPr algn="l">
              <a:lnSpc>
                <a:spcPct val="100000"/>
              </a:lnSpc>
            </a:pPr>
            <a:r>
              <a:rPr sz="1500" b="0">
                <a:solidFill>
                  <a:srgbClr val="24323F"/>
                </a:solidFill>
                <a:latin typeface="Segoe UI Semibold"/>
              </a:rPr>
              <a:t>Data-quality handling</a:t>
            </a:r>
          </a:p>
        </p:txBody>
      </p:sp>
      <p:sp>
        <p:nvSpPr>
          <p:cNvPr id="43" name="TextBox 42"/>
          <p:cNvSpPr txBox="1"/>
          <p:nvPr/>
        </p:nvSpPr>
        <p:spPr>
          <a:xfrm>
            <a:off x="10515600" y="2629680"/>
            <a:ext cx="960120" cy="153888"/>
          </a:xfrm>
          <a:prstGeom prst="rect">
            <a:avLst/>
          </a:prstGeom>
          <a:noFill/>
        </p:spPr>
        <p:txBody>
          <a:bodyPr wrap="square" lIns="0" tIns="0" rIns="0" bIns="0" anchor="ctr">
            <a:spAutoFit/>
          </a:bodyPr>
          <a:lstStyle/>
          <a:p>
            <a:pPr algn="r">
              <a:lnSpc>
                <a:spcPct val="100000"/>
              </a:lnSpc>
            </a:pPr>
            <a:r>
              <a:rPr sz="1000" b="0" dirty="0">
                <a:solidFill>
                  <a:srgbClr val="6B7785"/>
                </a:solidFill>
                <a:latin typeface="Segoe UI"/>
              </a:rPr>
              <a:t>Brief </a:t>
            </a:r>
            <a:r>
              <a:rPr sz="1000" b="0" dirty="0" smtClean="0">
                <a:solidFill>
                  <a:srgbClr val="6B7785"/>
                </a:solidFill>
                <a:latin typeface="Segoe UI"/>
              </a:rPr>
              <a:t>6–7</a:t>
            </a:r>
            <a:endParaRPr sz="1000" b="0" dirty="0">
              <a:solidFill>
                <a:srgbClr val="6B7785"/>
              </a:solidFill>
              <a:latin typeface="Segoe UI"/>
            </a:endParaRPr>
          </a:p>
        </p:txBody>
      </p:sp>
      <p:sp>
        <p:nvSpPr>
          <p:cNvPr id="44" name="Rounded Rectangle 43"/>
          <p:cNvSpPr/>
          <p:nvPr/>
        </p:nvSpPr>
        <p:spPr>
          <a:xfrm>
            <a:off x="6172200" y="3145536"/>
            <a:ext cx="5440680" cy="621792"/>
          </a:xfrm>
          <a:prstGeom prst="roundRect">
            <a:avLst>
              <a:gd name="adj" fmla="val 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5" name="Oval 44"/>
          <p:cNvSpPr/>
          <p:nvPr/>
        </p:nvSpPr>
        <p:spPr>
          <a:xfrm>
            <a:off x="6336792" y="3236976"/>
            <a:ext cx="438912" cy="438912"/>
          </a:xfrm>
          <a:prstGeom prst="ellipse">
            <a:avLst/>
          </a:prstGeom>
          <a:solidFill>
            <a:srgbClr val="1F4E7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6" name="TextBox 45"/>
          <p:cNvSpPr txBox="1"/>
          <p:nvPr/>
        </p:nvSpPr>
        <p:spPr>
          <a:xfrm>
            <a:off x="6336792" y="3236976"/>
            <a:ext cx="438912" cy="438912"/>
          </a:xfrm>
          <a:prstGeom prst="rect">
            <a:avLst/>
          </a:prstGeom>
          <a:noFill/>
        </p:spPr>
        <p:txBody>
          <a:bodyPr wrap="square" lIns="0" tIns="0" rIns="0" bIns="0" anchor="ctr">
            <a:spAutoFit/>
          </a:bodyPr>
          <a:lstStyle/>
          <a:p>
            <a:pPr algn="ctr">
              <a:lnSpc>
                <a:spcPct val="100000"/>
              </a:lnSpc>
            </a:pPr>
            <a:r>
              <a:rPr sz="1200" b="1">
                <a:solidFill>
                  <a:srgbClr val="FFFFFF"/>
                </a:solidFill>
                <a:latin typeface="Segoe UI"/>
              </a:rPr>
              <a:t>09</a:t>
            </a:r>
          </a:p>
        </p:txBody>
      </p:sp>
      <p:sp>
        <p:nvSpPr>
          <p:cNvPr id="47" name="TextBox 46"/>
          <p:cNvSpPr txBox="1"/>
          <p:nvPr/>
        </p:nvSpPr>
        <p:spPr>
          <a:xfrm>
            <a:off x="6949440" y="3145536"/>
            <a:ext cx="3566160" cy="621792"/>
          </a:xfrm>
          <a:prstGeom prst="rect">
            <a:avLst/>
          </a:prstGeom>
          <a:noFill/>
        </p:spPr>
        <p:txBody>
          <a:bodyPr wrap="square" lIns="0" tIns="0" rIns="0" bIns="0" anchor="ctr">
            <a:spAutoFit/>
          </a:bodyPr>
          <a:lstStyle/>
          <a:p>
            <a:pPr algn="l">
              <a:lnSpc>
                <a:spcPct val="100000"/>
              </a:lnSpc>
            </a:pPr>
            <a:r>
              <a:rPr sz="1500" b="0">
                <a:solidFill>
                  <a:srgbClr val="24323F"/>
                </a:solidFill>
                <a:latin typeface="Segoe UI Semibold"/>
              </a:rPr>
              <a:t>Security considerations</a:t>
            </a:r>
          </a:p>
        </p:txBody>
      </p:sp>
      <p:sp>
        <p:nvSpPr>
          <p:cNvPr id="48" name="TextBox 47"/>
          <p:cNvSpPr txBox="1"/>
          <p:nvPr/>
        </p:nvSpPr>
        <p:spPr>
          <a:xfrm>
            <a:off x="10515600" y="3379488"/>
            <a:ext cx="960120" cy="153888"/>
          </a:xfrm>
          <a:prstGeom prst="rect">
            <a:avLst/>
          </a:prstGeom>
          <a:noFill/>
        </p:spPr>
        <p:txBody>
          <a:bodyPr wrap="square" lIns="0" tIns="0" rIns="0" bIns="0" anchor="ctr">
            <a:spAutoFit/>
          </a:bodyPr>
          <a:lstStyle/>
          <a:p>
            <a:pPr algn="r">
              <a:lnSpc>
                <a:spcPct val="100000"/>
              </a:lnSpc>
            </a:pPr>
            <a:r>
              <a:rPr sz="1000" b="0" dirty="0">
                <a:solidFill>
                  <a:srgbClr val="6B7785"/>
                </a:solidFill>
                <a:latin typeface="Segoe UI"/>
              </a:rPr>
              <a:t>Brief </a:t>
            </a:r>
            <a:r>
              <a:rPr sz="1000" b="0" dirty="0" smtClean="0">
                <a:solidFill>
                  <a:srgbClr val="6B7785"/>
                </a:solidFill>
                <a:latin typeface="Segoe UI"/>
              </a:rPr>
              <a:t>11</a:t>
            </a:r>
            <a:endParaRPr sz="1000" b="0" dirty="0">
              <a:solidFill>
                <a:srgbClr val="6B7785"/>
              </a:solidFill>
              <a:latin typeface="Segoe UI"/>
            </a:endParaRPr>
          </a:p>
        </p:txBody>
      </p:sp>
      <p:sp>
        <p:nvSpPr>
          <p:cNvPr id="49" name="Rounded Rectangle 48"/>
          <p:cNvSpPr/>
          <p:nvPr/>
        </p:nvSpPr>
        <p:spPr>
          <a:xfrm>
            <a:off x="6172200" y="3895344"/>
            <a:ext cx="5440680" cy="621792"/>
          </a:xfrm>
          <a:prstGeom prst="roundRect">
            <a:avLst>
              <a:gd name="adj" fmla="val 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0" name="Oval 49"/>
          <p:cNvSpPr/>
          <p:nvPr/>
        </p:nvSpPr>
        <p:spPr>
          <a:xfrm>
            <a:off x="6336792" y="3986783"/>
            <a:ext cx="438912" cy="438912"/>
          </a:xfrm>
          <a:prstGeom prst="ellipse">
            <a:avLst/>
          </a:prstGeom>
          <a:solidFill>
            <a:srgbClr val="1F4E7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1" name="TextBox 50"/>
          <p:cNvSpPr txBox="1"/>
          <p:nvPr/>
        </p:nvSpPr>
        <p:spPr>
          <a:xfrm>
            <a:off x="6336792" y="3986783"/>
            <a:ext cx="438912" cy="438912"/>
          </a:xfrm>
          <a:prstGeom prst="rect">
            <a:avLst/>
          </a:prstGeom>
          <a:noFill/>
        </p:spPr>
        <p:txBody>
          <a:bodyPr wrap="square" lIns="0" tIns="0" rIns="0" bIns="0" anchor="ctr">
            <a:spAutoFit/>
          </a:bodyPr>
          <a:lstStyle/>
          <a:p>
            <a:pPr algn="ctr">
              <a:lnSpc>
                <a:spcPct val="100000"/>
              </a:lnSpc>
            </a:pPr>
            <a:r>
              <a:rPr sz="1200" b="1">
                <a:solidFill>
                  <a:srgbClr val="FFFFFF"/>
                </a:solidFill>
                <a:latin typeface="Segoe UI"/>
              </a:rPr>
              <a:t>10</a:t>
            </a:r>
          </a:p>
        </p:txBody>
      </p:sp>
      <p:sp>
        <p:nvSpPr>
          <p:cNvPr id="52" name="TextBox 51"/>
          <p:cNvSpPr txBox="1"/>
          <p:nvPr/>
        </p:nvSpPr>
        <p:spPr>
          <a:xfrm>
            <a:off x="6949440" y="3895344"/>
            <a:ext cx="3566160" cy="621792"/>
          </a:xfrm>
          <a:prstGeom prst="rect">
            <a:avLst/>
          </a:prstGeom>
          <a:noFill/>
        </p:spPr>
        <p:txBody>
          <a:bodyPr wrap="square" lIns="0" tIns="0" rIns="0" bIns="0" anchor="ctr">
            <a:spAutoFit/>
          </a:bodyPr>
          <a:lstStyle/>
          <a:p>
            <a:pPr algn="l">
              <a:lnSpc>
                <a:spcPct val="100000"/>
              </a:lnSpc>
            </a:pPr>
            <a:r>
              <a:rPr sz="1500" b="0">
                <a:solidFill>
                  <a:srgbClr val="24323F"/>
                </a:solidFill>
                <a:latin typeface="Segoe UI Semibold"/>
              </a:rPr>
              <a:t>Performance considerations</a:t>
            </a:r>
          </a:p>
        </p:txBody>
      </p:sp>
      <p:sp>
        <p:nvSpPr>
          <p:cNvPr id="53" name="TextBox 52"/>
          <p:cNvSpPr txBox="1"/>
          <p:nvPr/>
        </p:nvSpPr>
        <p:spPr>
          <a:xfrm>
            <a:off x="10515600" y="4129296"/>
            <a:ext cx="960120" cy="153888"/>
          </a:xfrm>
          <a:prstGeom prst="rect">
            <a:avLst/>
          </a:prstGeom>
          <a:noFill/>
        </p:spPr>
        <p:txBody>
          <a:bodyPr wrap="square" lIns="0" tIns="0" rIns="0" bIns="0" anchor="ctr">
            <a:spAutoFit/>
          </a:bodyPr>
          <a:lstStyle/>
          <a:p>
            <a:pPr algn="r">
              <a:lnSpc>
                <a:spcPct val="100000"/>
              </a:lnSpc>
            </a:pPr>
            <a:r>
              <a:rPr sz="1000" b="0" dirty="0">
                <a:solidFill>
                  <a:srgbClr val="6B7785"/>
                </a:solidFill>
                <a:latin typeface="Segoe UI"/>
              </a:rPr>
              <a:t>Brief </a:t>
            </a:r>
            <a:r>
              <a:rPr sz="1000" b="0" dirty="0" smtClean="0">
                <a:solidFill>
                  <a:srgbClr val="6B7785"/>
                </a:solidFill>
                <a:latin typeface="Segoe UI"/>
              </a:rPr>
              <a:t>10</a:t>
            </a:r>
            <a:endParaRPr sz="1000" b="0" dirty="0">
              <a:solidFill>
                <a:srgbClr val="6B7785"/>
              </a:solidFill>
              <a:latin typeface="Segoe UI"/>
            </a:endParaRPr>
          </a:p>
        </p:txBody>
      </p:sp>
      <p:sp>
        <p:nvSpPr>
          <p:cNvPr id="54" name="Rounded Rectangle 53"/>
          <p:cNvSpPr/>
          <p:nvPr/>
        </p:nvSpPr>
        <p:spPr>
          <a:xfrm>
            <a:off x="6172200" y="4645152"/>
            <a:ext cx="5440680" cy="621792"/>
          </a:xfrm>
          <a:prstGeom prst="roundRect">
            <a:avLst>
              <a:gd name="adj" fmla="val 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5" name="Oval 54"/>
          <p:cNvSpPr/>
          <p:nvPr/>
        </p:nvSpPr>
        <p:spPr>
          <a:xfrm>
            <a:off x="6336792" y="4736592"/>
            <a:ext cx="438912" cy="438912"/>
          </a:xfrm>
          <a:prstGeom prst="ellipse">
            <a:avLst/>
          </a:prstGeom>
          <a:solidFill>
            <a:srgbClr val="1F4E7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6" name="TextBox 55"/>
          <p:cNvSpPr txBox="1"/>
          <p:nvPr/>
        </p:nvSpPr>
        <p:spPr>
          <a:xfrm>
            <a:off x="6336792" y="4736592"/>
            <a:ext cx="438912" cy="438912"/>
          </a:xfrm>
          <a:prstGeom prst="rect">
            <a:avLst/>
          </a:prstGeom>
          <a:noFill/>
        </p:spPr>
        <p:txBody>
          <a:bodyPr wrap="square" lIns="0" tIns="0" rIns="0" bIns="0" anchor="ctr">
            <a:spAutoFit/>
          </a:bodyPr>
          <a:lstStyle/>
          <a:p>
            <a:pPr algn="ctr">
              <a:lnSpc>
                <a:spcPct val="100000"/>
              </a:lnSpc>
            </a:pPr>
            <a:r>
              <a:rPr sz="1200" b="1">
                <a:solidFill>
                  <a:srgbClr val="FFFFFF"/>
                </a:solidFill>
                <a:latin typeface="Segoe UI"/>
              </a:rPr>
              <a:t>11</a:t>
            </a:r>
          </a:p>
        </p:txBody>
      </p:sp>
      <p:sp>
        <p:nvSpPr>
          <p:cNvPr id="57" name="TextBox 56"/>
          <p:cNvSpPr txBox="1"/>
          <p:nvPr/>
        </p:nvSpPr>
        <p:spPr>
          <a:xfrm>
            <a:off x="6949440" y="4645152"/>
            <a:ext cx="3566160" cy="621792"/>
          </a:xfrm>
          <a:prstGeom prst="rect">
            <a:avLst/>
          </a:prstGeom>
          <a:noFill/>
        </p:spPr>
        <p:txBody>
          <a:bodyPr wrap="square" lIns="0" tIns="0" rIns="0" bIns="0" anchor="ctr">
            <a:spAutoFit/>
          </a:bodyPr>
          <a:lstStyle/>
          <a:p>
            <a:pPr algn="l">
              <a:lnSpc>
                <a:spcPct val="100000"/>
              </a:lnSpc>
            </a:pPr>
            <a:r>
              <a:rPr sz="1500" b="0">
                <a:solidFill>
                  <a:srgbClr val="24323F"/>
                </a:solidFill>
                <a:latin typeface="Segoe UI Semibold"/>
              </a:rPr>
              <a:t>Deployment approach</a:t>
            </a:r>
          </a:p>
        </p:txBody>
      </p:sp>
      <p:sp>
        <p:nvSpPr>
          <p:cNvPr id="58" name="TextBox 57"/>
          <p:cNvSpPr txBox="1"/>
          <p:nvPr/>
        </p:nvSpPr>
        <p:spPr>
          <a:xfrm>
            <a:off x="10515600" y="4879104"/>
            <a:ext cx="960120" cy="153888"/>
          </a:xfrm>
          <a:prstGeom prst="rect">
            <a:avLst/>
          </a:prstGeom>
          <a:noFill/>
        </p:spPr>
        <p:txBody>
          <a:bodyPr wrap="square" lIns="0" tIns="0" rIns="0" bIns="0" anchor="ctr">
            <a:spAutoFit/>
          </a:bodyPr>
          <a:lstStyle/>
          <a:p>
            <a:pPr algn="r">
              <a:lnSpc>
                <a:spcPct val="100000"/>
              </a:lnSpc>
            </a:pPr>
            <a:r>
              <a:rPr sz="1000" b="0" dirty="0">
                <a:solidFill>
                  <a:srgbClr val="6B7785"/>
                </a:solidFill>
                <a:latin typeface="Segoe UI"/>
              </a:rPr>
              <a:t>Brief </a:t>
            </a:r>
            <a:r>
              <a:rPr sz="1000" b="0" dirty="0" smtClean="0">
                <a:solidFill>
                  <a:srgbClr val="6B7785"/>
                </a:solidFill>
                <a:latin typeface="Segoe UI"/>
              </a:rPr>
              <a:t>12</a:t>
            </a:r>
            <a:endParaRPr sz="1000" b="0" dirty="0">
              <a:solidFill>
                <a:srgbClr val="6B7785"/>
              </a:solidFill>
              <a:latin typeface="Segoe UI"/>
            </a:endParaRPr>
          </a:p>
        </p:txBody>
      </p:sp>
      <p:sp>
        <p:nvSpPr>
          <p:cNvPr id="59" name="Rounded Rectangle 58"/>
          <p:cNvSpPr/>
          <p:nvPr/>
        </p:nvSpPr>
        <p:spPr>
          <a:xfrm>
            <a:off x="6172200" y="5394959"/>
            <a:ext cx="5440680" cy="621792"/>
          </a:xfrm>
          <a:prstGeom prst="roundRect">
            <a:avLst>
              <a:gd name="adj" fmla="val 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0" name="Oval 59"/>
          <p:cNvSpPr/>
          <p:nvPr/>
        </p:nvSpPr>
        <p:spPr>
          <a:xfrm>
            <a:off x="6336792" y="5486399"/>
            <a:ext cx="438912" cy="438912"/>
          </a:xfrm>
          <a:prstGeom prst="ellipse">
            <a:avLst/>
          </a:prstGeom>
          <a:solidFill>
            <a:srgbClr val="F2A9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1" name="TextBox 60"/>
          <p:cNvSpPr txBox="1"/>
          <p:nvPr/>
        </p:nvSpPr>
        <p:spPr>
          <a:xfrm>
            <a:off x="6336792" y="5486399"/>
            <a:ext cx="438912" cy="438912"/>
          </a:xfrm>
          <a:prstGeom prst="rect">
            <a:avLst/>
          </a:prstGeom>
          <a:noFill/>
        </p:spPr>
        <p:txBody>
          <a:bodyPr wrap="square" lIns="0" tIns="0" rIns="0" bIns="0" anchor="ctr">
            <a:spAutoFit/>
          </a:bodyPr>
          <a:lstStyle/>
          <a:p>
            <a:pPr algn="ctr">
              <a:lnSpc>
                <a:spcPct val="100000"/>
              </a:lnSpc>
            </a:pPr>
            <a:r>
              <a:rPr sz="1200" b="1">
                <a:solidFill>
                  <a:srgbClr val="1F4E79"/>
                </a:solidFill>
                <a:latin typeface="Segoe UI"/>
              </a:rPr>
              <a:t>✓</a:t>
            </a:r>
          </a:p>
        </p:txBody>
      </p:sp>
      <p:sp>
        <p:nvSpPr>
          <p:cNvPr id="62" name="TextBox 61"/>
          <p:cNvSpPr txBox="1"/>
          <p:nvPr/>
        </p:nvSpPr>
        <p:spPr>
          <a:xfrm>
            <a:off x="6949440" y="5394959"/>
            <a:ext cx="3566160" cy="621792"/>
          </a:xfrm>
          <a:prstGeom prst="rect">
            <a:avLst/>
          </a:prstGeom>
          <a:noFill/>
        </p:spPr>
        <p:txBody>
          <a:bodyPr wrap="square" lIns="0" tIns="0" rIns="0" bIns="0" anchor="ctr">
            <a:spAutoFit/>
          </a:bodyPr>
          <a:lstStyle/>
          <a:p>
            <a:pPr algn="l">
              <a:lnSpc>
                <a:spcPct val="100000"/>
              </a:lnSpc>
            </a:pPr>
            <a:r>
              <a:rPr sz="1500" b="0">
                <a:solidFill>
                  <a:srgbClr val="24323F"/>
                </a:solidFill>
                <a:latin typeface="Segoe UI Semibold"/>
              </a:rPr>
              <a:t>Summary: design, scale and impact</a:t>
            </a:r>
          </a:p>
        </p:txBody>
      </p:sp>
      <p:sp>
        <p:nvSpPr>
          <p:cNvPr id="63" name="TextBox 62"/>
          <p:cNvSpPr txBox="1"/>
          <p:nvPr/>
        </p:nvSpPr>
        <p:spPr>
          <a:xfrm>
            <a:off x="10515600" y="5628911"/>
            <a:ext cx="960120" cy="153888"/>
          </a:xfrm>
          <a:prstGeom prst="rect">
            <a:avLst/>
          </a:prstGeom>
          <a:noFill/>
        </p:spPr>
        <p:txBody>
          <a:bodyPr wrap="square" lIns="0" tIns="0" rIns="0" bIns="0" anchor="ctr">
            <a:spAutoFit/>
          </a:bodyPr>
          <a:lstStyle/>
          <a:p>
            <a:pPr algn="r">
              <a:lnSpc>
                <a:spcPct val="100000"/>
              </a:lnSpc>
            </a:pPr>
            <a:r>
              <a:rPr sz="1000" b="0" dirty="0">
                <a:solidFill>
                  <a:srgbClr val="6B7785"/>
                </a:solidFill>
                <a:latin typeface="Segoe UI"/>
              </a:rPr>
              <a:t>Brief </a:t>
            </a:r>
            <a:r>
              <a:rPr sz="1000" b="0" dirty="0" smtClean="0">
                <a:solidFill>
                  <a:srgbClr val="6B7785"/>
                </a:solidFill>
                <a:latin typeface="Segoe UI"/>
              </a:rPr>
              <a:t>14</a:t>
            </a:r>
            <a:r>
              <a:rPr sz="1000" b="0" dirty="0">
                <a:solidFill>
                  <a:srgbClr val="6B7785"/>
                </a:solidFill>
                <a:latin typeface="Segoe UI"/>
              </a:rPr>
              <a:t>, </a:t>
            </a:r>
            <a:r>
              <a:rPr sz="1000" b="0" dirty="0" smtClean="0">
                <a:solidFill>
                  <a:srgbClr val="6B7785"/>
                </a:solidFill>
                <a:latin typeface="Segoe UI"/>
              </a:rPr>
              <a:t>17</a:t>
            </a:r>
            <a:endParaRPr sz="1000" b="0" dirty="0">
              <a:solidFill>
                <a:srgbClr val="6B7785"/>
              </a:solidFill>
              <a:latin typeface="Segoe UI"/>
            </a:endParaRPr>
          </a:p>
        </p:txBody>
      </p:sp>
      <p:sp>
        <p:nvSpPr>
          <p:cNvPr id="64" name="TextBox 63"/>
          <p:cNvSpPr txBox="1"/>
          <p:nvPr/>
        </p:nvSpPr>
        <p:spPr>
          <a:xfrm>
            <a:off x="548640" y="6428232"/>
            <a:ext cx="5486400" cy="228600"/>
          </a:xfrm>
          <a:prstGeom prst="rect">
            <a:avLst/>
          </a:prstGeom>
          <a:noFill/>
        </p:spPr>
        <p:txBody>
          <a:bodyPr wrap="square" lIns="0" tIns="0" rIns="0" bIns="0" anchor="t">
            <a:spAutoFit/>
          </a:bodyPr>
          <a:lstStyle/>
          <a:p>
            <a:pPr algn="l">
              <a:lnSpc>
                <a:spcPct val="100000"/>
              </a:lnSpc>
            </a:pPr>
            <a:r>
              <a:rPr sz="1000" b="0">
                <a:solidFill>
                  <a:srgbClr val="6B7785"/>
                </a:solidFill>
                <a:latin typeface="Segoe UI"/>
              </a:rPr>
              <a:t>Cricket Analytics Platform</a:t>
            </a:r>
          </a:p>
        </p:txBody>
      </p:sp>
      <p:sp>
        <p:nvSpPr>
          <p:cNvPr id="65" name="TextBox 64"/>
          <p:cNvSpPr txBox="1"/>
          <p:nvPr/>
        </p:nvSpPr>
        <p:spPr>
          <a:xfrm>
            <a:off x="10725912" y="6428232"/>
            <a:ext cx="914400" cy="228600"/>
          </a:xfrm>
          <a:prstGeom prst="rect">
            <a:avLst/>
          </a:prstGeom>
          <a:noFill/>
        </p:spPr>
        <p:txBody>
          <a:bodyPr wrap="square" lIns="0" tIns="0" rIns="0" bIns="0" anchor="t">
            <a:spAutoFit/>
          </a:bodyPr>
          <a:lstStyle/>
          <a:p>
            <a:pPr algn="r">
              <a:lnSpc>
                <a:spcPct val="100000"/>
              </a:lnSpc>
            </a:pPr>
            <a:r>
              <a:rPr sz="1000" b="0">
                <a:solidFill>
                  <a:srgbClr val="6B7785"/>
                </a:solidFill>
                <a:latin typeface="Segoe UI"/>
              </a:rPr>
              <a:t>2</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EEF2F6"/>
        </a:solidFill>
        <a:effectLst/>
      </p:bgPr>
    </p:bg>
    <p:spTree>
      <p:nvGrpSpPr>
        <p:cNvPr id="1" name=""/>
        <p:cNvGrpSpPr/>
        <p:nvPr/>
      </p:nvGrpSpPr>
      <p:grpSpPr>
        <a:xfrm>
          <a:off x="0" y="0"/>
          <a:ext cx="0" cy="0"/>
          <a:chOff x="0" y="0"/>
          <a:chExt cx="0" cy="0"/>
        </a:xfrm>
      </p:grpSpPr>
      <p:sp>
        <p:nvSpPr>
          <p:cNvPr id="2" name="TextBox 1"/>
          <p:cNvSpPr txBox="1"/>
          <p:nvPr/>
        </p:nvSpPr>
        <p:spPr>
          <a:xfrm>
            <a:off x="548640" y="146304"/>
            <a:ext cx="10058400" cy="256032"/>
          </a:xfrm>
          <a:prstGeom prst="rect">
            <a:avLst/>
          </a:prstGeom>
          <a:noFill/>
        </p:spPr>
        <p:txBody>
          <a:bodyPr wrap="square" lIns="0" tIns="0" rIns="0" bIns="0" anchor="t">
            <a:spAutoFit/>
          </a:bodyPr>
          <a:lstStyle/>
          <a:p>
            <a:pPr algn="l">
              <a:lnSpc>
                <a:spcPct val="100000"/>
              </a:lnSpc>
            </a:pPr>
            <a:r>
              <a:rPr sz="1000" b="1">
                <a:solidFill>
                  <a:srgbClr val="F2A900"/>
                </a:solidFill>
                <a:latin typeface="Segoe UI"/>
              </a:rPr>
              <a:t>01  ·  BUSINESS PROBLEM AND APPROACH</a:t>
            </a:r>
            <a:r>
              <a:rPr sz="1000" b="0">
                <a:solidFill>
                  <a:srgbClr val="6B7785"/>
                </a:solidFill>
                <a:latin typeface="Segoe UI"/>
              </a:rPr>
              <a:t>     Brief §1–2</a:t>
            </a:r>
          </a:p>
        </p:txBody>
      </p:sp>
      <p:sp>
        <p:nvSpPr>
          <p:cNvPr id="3" name="TextBox 2"/>
          <p:cNvSpPr txBox="1"/>
          <p:nvPr/>
        </p:nvSpPr>
        <p:spPr>
          <a:xfrm>
            <a:off x="548640" y="411480"/>
            <a:ext cx="11064240" cy="640080"/>
          </a:xfrm>
          <a:prstGeom prst="rect">
            <a:avLst/>
          </a:prstGeom>
          <a:noFill/>
        </p:spPr>
        <p:txBody>
          <a:bodyPr wrap="square" lIns="0" tIns="0" rIns="0" bIns="0" anchor="t">
            <a:spAutoFit/>
          </a:bodyPr>
          <a:lstStyle/>
          <a:p>
            <a:pPr algn="l">
              <a:lnSpc>
                <a:spcPct val="100000"/>
              </a:lnSpc>
            </a:pPr>
            <a:r>
              <a:rPr sz="3200" b="0">
                <a:solidFill>
                  <a:srgbClr val="1F4E79"/>
                </a:solidFill>
                <a:latin typeface="Segoe UI Semibold"/>
              </a:rPr>
              <a:t>The challenge</a:t>
            </a:r>
          </a:p>
        </p:txBody>
      </p:sp>
      <p:sp>
        <p:nvSpPr>
          <p:cNvPr id="4" name="TextBox 3"/>
          <p:cNvSpPr txBox="1"/>
          <p:nvPr/>
        </p:nvSpPr>
        <p:spPr>
          <a:xfrm>
            <a:off x="548640" y="1024128"/>
            <a:ext cx="11064240" cy="411480"/>
          </a:xfrm>
          <a:prstGeom prst="rect">
            <a:avLst/>
          </a:prstGeom>
          <a:noFill/>
        </p:spPr>
        <p:txBody>
          <a:bodyPr wrap="square" lIns="0" tIns="0" rIns="0" bIns="0" anchor="t">
            <a:spAutoFit/>
          </a:bodyPr>
          <a:lstStyle/>
          <a:p>
            <a:pPr algn="l">
              <a:lnSpc>
                <a:spcPct val="100000"/>
              </a:lnSpc>
            </a:pPr>
            <a:r>
              <a:rPr sz="1500" b="0">
                <a:solidFill>
                  <a:srgbClr val="6B7785"/>
                </a:solidFill>
                <a:latin typeface="Segoe UI"/>
              </a:rPr>
              <a:t>Cricket data lived in three places, in three formats, with no way to trust it</a:t>
            </a:r>
          </a:p>
        </p:txBody>
      </p:sp>
      <p:sp>
        <p:nvSpPr>
          <p:cNvPr id="5" name="Rounded Rectangle 4"/>
          <p:cNvSpPr/>
          <p:nvPr/>
        </p:nvSpPr>
        <p:spPr>
          <a:xfrm>
            <a:off x="548640" y="1783080"/>
            <a:ext cx="4754880" cy="1188720"/>
          </a:xfrm>
          <a:prstGeom prst="roundRect">
            <a:avLst>
              <a:gd name="adj" fmla="val 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Oval 5"/>
          <p:cNvSpPr/>
          <p:nvPr/>
        </p:nvSpPr>
        <p:spPr>
          <a:xfrm>
            <a:off x="822960" y="2011680"/>
            <a:ext cx="731520" cy="731520"/>
          </a:xfrm>
          <a:prstGeom prst="ellipse">
            <a:avLst/>
          </a:prstGeom>
          <a:solidFill>
            <a:srgbClr val="1F4E7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Can 6"/>
          <p:cNvSpPr/>
          <p:nvPr/>
        </p:nvSpPr>
        <p:spPr>
          <a:xfrm>
            <a:off x="1027785" y="2187244"/>
            <a:ext cx="321868" cy="380390"/>
          </a:xfrm>
          <a:prstGeom prst="can">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1828800" y="1984248"/>
            <a:ext cx="2377440" cy="411480"/>
          </a:xfrm>
          <a:prstGeom prst="rect">
            <a:avLst/>
          </a:prstGeom>
          <a:noFill/>
        </p:spPr>
        <p:txBody>
          <a:bodyPr wrap="square" lIns="0" tIns="0" rIns="0" bIns="0" anchor="t">
            <a:spAutoFit/>
          </a:bodyPr>
          <a:lstStyle/>
          <a:p>
            <a:pPr algn="l">
              <a:lnSpc>
                <a:spcPct val="100000"/>
              </a:lnSpc>
            </a:pPr>
            <a:r>
              <a:rPr sz="1800" b="0">
                <a:solidFill>
                  <a:srgbClr val="24323F"/>
                </a:solidFill>
                <a:latin typeface="Segoe UI Semibold"/>
              </a:rPr>
              <a:t>Master data</a:t>
            </a:r>
          </a:p>
        </p:txBody>
      </p:sp>
      <p:sp>
        <p:nvSpPr>
          <p:cNvPr id="9" name="TextBox 8"/>
          <p:cNvSpPr txBox="1"/>
          <p:nvPr/>
        </p:nvSpPr>
        <p:spPr>
          <a:xfrm>
            <a:off x="1828800" y="2404872"/>
            <a:ext cx="2377440" cy="365760"/>
          </a:xfrm>
          <a:prstGeom prst="rect">
            <a:avLst/>
          </a:prstGeom>
          <a:noFill/>
        </p:spPr>
        <p:txBody>
          <a:bodyPr wrap="square" lIns="0" tIns="0" rIns="0" bIns="0" anchor="t">
            <a:spAutoFit/>
          </a:bodyPr>
          <a:lstStyle/>
          <a:p>
            <a:pPr algn="l">
              <a:lnSpc>
                <a:spcPct val="100000"/>
              </a:lnSpc>
            </a:pPr>
            <a:r>
              <a:rPr sz="1400" b="0">
                <a:solidFill>
                  <a:srgbClr val="6B7785"/>
                </a:solidFill>
                <a:latin typeface="Segoe UI"/>
              </a:rPr>
              <a:t>Teams, players, venues</a:t>
            </a:r>
          </a:p>
        </p:txBody>
      </p:sp>
      <p:sp>
        <p:nvSpPr>
          <p:cNvPr id="10" name="Rounded Rectangle 9"/>
          <p:cNvSpPr/>
          <p:nvPr/>
        </p:nvSpPr>
        <p:spPr>
          <a:xfrm>
            <a:off x="4160520" y="2176272"/>
            <a:ext cx="914400" cy="402336"/>
          </a:xfrm>
          <a:prstGeom prst="roundRect">
            <a:avLst>
              <a:gd name="adj" fmla="val 50000"/>
            </a:avLst>
          </a:prstGeom>
          <a:solidFill>
            <a:srgbClr val="EEF2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4160520" y="2176272"/>
            <a:ext cx="914400" cy="402336"/>
          </a:xfrm>
          <a:prstGeom prst="rect">
            <a:avLst/>
          </a:prstGeom>
          <a:noFill/>
        </p:spPr>
        <p:txBody>
          <a:bodyPr wrap="square" lIns="0" tIns="0" rIns="0" bIns="0" anchor="ctr">
            <a:spAutoFit/>
          </a:bodyPr>
          <a:lstStyle/>
          <a:p>
            <a:pPr algn="ctr">
              <a:lnSpc>
                <a:spcPct val="100000"/>
              </a:lnSpc>
            </a:pPr>
            <a:r>
              <a:rPr sz="1100" b="1">
                <a:solidFill>
                  <a:srgbClr val="1F4E79"/>
                </a:solidFill>
                <a:latin typeface="Segoe UI"/>
              </a:rPr>
              <a:t>SQL Server</a:t>
            </a:r>
          </a:p>
        </p:txBody>
      </p:sp>
      <p:cxnSp>
        <p:nvCxnSpPr>
          <p:cNvPr id="12" name="Connector 11"/>
          <p:cNvCxnSpPr/>
          <p:nvPr/>
        </p:nvCxnSpPr>
        <p:spPr>
          <a:xfrm>
            <a:off x="5440680" y="2377440"/>
            <a:ext cx="914400" cy="1463040"/>
          </a:xfrm>
          <a:prstGeom prst="line">
            <a:avLst/>
          </a:prstGeom>
          <a:ln w="25400">
            <a:solidFill>
              <a:srgbClr val="C3CBD4"/>
            </a:solidFill>
            <a:tailEnd type="triangle" w="med" len="med"/>
          </a:ln>
        </p:spPr>
        <p:style>
          <a:lnRef idx="2">
            <a:schemeClr val="accent1"/>
          </a:lnRef>
          <a:fillRef idx="0">
            <a:schemeClr val="accent1"/>
          </a:fillRef>
          <a:effectRef idx="1">
            <a:schemeClr val="accent1"/>
          </a:effectRef>
          <a:fontRef idx="minor">
            <a:schemeClr val="tx1"/>
          </a:fontRef>
        </p:style>
      </p:cxnSp>
      <p:sp>
        <p:nvSpPr>
          <p:cNvPr id="13" name="Rounded Rectangle 12"/>
          <p:cNvSpPr/>
          <p:nvPr/>
        </p:nvSpPr>
        <p:spPr>
          <a:xfrm>
            <a:off x="548640" y="3246120"/>
            <a:ext cx="4754880" cy="1188720"/>
          </a:xfrm>
          <a:prstGeom prst="roundRect">
            <a:avLst>
              <a:gd name="adj" fmla="val 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Oval 13"/>
          <p:cNvSpPr/>
          <p:nvPr/>
        </p:nvSpPr>
        <p:spPr>
          <a:xfrm>
            <a:off x="822960" y="3474720"/>
            <a:ext cx="731520" cy="731520"/>
          </a:xfrm>
          <a:prstGeom prst="ellipse">
            <a:avLst/>
          </a:prstGeom>
          <a:solidFill>
            <a:srgbClr val="1F4E7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Folded Corner 14"/>
          <p:cNvSpPr/>
          <p:nvPr/>
        </p:nvSpPr>
        <p:spPr>
          <a:xfrm>
            <a:off x="1042416" y="3642969"/>
            <a:ext cx="292608" cy="395020"/>
          </a:xfrm>
          <a:prstGeom prst="foldedCorner">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Rectangle 15"/>
          <p:cNvSpPr/>
          <p:nvPr/>
        </p:nvSpPr>
        <p:spPr>
          <a:xfrm>
            <a:off x="1093622" y="3752697"/>
            <a:ext cx="190195" cy="25603"/>
          </a:xfrm>
          <a:prstGeom prst="rect">
            <a:avLst/>
          </a:prstGeom>
          <a:solidFill>
            <a:srgbClr val="1F4E7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Rectangle 16"/>
          <p:cNvSpPr/>
          <p:nvPr/>
        </p:nvSpPr>
        <p:spPr>
          <a:xfrm>
            <a:off x="1093622" y="3833164"/>
            <a:ext cx="190195" cy="25603"/>
          </a:xfrm>
          <a:prstGeom prst="rect">
            <a:avLst/>
          </a:prstGeom>
          <a:solidFill>
            <a:srgbClr val="1F4E7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Rectangle 17"/>
          <p:cNvSpPr/>
          <p:nvPr/>
        </p:nvSpPr>
        <p:spPr>
          <a:xfrm>
            <a:off x="1093622" y="3913632"/>
            <a:ext cx="190195" cy="25603"/>
          </a:xfrm>
          <a:prstGeom prst="rect">
            <a:avLst/>
          </a:prstGeom>
          <a:solidFill>
            <a:srgbClr val="1F4E7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1828800" y="3447288"/>
            <a:ext cx="2377440" cy="411480"/>
          </a:xfrm>
          <a:prstGeom prst="rect">
            <a:avLst/>
          </a:prstGeom>
          <a:noFill/>
        </p:spPr>
        <p:txBody>
          <a:bodyPr wrap="square" lIns="0" tIns="0" rIns="0" bIns="0" anchor="t">
            <a:spAutoFit/>
          </a:bodyPr>
          <a:lstStyle/>
          <a:p>
            <a:pPr algn="l">
              <a:lnSpc>
                <a:spcPct val="100000"/>
              </a:lnSpc>
            </a:pPr>
            <a:r>
              <a:rPr sz="1800" b="0">
                <a:solidFill>
                  <a:srgbClr val="24323F"/>
                </a:solidFill>
                <a:latin typeface="Segoe UI Semibold"/>
              </a:rPr>
              <a:t>Match files</a:t>
            </a:r>
          </a:p>
        </p:txBody>
      </p:sp>
      <p:sp>
        <p:nvSpPr>
          <p:cNvPr id="20" name="TextBox 19"/>
          <p:cNvSpPr txBox="1"/>
          <p:nvPr/>
        </p:nvSpPr>
        <p:spPr>
          <a:xfrm>
            <a:off x="1828800" y="3867911"/>
            <a:ext cx="2377440" cy="365760"/>
          </a:xfrm>
          <a:prstGeom prst="rect">
            <a:avLst/>
          </a:prstGeom>
          <a:noFill/>
        </p:spPr>
        <p:txBody>
          <a:bodyPr wrap="square" lIns="0" tIns="0" rIns="0" bIns="0" anchor="t">
            <a:spAutoFit/>
          </a:bodyPr>
          <a:lstStyle/>
          <a:p>
            <a:pPr algn="l">
              <a:lnSpc>
                <a:spcPct val="100000"/>
              </a:lnSpc>
            </a:pPr>
            <a:r>
              <a:rPr sz="1400" b="0">
                <a:solidFill>
                  <a:srgbClr val="6B7785"/>
                </a:solidFill>
                <a:latin typeface="Segoe UI"/>
              </a:rPr>
              <a:t>120 matches, nested</a:t>
            </a:r>
          </a:p>
        </p:txBody>
      </p:sp>
      <p:sp>
        <p:nvSpPr>
          <p:cNvPr id="21" name="Rounded Rectangle 20"/>
          <p:cNvSpPr/>
          <p:nvPr/>
        </p:nvSpPr>
        <p:spPr>
          <a:xfrm>
            <a:off x="4160520" y="3639312"/>
            <a:ext cx="914400" cy="402336"/>
          </a:xfrm>
          <a:prstGeom prst="roundRect">
            <a:avLst>
              <a:gd name="adj" fmla="val 50000"/>
            </a:avLst>
          </a:prstGeom>
          <a:solidFill>
            <a:srgbClr val="EEF2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4160520" y="3639312"/>
            <a:ext cx="914400" cy="402336"/>
          </a:xfrm>
          <a:prstGeom prst="rect">
            <a:avLst/>
          </a:prstGeom>
          <a:noFill/>
        </p:spPr>
        <p:txBody>
          <a:bodyPr wrap="square" lIns="0" tIns="0" rIns="0" bIns="0" anchor="ctr">
            <a:spAutoFit/>
          </a:bodyPr>
          <a:lstStyle/>
          <a:p>
            <a:pPr algn="ctr">
              <a:lnSpc>
                <a:spcPct val="100000"/>
              </a:lnSpc>
            </a:pPr>
            <a:r>
              <a:rPr sz="1100" b="1">
                <a:solidFill>
                  <a:srgbClr val="1F4E79"/>
                </a:solidFill>
                <a:latin typeface="Segoe UI"/>
              </a:rPr>
              <a:t>JSON</a:t>
            </a:r>
          </a:p>
        </p:txBody>
      </p:sp>
      <p:cxnSp>
        <p:nvCxnSpPr>
          <p:cNvPr id="23" name="Connector 22"/>
          <p:cNvCxnSpPr/>
          <p:nvPr/>
        </p:nvCxnSpPr>
        <p:spPr>
          <a:xfrm>
            <a:off x="5440680" y="3840480"/>
            <a:ext cx="914400" cy="0"/>
          </a:xfrm>
          <a:prstGeom prst="line">
            <a:avLst/>
          </a:prstGeom>
          <a:ln w="25400">
            <a:solidFill>
              <a:srgbClr val="C3CBD4"/>
            </a:solidFill>
            <a:tailEnd type="triangle" w="med" len="med"/>
          </a:ln>
        </p:spPr>
        <p:style>
          <a:lnRef idx="2">
            <a:schemeClr val="accent1"/>
          </a:lnRef>
          <a:fillRef idx="0">
            <a:schemeClr val="accent1"/>
          </a:fillRef>
          <a:effectRef idx="1">
            <a:schemeClr val="accent1"/>
          </a:effectRef>
          <a:fontRef idx="minor">
            <a:schemeClr val="tx1"/>
          </a:fontRef>
        </p:style>
      </p:cxnSp>
      <p:sp>
        <p:nvSpPr>
          <p:cNvPr id="24" name="Rounded Rectangle 23"/>
          <p:cNvSpPr/>
          <p:nvPr/>
        </p:nvSpPr>
        <p:spPr>
          <a:xfrm>
            <a:off x="548640" y="4709160"/>
            <a:ext cx="4754880" cy="1188720"/>
          </a:xfrm>
          <a:prstGeom prst="roundRect">
            <a:avLst>
              <a:gd name="adj" fmla="val 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Oval 24"/>
          <p:cNvSpPr/>
          <p:nvPr/>
        </p:nvSpPr>
        <p:spPr>
          <a:xfrm>
            <a:off x="822960" y="4937760"/>
            <a:ext cx="731520" cy="731520"/>
          </a:xfrm>
          <a:prstGeom prst="ellipse">
            <a:avLst/>
          </a:prstGeom>
          <a:solidFill>
            <a:srgbClr val="1F4E7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Folded Corner 25"/>
          <p:cNvSpPr/>
          <p:nvPr/>
        </p:nvSpPr>
        <p:spPr>
          <a:xfrm>
            <a:off x="1042416" y="5106009"/>
            <a:ext cx="292608" cy="395020"/>
          </a:xfrm>
          <a:prstGeom prst="foldedCorner">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Rectangle 26"/>
          <p:cNvSpPr/>
          <p:nvPr/>
        </p:nvSpPr>
        <p:spPr>
          <a:xfrm>
            <a:off x="1093622" y="5215737"/>
            <a:ext cx="190195" cy="25603"/>
          </a:xfrm>
          <a:prstGeom prst="rect">
            <a:avLst/>
          </a:prstGeom>
          <a:solidFill>
            <a:srgbClr val="1F4E7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Rectangle 27"/>
          <p:cNvSpPr/>
          <p:nvPr/>
        </p:nvSpPr>
        <p:spPr>
          <a:xfrm>
            <a:off x="1093622" y="5296204"/>
            <a:ext cx="190195" cy="25603"/>
          </a:xfrm>
          <a:prstGeom prst="rect">
            <a:avLst/>
          </a:prstGeom>
          <a:solidFill>
            <a:srgbClr val="1F4E7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Rectangle 28"/>
          <p:cNvSpPr/>
          <p:nvPr/>
        </p:nvSpPr>
        <p:spPr>
          <a:xfrm>
            <a:off x="1093622" y="5376672"/>
            <a:ext cx="190195" cy="25603"/>
          </a:xfrm>
          <a:prstGeom prst="rect">
            <a:avLst/>
          </a:prstGeom>
          <a:solidFill>
            <a:srgbClr val="1F4E7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TextBox 29"/>
          <p:cNvSpPr txBox="1"/>
          <p:nvPr/>
        </p:nvSpPr>
        <p:spPr>
          <a:xfrm>
            <a:off x="1828800" y="4910328"/>
            <a:ext cx="2377440" cy="411480"/>
          </a:xfrm>
          <a:prstGeom prst="rect">
            <a:avLst/>
          </a:prstGeom>
          <a:noFill/>
        </p:spPr>
        <p:txBody>
          <a:bodyPr wrap="square" lIns="0" tIns="0" rIns="0" bIns="0" anchor="t">
            <a:spAutoFit/>
          </a:bodyPr>
          <a:lstStyle/>
          <a:p>
            <a:pPr algn="l">
              <a:lnSpc>
                <a:spcPct val="100000"/>
              </a:lnSpc>
            </a:pPr>
            <a:r>
              <a:rPr sz="1800" b="0">
                <a:solidFill>
                  <a:srgbClr val="24323F"/>
                </a:solidFill>
                <a:latin typeface="Segoe UI Semibold"/>
              </a:rPr>
              <a:t>Detail feeds</a:t>
            </a:r>
          </a:p>
        </p:txBody>
      </p:sp>
      <p:sp>
        <p:nvSpPr>
          <p:cNvPr id="31" name="TextBox 30"/>
          <p:cNvSpPr txBox="1"/>
          <p:nvPr/>
        </p:nvSpPr>
        <p:spPr>
          <a:xfrm>
            <a:off x="1828800" y="5330952"/>
            <a:ext cx="2377440" cy="365760"/>
          </a:xfrm>
          <a:prstGeom prst="rect">
            <a:avLst/>
          </a:prstGeom>
          <a:noFill/>
        </p:spPr>
        <p:txBody>
          <a:bodyPr wrap="square" lIns="0" tIns="0" rIns="0" bIns="0" anchor="t">
            <a:spAutoFit/>
          </a:bodyPr>
          <a:lstStyle/>
          <a:p>
            <a:pPr algn="l">
              <a:lnSpc>
                <a:spcPct val="100000"/>
              </a:lnSpc>
            </a:pPr>
            <a:r>
              <a:rPr sz="1400" b="0">
                <a:solidFill>
                  <a:srgbClr val="6B7785"/>
                </a:solidFill>
                <a:latin typeface="Segoe UI"/>
              </a:rPr>
              <a:t>Ball by ball, rankings</a:t>
            </a:r>
          </a:p>
        </p:txBody>
      </p:sp>
      <p:sp>
        <p:nvSpPr>
          <p:cNvPr id="32" name="Rounded Rectangle 31"/>
          <p:cNvSpPr/>
          <p:nvPr/>
        </p:nvSpPr>
        <p:spPr>
          <a:xfrm>
            <a:off x="4160520" y="5102352"/>
            <a:ext cx="914400" cy="402336"/>
          </a:xfrm>
          <a:prstGeom prst="roundRect">
            <a:avLst>
              <a:gd name="adj" fmla="val 50000"/>
            </a:avLst>
          </a:prstGeom>
          <a:solidFill>
            <a:srgbClr val="EEF2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TextBox 32"/>
          <p:cNvSpPr txBox="1"/>
          <p:nvPr/>
        </p:nvSpPr>
        <p:spPr>
          <a:xfrm>
            <a:off x="4160520" y="5102352"/>
            <a:ext cx="914400" cy="402336"/>
          </a:xfrm>
          <a:prstGeom prst="rect">
            <a:avLst/>
          </a:prstGeom>
          <a:noFill/>
        </p:spPr>
        <p:txBody>
          <a:bodyPr wrap="square" lIns="0" tIns="0" rIns="0" bIns="0" anchor="ctr">
            <a:spAutoFit/>
          </a:bodyPr>
          <a:lstStyle/>
          <a:p>
            <a:pPr algn="ctr">
              <a:lnSpc>
                <a:spcPct val="100000"/>
              </a:lnSpc>
            </a:pPr>
            <a:r>
              <a:rPr sz="1100" b="1">
                <a:solidFill>
                  <a:srgbClr val="1F4E79"/>
                </a:solidFill>
                <a:latin typeface="Segoe UI"/>
              </a:rPr>
              <a:t>CSV</a:t>
            </a:r>
          </a:p>
        </p:txBody>
      </p:sp>
      <p:cxnSp>
        <p:nvCxnSpPr>
          <p:cNvPr id="34" name="Connector 33"/>
          <p:cNvCxnSpPr/>
          <p:nvPr/>
        </p:nvCxnSpPr>
        <p:spPr>
          <a:xfrm flipV="1">
            <a:off x="5440680" y="3840480"/>
            <a:ext cx="914400" cy="1463040"/>
          </a:xfrm>
          <a:prstGeom prst="line">
            <a:avLst/>
          </a:prstGeom>
          <a:ln w="25400">
            <a:solidFill>
              <a:srgbClr val="C3CBD4"/>
            </a:solidFill>
            <a:tailEnd type="triangle" w="med" len="med"/>
          </a:ln>
        </p:spPr>
        <p:style>
          <a:lnRef idx="2">
            <a:schemeClr val="accent1"/>
          </a:lnRef>
          <a:fillRef idx="0">
            <a:schemeClr val="accent1"/>
          </a:fillRef>
          <a:effectRef idx="1">
            <a:schemeClr val="accent1"/>
          </a:effectRef>
          <a:fontRef idx="minor">
            <a:schemeClr val="tx1"/>
          </a:fontRef>
        </p:style>
      </p:cxnSp>
      <p:sp>
        <p:nvSpPr>
          <p:cNvPr id="35" name="Rounded Rectangle 34"/>
          <p:cNvSpPr/>
          <p:nvPr/>
        </p:nvSpPr>
        <p:spPr>
          <a:xfrm>
            <a:off x="6492240" y="1783080"/>
            <a:ext cx="5120640" cy="4114800"/>
          </a:xfrm>
          <a:prstGeom prst="roundRect">
            <a:avLst>
              <a:gd name="adj" fmla="val 6000"/>
            </a:avLst>
          </a:prstGeom>
          <a:solidFill>
            <a:srgbClr val="1F4E7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6" name="Oval 35"/>
          <p:cNvSpPr/>
          <p:nvPr/>
        </p:nvSpPr>
        <p:spPr>
          <a:xfrm>
            <a:off x="8549640" y="2194560"/>
            <a:ext cx="1005840" cy="1005840"/>
          </a:xfrm>
          <a:prstGeom prst="ellipse">
            <a:avLst/>
          </a:prstGeom>
          <a:solidFill>
            <a:srgbClr val="F2A9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7" name="TextBox 36"/>
          <p:cNvSpPr txBox="1"/>
          <p:nvPr/>
        </p:nvSpPr>
        <p:spPr>
          <a:xfrm>
            <a:off x="8750808" y="2375611"/>
            <a:ext cx="603504" cy="603504"/>
          </a:xfrm>
          <a:prstGeom prst="rect">
            <a:avLst/>
          </a:prstGeom>
          <a:noFill/>
        </p:spPr>
        <p:txBody>
          <a:bodyPr wrap="square" lIns="0" tIns="0" rIns="0" bIns="0" anchor="ctr">
            <a:spAutoFit/>
          </a:bodyPr>
          <a:lstStyle/>
          <a:p>
            <a:pPr algn="ctr">
              <a:lnSpc>
                <a:spcPct val="100000"/>
              </a:lnSpc>
            </a:pPr>
            <a:r>
              <a:rPr sz="3700" b="0">
                <a:solidFill>
                  <a:srgbClr val="1F4E79"/>
                </a:solidFill>
                <a:latin typeface="Segoe UI Semibold"/>
              </a:rPr>
              <a:t>?</a:t>
            </a:r>
          </a:p>
        </p:txBody>
      </p:sp>
      <p:sp>
        <p:nvSpPr>
          <p:cNvPr id="38" name="TextBox 37"/>
          <p:cNvSpPr txBox="1"/>
          <p:nvPr/>
        </p:nvSpPr>
        <p:spPr>
          <a:xfrm>
            <a:off x="6858000" y="3566160"/>
            <a:ext cx="4389120" cy="457200"/>
          </a:xfrm>
          <a:prstGeom prst="rect">
            <a:avLst/>
          </a:prstGeom>
          <a:noFill/>
        </p:spPr>
        <p:txBody>
          <a:bodyPr wrap="square" lIns="0" tIns="0" rIns="0" bIns="0" anchor="t">
            <a:spAutoFit/>
          </a:bodyPr>
          <a:lstStyle/>
          <a:p>
            <a:pPr algn="ctr">
              <a:lnSpc>
                <a:spcPct val="100000"/>
              </a:lnSpc>
            </a:pPr>
            <a:r>
              <a:rPr sz="1900" b="0">
                <a:solidFill>
                  <a:srgbClr val="FFFFFF"/>
                </a:solidFill>
                <a:latin typeface="Segoe UI"/>
              </a:rPr>
              <a:t>Who is winning, and why?</a:t>
            </a:r>
          </a:p>
        </p:txBody>
      </p:sp>
      <p:sp>
        <p:nvSpPr>
          <p:cNvPr id="39" name="TextBox 38"/>
          <p:cNvSpPr txBox="1"/>
          <p:nvPr/>
        </p:nvSpPr>
        <p:spPr>
          <a:xfrm>
            <a:off x="6858000" y="4206240"/>
            <a:ext cx="4389120" cy="457200"/>
          </a:xfrm>
          <a:prstGeom prst="rect">
            <a:avLst/>
          </a:prstGeom>
          <a:noFill/>
        </p:spPr>
        <p:txBody>
          <a:bodyPr wrap="square" lIns="0" tIns="0" rIns="0" bIns="0" anchor="t">
            <a:spAutoFit/>
          </a:bodyPr>
          <a:lstStyle/>
          <a:p>
            <a:pPr algn="ctr">
              <a:lnSpc>
                <a:spcPct val="100000"/>
              </a:lnSpc>
            </a:pPr>
            <a:r>
              <a:rPr sz="1900" b="0">
                <a:solidFill>
                  <a:srgbClr val="FFFFFF"/>
                </a:solidFill>
                <a:latin typeface="Segoe UI"/>
              </a:rPr>
              <a:t>Which players really perform?</a:t>
            </a:r>
          </a:p>
        </p:txBody>
      </p:sp>
      <p:sp>
        <p:nvSpPr>
          <p:cNvPr id="40" name="TextBox 39"/>
          <p:cNvSpPr txBox="1"/>
          <p:nvPr/>
        </p:nvSpPr>
        <p:spPr>
          <a:xfrm>
            <a:off x="6858000" y="4846320"/>
            <a:ext cx="4389120" cy="457200"/>
          </a:xfrm>
          <a:prstGeom prst="rect">
            <a:avLst/>
          </a:prstGeom>
          <a:noFill/>
        </p:spPr>
        <p:txBody>
          <a:bodyPr wrap="square" lIns="0" tIns="0" rIns="0" bIns="0" anchor="t">
            <a:spAutoFit/>
          </a:bodyPr>
          <a:lstStyle/>
          <a:p>
            <a:pPr algn="ctr">
              <a:lnSpc>
                <a:spcPct val="100000"/>
              </a:lnSpc>
            </a:pPr>
            <a:r>
              <a:rPr sz="1900" b="0">
                <a:solidFill>
                  <a:srgbClr val="FFFFFF"/>
                </a:solidFill>
                <a:latin typeface="Segoe UI"/>
              </a:rPr>
              <a:t>Can we trust these numbers?</a:t>
            </a:r>
          </a:p>
        </p:txBody>
      </p:sp>
      <p:sp>
        <p:nvSpPr>
          <p:cNvPr id="41" name="TextBox 40"/>
          <p:cNvSpPr txBox="1"/>
          <p:nvPr/>
        </p:nvSpPr>
        <p:spPr>
          <a:xfrm>
            <a:off x="548640" y="6428232"/>
            <a:ext cx="5486400" cy="228600"/>
          </a:xfrm>
          <a:prstGeom prst="rect">
            <a:avLst/>
          </a:prstGeom>
          <a:noFill/>
        </p:spPr>
        <p:txBody>
          <a:bodyPr wrap="square" lIns="0" tIns="0" rIns="0" bIns="0" anchor="t">
            <a:spAutoFit/>
          </a:bodyPr>
          <a:lstStyle/>
          <a:p>
            <a:pPr algn="l">
              <a:lnSpc>
                <a:spcPct val="100000"/>
              </a:lnSpc>
            </a:pPr>
            <a:r>
              <a:rPr sz="1000" b="0">
                <a:solidFill>
                  <a:srgbClr val="6B7785"/>
                </a:solidFill>
                <a:latin typeface="Segoe UI"/>
              </a:rPr>
              <a:t>Cricket Analytics Platform</a:t>
            </a:r>
          </a:p>
        </p:txBody>
      </p:sp>
      <p:sp>
        <p:nvSpPr>
          <p:cNvPr id="42" name="TextBox 41"/>
          <p:cNvSpPr txBox="1"/>
          <p:nvPr/>
        </p:nvSpPr>
        <p:spPr>
          <a:xfrm>
            <a:off x="10725912" y="6428232"/>
            <a:ext cx="914400" cy="228600"/>
          </a:xfrm>
          <a:prstGeom prst="rect">
            <a:avLst/>
          </a:prstGeom>
          <a:noFill/>
        </p:spPr>
        <p:txBody>
          <a:bodyPr wrap="square" lIns="0" tIns="0" rIns="0" bIns="0" anchor="t">
            <a:spAutoFit/>
          </a:bodyPr>
          <a:lstStyle/>
          <a:p>
            <a:pPr algn="r">
              <a:lnSpc>
                <a:spcPct val="100000"/>
              </a:lnSpc>
            </a:pPr>
            <a:r>
              <a:rPr sz="1000" b="0">
                <a:solidFill>
                  <a:srgbClr val="6B7785"/>
                </a:solidFill>
                <a:latin typeface="Segoe UI"/>
              </a:rPr>
              <a:t>3</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EEF2F6"/>
        </a:solidFill>
        <a:effectLst/>
      </p:bgPr>
    </p:bg>
    <p:spTree>
      <p:nvGrpSpPr>
        <p:cNvPr id="1" name=""/>
        <p:cNvGrpSpPr/>
        <p:nvPr/>
      </p:nvGrpSpPr>
      <p:grpSpPr>
        <a:xfrm>
          <a:off x="0" y="0"/>
          <a:ext cx="0" cy="0"/>
          <a:chOff x="0" y="0"/>
          <a:chExt cx="0" cy="0"/>
        </a:xfrm>
      </p:grpSpPr>
      <p:sp>
        <p:nvSpPr>
          <p:cNvPr id="2" name="TextBox 1"/>
          <p:cNvSpPr txBox="1"/>
          <p:nvPr/>
        </p:nvSpPr>
        <p:spPr>
          <a:xfrm>
            <a:off x="548640" y="146304"/>
            <a:ext cx="10058400" cy="256032"/>
          </a:xfrm>
          <a:prstGeom prst="rect">
            <a:avLst/>
          </a:prstGeom>
          <a:noFill/>
        </p:spPr>
        <p:txBody>
          <a:bodyPr wrap="square" lIns="0" tIns="0" rIns="0" bIns="0" anchor="t">
            <a:spAutoFit/>
          </a:bodyPr>
          <a:lstStyle/>
          <a:p>
            <a:pPr algn="l">
              <a:lnSpc>
                <a:spcPct val="100000"/>
              </a:lnSpc>
            </a:pPr>
            <a:r>
              <a:rPr sz="1000" b="1">
                <a:solidFill>
                  <a:srgbClr val="F2A900"/>
                </a:solidFill>
                <a:latin typeface="Segoe UI"/>
              </a:rPr>
              <a:t>01  ·  BUSINESS PROBLEM AND APPROACH</a:t>
            </a:r>
            <a:r>
              <a:rPr sz="1000" b="0">
                <a:solidFill>
                  <a:srgbClr val="6B7785"/>
                </a:solidFill>
                <a:latin typeface="Segoe UI"/>
              </a:rPr>
              <a:t>     Brief §1–2</a:t>
            </a:r>
          </a:p>
        </p:txBody>
      </p:sp>
      <p:sp>
        <p:nvSpPr>
          <p:cNvPr id="3" name="TextBox 2"/>
          <p:cNvSpPr txBox="1"/>
          <p:nvPr/>
        </p:nvSpPr>
        <p:spPr>
          <a:xfrm>
            <a:off x="548640" y="411480"/>
            <a:ext cx="11064240" cy="640080"/>
          </a:xfrm>
          <a:prstGeom prst="rect">
            <a:avLst/>
          </a:prstGeom>
          <a:noFill/>
        </p:spPr>
        <p:txBody>
          <a:bodyPr wrap="square" lIns="0" tIns="0" rIns="0" bIns="0" anchor="t">
            <a:spAutoFit/>
          </a:bodyPr>
          <a:lstStyle/>
          <a:p>
            <a:pPr algn="l">
              <a:lnSpc>
                <a:spcPct val="100000"/>
              </a:lnSpc>
            </a:pPr>
            <a:r>
              <a:rPr sz="3200" b="0">
                <a:solidFill>
                  <a:srgbClr val="1F4E79"/>
                </a:solidFill>
                <a:latin typeface="Segoe UI Semibold"/>
              </a:rPr>
              <a:t>The solution at a glance</a:t>
            </a:r>
          </a:p>
        </p:txBody>
      </p:sp>
      <p:sp>
        <p:nvSpPr>
          <p:cNvPr id="4" name="TextBox 3"/>
          <p:cNvSpPr txBox="1"/>
          <p:nvPr/>
        </p:nvSpPr>
        <p:spPr>
          <a:xfrm>
            <a:off x="548640" y="1024128"/>
            <a:ext cx="11064240" cy="411480"/>
          </a:xfrm>
          <a:prstGeom prst="rect">
            <a:avLst/>
          </a:prstGeom>
          <a:noFill/>
        </p:spPr>
        <p:txBody>
          <a:bodyPr wrap="square" lIns="0" tIns="0" rIns="0" bIns="0" anchor="t">
            <a:spAutoFit/>
          </a:bodyPr>
          <a:lstStyle/>
          <a:p>
            <a:pPr algn="l">
              <a:lnSpc>
                <a:spcPct val="100000"/>
              </a:lnSpc>
            </a:pPr>
            <a:r>
              <a:rPr sz="1500" b="0">
                <a:solidFill>
                  <a:srgbClr val="6B7785"/>
                </a:solidFill>
                <a:latin typeface="Segoe UI"/>
              </a:rPr>
              <a:t>Five steps from raw data to decisions</a:t>
            </a:r>
          </a:p>
        </p:txBody>
      </p:sp>
      <p:sp>
        <p:nvSpPr>
          <p:cNvPr id="5" name="Rounded Rectangle 4"/>
          <p:cNvSpPr/>
          <p:nvPr/>
        </p:nvSpPr>
        <p:spPr>
          <a:xfrm>
            <a:off x="640080" y="1828800"/>
            <a:ext cx="1920240" cy="3931920"/>
          </a:xfrm>
          <a:prstGeom prst="roundRect">
            <a:avLst>
              <a:gd name="adj" fmla="val 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Oval 5"/>
          <p:cNvSpPr/>
          <p:nvPr/>
        </p:nvSpPr>
        <p:spPr>
          <a:xfrm>
            <a:off x="1074420" y="2171700"/>
            <a:ext cx="1051560" cy="1051560"/>
          </a:xfrm>
          <a:prstGeom prst="ellipse">
            <a:avLst/>
          </a:prstGeom>
          <a:solidFill>
            <a:srgbClr val="1F4E7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Can 6"/>
          <p:cNvSpPr/>
          <p:nvPr/>
        </p:nvSpPr>
        <p:spPr>
          <a:xfrm>
            <a:off x="1368856" y="2424074"/>
            <a:ext cx="462686" cy="546811"/>
          </a:xfrm>
          <a:prstGeom prst="can">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685800" y="3474720"/>
            <a:ext cx="1828800" cy="457200"/>
          </a:xfrm>
          <a:prstGeom prst="rect">
            <a:avLst/>
          </a:prstGeom>
          <a:noFill/>
        </p:spPr>
        <p:txBody>
          <a:bodyPr wrap="square" lIns="0" tIns="0" rIns="0" bIns="0" anchor="t">
            <a:spAutoFit/>
          </a:bodyPr>
          <a:lstStyle/>
          <a:p>
            <a:pPr algn="ctr">
              <a:lnSpc>
                <a:spcPct val="100000"/>
              </a:lnSpc>
            </a:pPr>
            <a:r>
              <a:rPr sz="2200" b="0">
                <a:solidFill>
                  <a:srgbClr val="1F4E79"/>
                </a:solidFill>
                <a:latin typeface="Segoe UI Semibold"/>
              </a:rPr>
              <a:t>Collect</a:t>
            </a:r>
          </a:p>
        </p:txBody>
      </p:sp>
      <p:sp>
        <p:nvSpPr>
          <p:cNvPr id="9" name="TextBox 8"/>
          <p:cNvSpPr txBox="1"/>
          <p:nvPr/>
        </p:nvSpPr>
        <p:spPr>
          <a:xfrm>
            <a:off x="685800" y="3977639"/>
            <a:ext cx="1828800" cy="822960"/>
          </a:xfrm>
          <a:prstGeom prst="rect">
            <a:avLst/>
          </a:prstGeom>
          <a:noFill/>
        </p:spPr>
        <p:txBody>
          <a:bodyPr wrap="square" lIns="0" tIns="0" rIns="0" bIns="0" anchor="t">
            <a:spAutoFit/>
          </a:bodyPr>
          <a:lstStyle/>
          <a:p>
            <a:pPr algn="ctr">
              <a:lnSpc>
                <a:spcPct val="100000"/>
              </a:lnSpc>
            </a:pPr>
            <a:r>
              <a:rPr sz="1400" b="0">
                <a:solidFill>
                  <a:srgbClr val="6B7785"/>
                </a:solidFill>
                <a:latin typeface="Segoe UI"/>
              </a:rPr>
              <a:t>All 3 sources,
every file tracked</a:t>
            </a:r>
          </a:p>
        </p:txBody>
      </p:sp>
      <p:sp>
        <p:nvSpPr>
          <p:cNvPr id="10" name="Rounded Rectangle 9"/>
          <p:cNvSpPr/>
          <p:nvPr/>
        </p:nvSpPr>
        <p:spPr>
          <a:xfrm>
            <a:off x="914400" y="5029200"/>
            <a:ext cx="1371600" cy="402336"/>
          </a:xfrm>
          <a:prstGeom prst="roundRect">
            <a:avLst>
              <a:gd name="adj" fmla="val 50000"/>
            </a:avLst>
          </a:prstGeom>
          <a:solidFill>
            <a:srgbClr val="EEF2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914400" y="5029200"/>
            <a:ext cx="1371600" cy="402336"/>
          </a:xfrm>
          <a:prstGeom prst="rect">
            <a:avLst/>
          </a:prstGeom>
          <a:noFill/>
        </p:spPr>
        <p:txBody>
          <a:bodyPr wrap="square" lIns="0" tIns="0" rIns="0" bIns="0" anchor="ctr">
            <a:spAutoFit/>
          </a:bodyPr>
          <a:lstStyle/>
          <a:p>
            <a:pPr algn="ctr">
              <a:lnSpc>
                <a:spcPct val="100000"/>
              </a:lnSpc>
            </a:pPr>
            <a:r>
              <a:rPr sz="1100" b="1">
                <a:solidFill>
                  <a:srgbClr val="1F4E79"/>
                </a:solidFill>
                <a:latin typeface="Segoe UI"/>
              </a:rPr>
              <a:t>Alteryx</a:t>
            </a:r>
          </a:p>
        </p:txBody>
      </p:sp>
      <p:cxnSp>
        <p:nvCxnSpPr>
          <p:cNvPr id="12" name="Connector 11"/>
          <p:cNvCxnSpPr/>
          <p:nvPr/>
        </p:nvCxnSpPr>
        <p:spPr>
          <a:xfrm>
            <a:off x="2606040" y="2697480"/>
            <a:ext cx="228600" cy="0"/>
          </a:xfrm>
          <a:prstGeom prst="line">
            <a:avLst/>
          </a:prstGeom>
          <a:ln w="25400">
            <a:solidFill>
              <a:srgbClr val="C3CBD4"/>
            </a:solidFill>
            <a:tailEnd type="triangle" w="med" len="med"/>
          </a:ln>
        </p:spPr>
        <p:style>
          <a:lnRef idx="2">
            <a:schemeClr val="accent1"/>
          </a:lnRef>
          <a:fillRef idx="0">
            <a:schemeClr val="accent1"/>
          </a:fillRef>
          <a:effectRef idx="1">
            <a:schemeClr val="accent1"/>
          </a:effectRef>
          <a:fontRef idx="minor">
            <a:schemeClr val="tx1"/>
          </a:fontRef>
        </p:style>
      </p:cxnSp>
      <p:sp>
        <p:nvSpPr>
          <p:cNvPr id="13" name="Rounded Rectangle 12"/>
          <p:cNvSpPr/>
          <p:nvPr/>
        </p:nvSpPr>
        <p:spPr>
          <a:xfrm>
            <a:off x="2880360" y="1828800"/>
            <a:ext cx="1920240" cy="3931920"/>
          </a:xfrm>
          <a:prstGeom prst="roundRect">
            <a:avLst>
              <a:gd name="adj" fmla="val 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Oval 13"/>
          <p:cNvSpPr/>
          <p:nvPr/>
        </p:nvSpPr>
        <p:spPr>
          <a:xfrm>
            <a:off x="3314700" y="2171700"/>
            <a:ext cx="1051560" cy="1051560"/>
          </a:xfrm>
          <a:prstGeom prst="ellipse">
            <a:avLst/>
          </a:prstGeom>
          <a:solidFill>
            <a:srgbClr val="1F4E7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3525012" y="2360980"/>
            <a:ext cx="630936" cy="630936"/>
          </a:xfrm>
          <a:prstGeom prst="rect">
            <a:avLst/>
          </a:prstGeom>
          <a:noFill/>
        </p:spPr>
        <p:txBody>
          <a:bodyPr wrap="square" lIns="0" tIns="0" rIns="0" bIns="0" anchor="ctr">
            <a:spAutoFit/>
          </a:bodyPr>
          <a:lstStyle/>
          <a:p>
            <a:pPr algn="ctr">
              <a:lnSpc>
                <a:spcPct val="100000"/>
              </a:lnSpc>
            </a:pPr>
            <a:r>
              <a:rPr sz="3900" b="0">
                <a:solidFill>
                  <a:srgbClr val="FFFFFF"/>
                </a:solidFill>
                <a:latin typeface="Segoe UI Symbol"/>
              </a:rPr>
              <a:t>✓</a:t>
            </a:r>
          </a:p>
        </p:txBody>
      </p:sp>
      <p:sp>
        <p:nvSpPr>
          <p:cNvPr id="16" name="TextBox 15"/>
          <p:cNvSpPr txBox="1"/>
          <p:nvPr/>
        </p:nvSpPr>
        <p:spPr>
          <a:xfrm>
            <a:off x="2926080" y="3474720"/>
            <a:ext cx="1828800" cy="457200"/>
          </a:xfrm>
          <a:prstGeom prst="rect">
            <a:avLst/>
          </a:prstGeom>
          <a:noFill/>
        </p:spPr>
        <p:txBody>
          <a:bodyPr wrap="square" lIns="0" tIns="0" rIns="0" bIns="0" anchor="t">
            <a:spAutoFit/>
          </a:bodyPr>
          <a:lstStyle/>
          <a:p>
            <a:pPr algn="ctr">
              <a:lnSpc>
                <a:spcPct val="100000"/>
              </a:lnSpc>
            </a:pPr>
            <a:r>
              <a:rPr sz="2200" b="0">
                <a:solidFill>
                  <a:srgbClr val="1F4E79"/>
                </a:solidFill>
                <a:latin typeface="Segoe UI Semibold"/>
              </a:rPr>
              <a:t>Check</a:t>
            </a:r>
          </a:p>
        </p:txBody>
      </p:sp>
      <p:sp>
        <p:nvSpPr>
          <p:cNvPr id="17" name="TextBox 16"/>
          <p:cNvSpPr txBox="1"/>
          <p:nvPr/>
        </p:nvSpPr>
        <p:spPr>
          <a:xfrm>
            <a:off x="2926080" y="3977639"/>
            <a:ext cx="1828800" cy="822960"/>
          </a:xfrm>
          <a:prstGeom prst="rect">
            <a:avLst/>
          </a:prstGeom>
          <a:noFill/>
        </p:spPr>
        <p:txBody>
          <a:bodyPr wrap="square" lIns="0" tIns="0" rIns="0" bIns="0" anchor="t">
            <a:spAutoFit/>
          </a:bodyPr>
          <a:lstStyle/>
          <a:p>
            <a:pPr algn="ctr">
              <a:lnSpc>
                <a:spcPct val="100000"/>
              </a:lnSpc>
            </a:pPr>
            <a:r>
              <a:rPr sz="1400" b="0">
                <a:solidFill>
                  <a:srgbClr val="6B7785"/>
                </a:solidFill>
                <a:latin typeface="Segoe UI"/>
              </a:rPr>
              <a:t>43 quality rules,
nothing lost silently</a:t>
            </a:r>
          </a:p>
        </p:txBody>
      </p:sp>
      <p:sp>
        <p:nvSpPr>
          <p:cNvPr id="18" name="Rounded Rectangle 17"/>
          <p:cNvSpPr/>
          <p:nvPr/>
        </p:nvSpPr>
        <p:spPr>
          <a:xfrm>
            <a:off x="3154680" y="5029200"/>
            <a:ext cx="1371600" cy="402336"/>
          </a:xfrm>
          <a:prstGeom prst="roundRect">
            <a:avLst>
              <a:gd name="adj" fmla="val 50000"/>
            </a:avLst>
          </a:prstGeom>
          <a:solidFill>
            <a:srgbClr val="EEF2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3154680" y="5029200"/>
            <a:ext cx="1371600" cy="402336"/>
          </a:xfrm>
          <a:prstGeom prst="rect">
            <a:avLst/>
          </a:prstGeom>
          <a:noFill/>
        </p:spPr>
        <p:txBody>
          <a:bodyPr wrap="square" lIns="0" tIns="0" rIns="0" bIns="0" anchor="ctr">
            <a:spAutoFit/>
          </a:bodyPr>
          <a:lstStyle/>
          <a:p>
            <a:pPr algn="ctr">
              <a:lnSpc>
                <a:spcPct val="100000"/>
              </a:lnSpc>
            </a:pPr>
            <a:r>
              <a:rPr sz="1100" b="1">
                <a:solidFill>
                  <a:srgbClr val="1F4E79"/>
                </a:solidFill>
                <a:latin typeface="Segoe UI"/>
              </a:rPr>
              <a:t>Alteryx</a:t>
            </a:r>
          </a:p>
        </p:txBody>
      </p:sp>
      <p:cxnSp>
        <p:nvCxnSpPr>
          <p:cNvPr id="20" name="Connector 19"/>
          <p:cNvCxnSpPr/>
          <p:nvPr/>
        </p:nvCxnSpPr>
        <p:spPr>
          <a:xfrm>
            <a:off x="4846320" y="2697480"/>
            <a:ext cx="228600" cy="0"/>
          </a:xfrm>
          <a:prstGeom prst="line">
            <a:avLst/>
          </a:prstGeom>
          <a:ln w="25400">
            <a:solidFill>
              <a:srgbClr val="C3CBD4"/>
            </a:solidFill>
            <a:tailEnd type="triangle" w="med" len="med"/>
          </a:ln>
        </p:spPr>
        <p:style>
          <a:lnRef idx="2">
            <a:schemeClr val="accent1"/>
          </a:lnRef>
          <a:fillRef idx="0">
            <a:schemeClr val="accent1"/>
          </a:fillRef>
          <a:effectRef idx="1">
            <a:schemeClr val="accent1"/>
          </a:effectRef>
          <a:fontRef idx="minor">
            <a:schemeClr val="tx1"/>
          </a:fontRef>
        </p:style>
      </p:cxnSp>
      <p:sp>
        <p:nvSpPr>
          <p:cNvPr id="21" name="Rounded Rectangle 20"/>
          <p:cNvSpPr/>
          <p:nvPr/>
        </p:nvSpPr>
        <p:spPr>
          <a:xfrm>
            <a:off x="5120640" y="1828800"/>
            <a:ext cx="1920240" cy="3931920"/>
          </a:xfrm>
          <a:prstGeom prst="roundRect">
            <a:avLst>
              <a:gd name="adj" fmla="val 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Oval 21"/>
          <p:cNvSpPr/>
          <p:nvPr/>
        </p:nvSpPr>
        <p:spPr>
          <a:xfrm>
            <a:off x="5554980" y="2171700"/>
            <a:ext cx="1051560" cy="1051560"/>
          </a:xfrm>
          <a:prstGeom prst="ellipse">
            <a:avLst/>
          </a:prstGeom>
          <a:solidFill>
            <a:srgbClr val="1F4E7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Rounded Rectangle 22"/>
          <p:cNvSpPr/>
          <p:nvPr/>
        </p:nvSpPr>
        <p:spPr>
          <a:xfrm>
            <a:off x="5838901" y="2455621"/>
            <a:ext cx="220827" cy="220827"/>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Rounded Rectangle 23"/>
          <p:cNvSpPr/>
          <p:nvPr/>
        </p:nvSpPr>
        <p:spPr>
          <a:xfrm>
            <a:off x="5838901" y="2718511"/>
            <a:ext cx="220827" cy="220827"/>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Rounded Rectangle 24"/>
          <p:cNvSpPr/>
          <p:nvPr/>
        </p:nvSpPr>
        <p:spPr>
          <a:xfrm>
            <a:off x="6101791" y="2455621"/>
            <a:ext cx="220827" cy="220827"/>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Rounded Rectangle 25"/>
          <p:cNvSpPr/>
          <p:nvPr/>
        </p:nvSpPr>
        <p:spPr>
          <a:xfrm>
            <a:off x="6101791" y="2718511"/>
            <a:ext cx="220827" cy="220827"/>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TextBox 26"/>
          <p:cNvSpPr txBox="1"/>
          <p:nvPr/>
        </p:nvSpPr>
        <p:spPr>
          <a:xfrm>
            <a:off x="5166360" y="3474720"/>
            <a:ext cx="1828800" cy="457200"/>
          </a:xfrm>
          <a:prstGeom prst="rect">
            <a:avLst/>
          </a:prstGeom>
          <a:noFill/>
        </p:spPr>
        <p:txBody>
          <a:bodyPr wrap="square" lIns="0" tIns="0" rIns="0" bIns="0" anchor="t">
            <a:spAutoFit/>
          </a:bodyPr>
          <a:lstStyle/>
          <a:p>
            <a:pPr algn="ctr">
              <a:lnSpc>
                <a:spcPct val="100000"/>
              </a:lnSpc>
            </a:pPr>
            <a:r>
              <a:rPr sz="2200" b="0">
                <a:solidFill>
                  <a:srgbClr val="1F4E79"/>
                </a:solidFill>
                <a:latin typeface="Segoe UI Semibold"/>
              </a:rPr>
              <a:t>Organise</a:t>
            </a:r>
          </a:p>
        </p:txBody>
      </p:sp>
      <p:sp>
        <p:nvSpPr>
          <p:cNvPr id="28" name="TextBox 27"/>
          <p:cNvSpPr txBox="1"/>
          <p:nvPr/>
        </p:nvSpPr>
        <p:spPr>
          <a:xfrm>
            <a:off x="5166360" y="3977639"/>
            <a:ext cx="1828800" cy="822960"/>
          </a:xfrm>
          <a:prstGeom prst="rect">
            <a:avLst/>
          </a:prstGeom>
          <a:noFill/>
        </p:spPr>
        <p:txBody>
          <a:bodyPr wrap="square" lIns="0" tIns="0" rIns="0" bIns="0" anchor="t">
            <a:spAutoFit/>
          </a:bodyPr>
          <a:lstStyle/>
          <a:p>
            <a:pPr algn="ctr">
              <a:lnSpc>
                <a:spcPct val="100000"/>
              </a:lnSpc>
            </a:pPr>
            <a:r>
              <a:rPr sz="1400" b="0">
                <a:solidFill>
                  <a:srgbClr val="6B7785"/>
                </a:solidFill>
                <a:latin typeface="Segoe UI"/>
              </a:rPr>
              <a:t>One analytics
warehouse</a:t>
            </a:r>
          </a:p>
        </p:txBody>
      </p:sp>
      <p:sp>
        <p:nvSpPr>
          <p:cNvPr id="29" name="Rounded Rectangle 28"/>
          <p:cNvSpPr/>
          <p:nvPr/>
        </p:nvSpPr>
        <p:spPr>
          <a:xfrm>
            <a:off x="5394960" y="5029200"/>
            <a:ext cx="1371600" cy="402336"/>
          </a:xfrm>
          <a:prstGeom prst="roundRect">
            <a:avLst>
              <a:gd name="adj" fmla="val 50000"/>
            </a:avLst>
          </a:prstGeom>
          <a:solidFill>
            <a:srgbClr val="EEF2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TextBox 29"/>
          <p:cNvSpPr txBox="1"/>
          <p:nvPr/>
        </p:nvSpPr>
        <p:spPr>
          <a:xfrm>
            <a:off x="5394960" y="5029200"/>
            <a:ext cx="1371600" cy="402336"/>
          </a:xfrm>
          <a:prstGeom prst="rect">
            <a:avLst/>
          </a:prstGeom>
          <a:noFill/>
        </p:spPr>
        <p:txBody>
          <a:bodyPr wrap="square" lIns="0" tIns="0" rIns="0" bIns="0" anchor="ctr">
            <a:spAutoFit/>
          </a:bodyPr>
          <a:lstStyle/>
          <a:p>
            <a:pPr algn="ctr">
              <a:lnSpc>
                <a:spcPct val="100000"/>
              </a:lnSpc>
            </a:pPr>
            <a:r>
              <a:rPr sz="1100" b="1">
                <a:solidFill>
                  <a:srgbClr val="1F4E79"/>
                </a:solidFill>
                <a:latin typeface="Segoe UI"/>
              </a:rPr>
              <a:t>SQL Server</a:t>
            </a:r>
          </a:p>
        </p:txBody>
      </p:sp>
      <p:cxnSp>
        <p:nvCxnSpPr>
          <p:cNvPr id="31" name="Connector 30"/>
          <p:cNvCxnSpPr/>
          <p:nvPr/>
        </p:nvCxnSpPr>
        <p:spPr>
          <a:xfrm>
            <a:off x="7086600" y="2697480"/>
            <a:ext cx="228600" cy="0"/>
          </a:xfrm>
          <a:prstGeom prst="line">
            <a:avLst/>
          </a:prstGeom>
          <a:ln w="25400">
            <a:solidFill>
              <a:srgbClr val="C3CBD4"/>
            </a:solidFill>
            <a:tailEnd type="triangle" w="med" len="med"/>
          </a:ln>
        </p:spPr>
        <p:style>
          <a:lnRef idx="2">
            <a:schemeClr val="accent1"/>
          </a:lnRef>
          <a:fillRef idx="0">
            <a:schemeClr val="accent1"/>
          </a:fillRef>
          <a:effectRef idx="1">
            <a:schemeClr val="accent1"/>
          </a:effectRef>
          <a:fontRef idx="minor">
            <a:schemeClr val="tx1"/>
          </a:fontRef>
        </p:style>
      </p:cxnSp>
      <p:sp>
        <p:nvSpPr>
          <p:cNvPr id="32" name="Rounded Rectangle 31"/>
          <p:cNvSpPr/>
          <p:nvPr/>
        </p:nvSpPr>
        <p:spPr>
          <a:xfrm>
            <a:off x="7360920" y="1828800"/>
            <a:ext cx="1920240" cy="3931920"/>
          </a:xfrm>
          <a:prstGeom prst="roundRect">
            <a:avLst>
              <a:gd name="adj" fmla="val 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Oval 32"/>
          <p:cNvSpPr/>
          <p:nvPr/>
        </p:nvSpPr>
        <p:spPr>
          <a:xfrm>
            <a:off x="7795260" y="2171700"/>
            <a:ext cx="1051560" cy="1051560"/>
          </a:xfrm>
          <a:prstGeom prst="ellipse">
            <a:avLst/>
          </a:prstGeom>
          <a:solidFill>
            <a:srgbClr val="1F4E7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 name="TextBox 33"/>
          <p:cNvSpPr txBox="1"/>
          <p:nvPr/>
        </p:nvSpPr>
        <p:spPr>
          <a:xfrm>
            <a:off x="8005572" y="2382012"/>
            <a:ext cx="630936" cy="630936"/>
          </a:xfrm>
          <a:prstGeom prst="rect">
            <a:avLst/>
          </a:prstGeom>
          <a:noFill/>
        </p:spPr>
        <p:txBody>
          <a:bodyPr wrap="square" lIns="0" tIns="0" rIns="0" bIns="0" anchor="ctr">
            <a:spAutoFit/>
          </a:bodyPr>
          <a:lstStyle/>
          <a:p>
            <a:pPr algn="ctr">
              <a:lnSpc>
                <a:spcPct val="100000"/>
              </a:lnSpc>
            </a:pPr>
            <a:r>
              <a:rPr sz="2900" b="0">
                <a:solidFill>
                  <a:srgbClr val="FFFFFF"/>
                </a:solidFill>
                <a:latin typeface="Cambria"/>
              </a:rPr>
              <a:t>ƒx</a:t>
            </a:r>
          </a:p>
        </p:txBody>
      </p:sp>
      <p:sp>
        <p:nvSpPr>
          <p:cNvPr id="35" name="TextBox 34"/>
          <p:cNvSpPr txBox="1"/>
          <p:nvPr/>
        </p:nvSpPr>
        <p:spPr>
          <a:xfrm>
            <a:off x="7406640" y="3474720"/>
            <a:ext cx="1828800" cy="457200"/>
          </a:xfrm>
          <a:prstGeom prst="rect">
            <a:avLst/>
          </a:prstGeom>
          <a:noFill/>
        </p:spPr>
        <p:txBody>
          <a:bodyPr wrap="square" lIns="0" tIns="0" rIns="0" bIns="0" anchor="t">
            <a:spAutoFit/>
          </a:bodyPr>
          <a:lstStyle/>
          <a:p>
            <a:pPr algn="ctr">
              <a:lnSpc>
                <a:spcPct val="100000"/>
              </a:lnSpc>
            </a:pPr>
            <a:r>
              <a:rPr sz="2200" b="0">
                <a:solidFill>
                  <a:srgbClr val="1F4E79"/>
                </a:solidFill>
                <a:latin typeface="Segoe UI Semibold"/>
              </a:rPr>
              <a:t>Define</a:t>
            </a:r>
          </a:p>
        </p:txBody>
      </p:sp>
      <p:sp>
        <p:nvSpPr>
          <p:cNvPr id="36" name="TextBox 35"/>
          <p:cNvSpPr txBox="1"/>
          <p:nvPr/>
        </p:nvSpPr>
        <p:spPr>
          <a:xfrm>
            <a:off x="7406640" y="3977639"/>
            <a:ext cx="1828800" cy="822960"/>
          </a:xfrm>
          <a:prstGeom prst="rect">
            <a:avLst/>
          </a:prstGeom>
          <a:noFill/>
        </p:spPr>
        <p:txBody>
          <a:bodyPr wrap="square" lIns="0" tIns="0" rIns="0" bIns="0" anchor="t">
            <a:spAutoFit/>
          </a:bodyPr>
          <a:lstStyle/>
          <a:p>
            <a:pPr algn="ctr">
              <a:lnSpc>
                <a:spcPct val="100000"/>
              </a:lnSpc>
            </a:pPr>
            <a:r>
              <a:rPr sz="1400" b="0">
                <a:solidFill>
                  <a:srgbClr val="6B7785"/>
                </a:solidFill>
                <a:latin typeface="Segoe UI"/>
              </a:rPr>
              <a:t>Each measure
defined once</a:t>
            </a:r>
          </a:p>
        </p:txBody>
      </p:sp>
      <p:sp>
        <p:nvSpPr>
          <p:cNvPr id="37" name="Rounded Rectangle 36"/>
          <p:cNvSpPr/>
          <p:nvPr/>
        </p:nvSpPr>
        <p:spPr>
          <a:xfrm>
            <a:off x="7635240" y="5029200"/>
            <a:ext cx="1371600" cy="402336"/>
          </a:xfrm>
          <a:prstGeom prst="roundRect">
            <a:avLst>
              <a:gd name="adj" fmla="val 50000"/>
            </a:avLst>
          </a:prstGeom>
          <a:solidFill>
            <a:srgbClr val="EEF2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8" name="TextBox 37"/>
          <p:cNvSpPr txBox="1"/>
          <p:nvPr/>
        </p:nvSpPr>
        <p:spPr>
          <a:xfrm>
            <a:off x="7635240" y="5029200"/>
            <a:ext cx="1371600" cy="402336"/>
          </a:xfrm>
          <a:prstGeom prst="rect">
            <a:avLst/>
          </a:prstGeom>
          <a:noFill/>
        </p:spPr>
        <p:txBody>
          <a:bodyPr wrap="square" lIns="0" tIns="0" rIns="0" bIns="0" anchor="ctr">
            <a:spAutoFit/>
          </a:bodyPr>
          <a:lstStyle/>
          <a:p>
            <a:pPr algn="ctr">
              <a:lnSpc>
                <a:spcPct val="100000"/>
              </a:lnSpc>
            </a:pPr>
            <a:r>
              <a:rPr sz="1100" b="1">
                <a:solidFill>
                  <a:srgbClr val="1F4E79"/>
                </a:solidFill>
                <a:latin typeface="Segoe UI"/>
              </a:rPr>
              <a:t>SQL Server</a:t>
            </a:r>
          </a:p>
        </p:txBody>
      </p:sp>
      <p:cxnSp>
        <p:nvCxnSpPr>
          <p:cNvPr id="39" name="Connector 38"/>
          <p:cNvCxnSpPr/>
          <p:nvPr/>
        </p:nvCxnSpPr>
        <p:spPr>
          <a:xfrm>
            <a:off x="9326880" y="2697480"/>
            <a:ext cx="228600" cy="0"/>
          </a:xfrm>
          <a:prstGeom prst="line">
            <a:avLst/>
          </a:prstGeom>
          <a:ln w="25400">
            <a:solidFill>
              <a:srgbClr val="C3CBD4"/>
            </a:solidFill>
            <a:tailEnd type="triangle" w="med" len="med"/>
          </a:ln>
        </p:spPr>
        <p:style>
          <a:lnRef idx="2">
            <a:schemeClr val="accent1"/>
          </a:lnRef>
          <a:fillRef idx="0">
            <a:schemeClr val="accent1"/>
          </a:fillRef>
          <a:effectRef idx="1">
            <a:schemeClr val="accent1"/>
          </a:effectRef>
          <a:fontRef idx="minor">
            <a:schemeClr val="tx1"/>
          </a:fontRef>
        </p:style>
      </p:cxnSp>
      <p:sp>
        <p:nvSpPr>
          <p:cNvPr id="40" name="Rounded Rectangle 39"/>
          <p:cNvSpPr/>
          <p:nvPr/>
        </p:nvSpPr>
        <p:spPr>
          <a:xfrm>
            <a:off x="9601200" y="1828800"/>
            <a:ext cx="1920240" cy="3931920"/>
          </a:xfrm>
          <a:prstGeom prst="roundRect">
            <a:avLst>
              <a:gd name="adj" fmla="val 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1" name="Oval 40"/>
          <p:cNvSpPr/>
          <p:nvPr/>
        </p:nvSpPr>
        <p:spPr>
          <a:xfrm>
            <a:off x="10035540" y="2171700"/>
            <a:ext cx="1051560" cy="1051560"/>
          </a:xfrm>
          <a:prstGeom prst="ellipse">
            <a:avLst/>
          </a:prstGeom>
          <a:solidFill>
            <a:srgbClr val="F2A9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2" name="Rectangle 41"/>
          <p:cNvSpPr/>
          <p:nvPr/>
        </p:nvSpPr>
        <p:spPr>
          <a:xfrm>
            <a:off x="10308945" y="2729026"/>
            <a:ext cx="131445" cy="210311"/>
          </a:xfrm>
          <a:prstGeom prst="rect">
            <a:avLst/>
          </a:prstGeom>
          <a:solidFill>
            <a:srgbClr val="1F4E7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3" name="Rectangle 42"/>
          <p:cNvSpPr/>
          <p:nvPr/>
        </p:nvSpPr>
        <p:spPr>
          <a:xfrm>
            <a:off x="10492968" y="2581808"/>
            <a:ext cx="131445" cy="357530"/>
          </a:xfrm>
          <a:prstGeom prst="rect">
            <a:avLst/>
          </a:prstGeom>
          <a:solidFill>
            <a:srgbClr val="1F4E7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4" name="Rectangle 43"/>
          <p:cNvSpPr/>
          <p:nvPr/>
        </p:nvSpPr>
        <p:spPr>
          <a:xfrm>
            <a:off x="10676991" y="2455621"/>
            <a:ext cx="131445" cy="483717"/>
          </a:xfrm>
          <a:prstGeom prst="rect">
            <a:avLst/>
          </a:prstGeom>
          <a:solidFill>
            <a:srgbClr val="1F4E7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5" name="TextBox 44"/>
          <p:cNvSpPr txBox="1"/>
          <p:nvPr/>
        </p:nvSpPr>
        <p:spPr>
          <a:xfrm>
            <a:off x="9646920" y="3474720"/>
            <a:ext cx="1828800" cy="457200"/>
          </a:xfrm>
          <a:prstGeom prst="rect">
            <a:avLst/>
          </a:prstGeom>
          <a:noFill/>
        </p:spPr>
        <p:txBody>
          <a:bodyPr wrap="square" lIns="0" tIns="0" rIns="0" bIns="0" anchor="t">
            <a:spAutoFit/>
          </a:bodyPr>
          <a:lstStyle/>
          <a:p>
            <a:pPr algn="ctr">
              <a:lnSpc>
                <a:spcPct val="100000"/>
              </a:lnSpc>
            </a:pPr>
            <a:r>
              <a:rPr sz="2200" b="0">
                <a:solidFill>
                  <a:srgbClr val="1F4E79"/>
                </a:solidFill>
                <a:latin typeface="Segoe UI Semibold"/>
              </a:rPr>
              <a:t>Visualise</a:t>
            </a:r>
          </a:p>
        </p:txBody>
      </p:sp>
      <p:sp>
        <p:nvSpPr>
          <p:cNvPr id="46" name="TextBox 45"/>
          <p:cNvSpPr txBox="1"/>
          <p:nvPr/>
        </p:nvSpPr>
        <p:spPr>
          <a:xfrm>
            <a:off x="9646920" y="3977639"/>
            <a:ext cx="1828800" cy="822960"/>
          </a:xfrm>
          <a:prstGeom prst="rect">
            <a:avLst/>
          </a:prstGeom>
          <a:noFill/>
        </p:spPr>
        <p:txBody>
          <a:bodyPr wrap="square" lIns="0" tIns="0" rIns="0" bIns="0" anchor="t">
            <a:spAutoFit/>
          </a:bodyPr>
          <a:lstStyle/>
          <a:p>
            <a:pPr algn="ctr">
              <a:lnSpc>
                <a:spcPct val="100000"/>
              </a:lnSpc>
            </a:pPr>
            <a:r>
              <a:rPr sz="1400" b="0">
                <a:solidFill>
                  <a:srgbClr val="6B7785"/>
                </a:solidFill>
                <a:latin typeface="Segoe UI"/>
              </a:rPr>
              <a:t>8 interactive
dashboards</a:t>
            </a:r>
          </a:p>
        </p:txBody>
      </p:sp>
      <p:sp>
        <p:nvSpPr>
          <p:cNvPr id="47" name="Rounded Rectangle 46"/>
          <p:cNvSpPr/>
          <p:nvPr/>
        </p:nvSpPr>
        <p:spPr>
          <a:xfrm>
            <a:off x="9875520" y="5029200"/>
            <a:ext cx="1371600" cy="402336"/>
          </a:xfrm>
          <a:prstGeom prst="roundRect">
            <a:avLst>
              <a:gd name="adj" fmla="val 50000"/>
            </a:avLst>
          </a:prstGeom>
          <a:solidFill>
            <a:srgbClr val="EEF2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8" name="TextBox 47"/>
          <p:cNvSpPr txBox="1"/>
          <p:nvPr/>
        </p:nvSpPr>
        <p:spPr>
          <a:xfrm>
            <a:off x="9875520" y="5029200"/>
            <a:ext cx="1371600" cy="402336"/>
          </a:xfrm>
          <a:prstGeom prst="rect">
            <a:avLst/>
          </a:prstGeom>
          <a:noFill/>
        </p:spPr>
        <p:txBody>
          <a:bodyPr wrap="square" lIns="0" tIns="0" rIns="0" bIns="0" anchor="ctr">
            <a:spAutoFit/>
          </a:bodyPr>
          <a:lstStyle/>
          <a:p>
            <a:pPr algn="ctr">
              <a:lnSpc>
                <a:spcPct val="100000"/>
              </a:lnSpc>
            </a:pPr>
            <a:r>
              <a:rPr sz="1100" b="1">
                <a:solidFill>
                  <a:srgbClr val="1F4E79"/>
                </a:solidFill>
                <a:latin typeface="Segoe UI"/>
              </a:rPr>
              <a:t>Tableau</a:t>
            </a:r>
          </a:p>
        </p:txBody>
      </p:sp>
      <p:sp>
        <p:nvSpPr>
          <p:cNvPr id="49" name="TextBox 48"/>
          <p:cNvSpPr txBox="1"/>
          <p:nvPr/>
        </p:nvSpPr>
        <p:spPr>
          <a:xfrm>
            <a:off x="548640" y="6428232"/>
            <a:ext cx="5486400" cy="228600"/>
          </a:xfrm>
          <a:prstGeom prst="rect">
            <a:avLst/>
          </a:prstGeom>
          <a:noFill/>
        </p:spPr>
        <p:txBody>
          <a:bodyPr wrap="square" lIns="0" tIns="0" rIns="0" bIns="0" anchor="t">
            <a:spAutoFit/>
          </a:bodyPr>
          <a:lstStyle/>
          <a:p>
            <a:pPr algn="l">
              <a:lnSpc>
                <a:spcPct val="100000"/>
              </a:lnSpc>
            </a:pPr>
            <a:r>
              <a:rPr sz="1000" b="0">
                <a:solidFill>
                  <a:srgbClr val="6B7785"/>
                </a:solidFill>
                <a:latin typeface="Segoe UI"/>
              </a:rPr>
              <a:t>Cricket Analytics Platform</a:t>
            </a:r>
          </a:p>
        </p:txBody>
      </p:sp>
      <p:sp>
        <p:nvSpPr>
          <p:cNvPr id="50" name="TextBox 49"/>
          <p:cNvSpPr txBox="1"/>
          <p:nvPr/>
        </p:nvSpPr>
        <p:spPr>
          <a:xfrm>
            <a:off x="10725912" y="6428232"/>
            <a:ext cx="914400" cy="228600"/>
          </a:xfrm>
          <a:prstGeom prst="rect">
            <a:avLst/>
          </a:prstGeom>
          <a:noFill/>
        </p:spPr>
        <p:txBody>
          <a:bodyPr wrap="square" lIns="0" tIns="0" rIns="0" bIns="0" anchor="t">
            <a:spAutoFit/>
          </a:bodyPr>
          <a:lstStyle/>
          <a:p>
            <a:pPr algn="r">
              <a:lnSpc>
                <a:spcPct val="100000"/>
              </a:lnSpc>
            </a:pPr>
            <a:r>
              <a:rPr sz="1000" b="0">
                <a:solidFill>
                  <a:srgbClr val="6B7785"/>
                </a:solidFill>
                <a:latin typeface="Segoe UI"/>
              </a:rPr>
              <a:t>4</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EEF2F6"/>
        </a:solidFill>
        <a:effectLst/>
      </p:bgPr>
    </p:bg>
    <p:spTree>
      <p:nvGrpSpPr>
        <p:cNvPr id="1" name=""/>
        <p:cNvGrpSpPr/>
        <p:nvPr/>
      </p:nvGrpSpPr>
      <p:grpSpPr>
        <a:xfrm>
          <a:off x="0" y="0"/>
          <a:ext cx="0" cy="0"/>
          <a:chOff x="0" y="0"/>
          <a:chExt cx="0" cy="0"/>
        </a:xfrm>
      </p:grpSpPr>
      <p:sp>
        <p:nvSpPr>
          <p:cNvPr id="2" name="TextBox 1"/>
          <p:cNvSpPr txBox="1"/>
          <p:nvPr/>
        </p:nvSpPr>
        <p:spPr>
          <a:xfrm>
            <a:off x="548640" y="146304"/>
            <a:ext cx="10058400" cy="256032"/>
          </a:xfrm>
          <a:prstGeom prst="rect">
            <a:avLst/>
          </a:prstGeom>
          <a:noFill/>
        </p:spPr>
        <p:txBody>
          <a:bodyPr wrap="square" lIns="0" tIns="0" rIns="0" bIns="0" anchor="t">
            <a:spAutoFit/>
          </a:bodyPr>
          <a:lstStyle/>
          <a:p>
            <a:pPr algn="l">
              <a:lnSpc>
                <a:spcPct val="100000"/>
              </a:lnSpc>
            </a:pPr>
            <a:r>
              <a:rPr sz="1000" b="1">
                <a:solidFill>
                  <a:srgbClr val="F2A900"/>
                </a:solidFill>
                <a:latin typeface="Segoe UI"/>
              </a:rPr>
              <a:t>01  ·  BUSINESS PROBLEM AND APPROACH</a:t>
            </a:r>
            <a:r>
              <a:rPr sz="1000" b="0">
                <a:solidFill>
                  <a:srgbClr val="6B7785"/>
                </a:solidFill>
                <a:latin typeface="Segoe UI"/>
              </a:rPr>
              <a:t>     Brief §1–2</a:t>
            </a:r>
          </a:p>
        </p:txBody>
      </p:sp>
      <p:sp>
        <p:nvSpPr>
          <p:cNvPr id="3" name="TextBox 2"/>
          <p:cNvSpPr txBox="1"/>
          <p:nvPr/>
        </p:nvSpPr>
        <p:spPr>
          <a:xfrm>
            <a:off x="548640" y="411480"/>
            <a:ext cx="11064240" cy="640080"/>
          </a:xfrm>
          <a:prstGeom prst="rect">
            <a:avLst/>
          </a:prstGeom>
          <a:noFill/>
        </p:spPr>
        <p:txBody>
          <a:bodyPr wrap="square" lIns="0" tIns="0" rIns="0" bIns="0" anchor="t">
            <a:spAutoFit/>
          </a:bodyPr>
          <a:lstStyle/>
          <a:p>
            <a:pPr algn="l">
              <a:lnSpc>
                <a:spcPct val="100000"/>
              </a:lnSpc>
            </a:pPr>
            <a:r>
              <a:rPr sz="3200" b="0">
                <a:solidFill>
                  <a:srgbClr val="1F4E79"/>
                </a:solidFill>
                <a:latin typeface="Segoe UI Semibold"/>
              </a:rPr>
              <a:t>How we built it</a:t>
            </a:r>
          </a:p>
        </p:txBody>
      </p:sp>
      <p:sp>
        <p:nvSpPr>
          <p:cNvPr id="4" name="TextBox 3"/>
          <p:cNvSpPr txBox="1"/>
          <p:nvPr/>
        </p:nvSpPr>
        <p:spPr>
          <a:xfrm>
            <a:off x="548640" y="1024128"/>
            <a:ext cx="11064240" cy="411480"/>
          </a:xfrm>
          <a:prstGeom prst="rect">
            <a:avLst/>
          </a:prstGeom>
          <a:noFill/>
        </p:spPr>
        <p:txBody>
          <a:bodyPr wrap="square" lIns="0" tIns="0" rIns="0" bIns="0" anchor="t">
            <a:spAutoFit/>
          </a:bodyPr>
          <a:lstStyle/>
          <a:p>
            <a:pPr algn="l">
              <a:lnSpc>
                <a:spcPct val="100000"/>
              </a:lnSpc>
            </a:pPr>
            <a:r>
              <a:rPr sz="1500" b="0">
                <a:solidFill>
                  <a:srgbClr val="6B7785"/>
                </a:solidFill>
                <a:latin typeface="Segoe UI"/>
              </a:rPr>
              <a:t>Nine milestones, each building on the last</a:t>
            </a:r>
          </a:p>
        </p:txBody>
      </p:sp>
      <p:sp>
        <p:nvSpPr>
          <p:cNvPr id="5" name="Rectangle 4"/>
          <p:cNvSpPr/>
          <p:nvPr/>
        </p:nvSpPr>
        <p:spPr>
          <a:xfrm>
            <a:off x="1097280" y="3995928"/>
            <a:ext cx="9875520" cy="54864"/>
          </a:xfrm>
          <a:prstGeom prst="rect">
            <a:avLst/>
          </a:prstGeom>
          <a:solidFill>
            <a:srgbClr val="C3CB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Oval 5"/>
          <p:cNvSpPr/>
          <p:nvPr/>
        </p:nvSpPr>
        <p:spPr>
          <a:xfrm>
            <a:off x="813815" y="3739896"/>
            <a:ext cx="566928" cy="566928"/>
          </a:xfrm>
          <a:prstGeom prst="ellipse">
            <a:avLst/>
          </a:prstGeom>
          <a:solidFill>
            <a:srgbClr val="1F4E7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813815" y="3739896"/>
            <a:ext cx="566928" cy="566928"/>
          </a:xfrm>
          <a:prstGeom prst="rect">
            <a:avLst/>
          </a:prstGeom>
          <a:noFill/>
        </p:spPr>
        <p:txBody>
          <a:bodyPr wrap="square" lIns="0" tIns="0" rIns="0" bIns="0" anchor="ctr">
            <a:spAutoFit/>
          </a:bodyPr>
          <a:lstStyle/>
          <a:p>
            <a:pPr algn="ctr">
              <a:lnSpc>
                <a:spcPct val="100000"/>
              </a:lnSpc>
            </a:pPr>
            <a:r>
              <a:rPr sz="1600" b="0">
                <a:solidFill>
                  <a:srgbClr val="FFFFFF"/>
                </a:solidFill>
                <a:latin typeface="Segoe UI Semibold"/>
              </a:rPr>
              <a:t>1</a:t>
            </a:r>
          </a:p>
        </p:txBody>
      </p:sp>
      <p:sp>
        <p:nvSpPr>
          <p:cNvPr id="8" name="TextBox 7"/>
          <p:cNvSpPr txBox="1"/>
          <p:nvPr/>
        </p:nvSpPr>
        <p:spPr>
          <a:xfrm>
            <a:off x="384047" y="2194560"/>
            <a:ext cx="1426464" cy="365760"/>
          </a:xfrm>
          <a:prstGeom prst="rect">
            <a:avLst/>
          </a:prstGeom>
          <a:noFill/>
        </p:spPr>
        <p:txBody>
          <a:bodyPr wrap="square" lIns="0" tIns="0" rIns="0" bIns="0" anchor="t">
            <a:spAutoFit/>
          </a:bodyPr>
          <a:lstStyle/>
          <a:p>
            <a:pPr algn="ctr">
              <a:lnSpc>
                <a:spcPct val="100000"/>
              </a:lnSpc>
            </a:pPr>
            <a:r>
              <a:rPr sz="1400" b="0">
                <a:solidFill>
                  <a:srgbClr val="1F4E79"/>
                </a:solidFill>
                <a:latin typeface="Segoe UI Semibold"/>
              </a:rPr>
              <a:t>Foundation</a:t>
            </a:r>
          </a:p>
        </p:txBody>
      </p:sp>
      <p:sp>
        <p:nvSpPr>
          <p:cNvPr id="9" name="TextBox 8"/>
          <p:cNvSpPr txBox="1"/>
          <p:nvPr/>
        </p:nvSpPr>
        <p:spPr>
          <a:xfrm>
            <a:off x="384047" y="2578608"/>
            <a:ext cx="1426464" cy="731520"/>
          </a:xfrm>
          <a:prstGeom prst="rect">
            <a:avLst/>
          </a:prstGeom>
          <a:noFill/>
        </p:spPr>
        <p:txBody>
          <a:bodyPr wrap="square" lIns="0" tIns="0" rIns="0" bIns="0" anchor="t">
            <a:spAutoFit/>
          </a:bodyPr>
          <a:lstStyle/>
          <a:p>
            <a:pPr algn="ctr">
              <a:lnSpc>
                <a:spcPct val="100000"/>
              </a:lnSpc>
            </a:pPr>
            <a:r>
              <a:rPr sz="1100" b="0">
                <a:solidFill>
                  <a:srgbClr val="6B7785"/>
                </a:solidFill>
                <a:latin typeface="Segoe UI"/>
              </a:rPr>
              <a:t>Databases created
by script</a:t>
            </a:r>
          </a:p>
        </p:txBody>
      </p:sp>
      <p:sp>
        <p:nvSpPr>
          <p:cNvPr id="10" name="Oval 9"/>
          <p:cNvSpPr/>
          <p:nvPr/>
        </p:nvSpPr>
        <p:spPr>
          <a:xfrm>
            <a:off x="2048255" y="3739896"/>
            <a:ext cx="566928" cy="566928"/>
          </a:xfrm>
          <a:prstGeom prst="ellipse">
            <a:avLst/>
          </a:prstGeom>
          <a:solidFill>
            <a:srgbClr val="1F4E7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2048255" y="3739896"/>
            <a:ext cx="566928" cy="566928"/>
          </a:xfrm>
          <a:prstGeom prst="rect">
            <a:avLst/>
          </a:prstGeom>
          <a:noFill/>
        </p:spPr>
        <p:txBody>
          <a:bodyPr wrap="square" lIns="0" tIns="0" rIns="0" bIns="0" anchor="ctr">
            <a:spAutoFit/>
          </a:bodyPr>
          <a:lstStyle/>
          <a:p>
            <a:pPr algn="ctr">
              <a:lnSpc>
                <a:spcPct val="100000"/>
              </a:lnSpc>
            </a:pPr>
            <a:r>
              <a:rPr sz="1600" b="0">
                <a:solidFill>
                  <a:srgbClr val="FFFFFF"/>
                </a:solidFill>
                <a:latin typeface="Segoe UI Semibold"/>
              </a:rPr>
              <a:t>2</a:t>
            </a:r>
          </a:p>
        </p:txBody>
      </p:sp>
      <p:sp>
        <p:nvSpPr>
          <p:cNvPr id="12" name="TextBox 11"/>
          <p:cNvSpPr txBox="1"/>
          <p:nvPr/>
        </p:nvSpPr>
        <p:spPr>
          <a:xfrm>
            <a:off x="1618487" y="4526280"/>
            <a:ext cx="1426464" cy="365760"/>
          </a:xfrm>
          <a:prstGeom prst="rect">
            <a:avLst/>
          </a:prstGeom>
          <a:noFill/>
        </p:spPr>
        <p:txBody>
          <a:bodyPr wrap="square" lIns="0" tIns="0" rIns="0" bIns="0" anchor="t">
            <a:spAutoFit/>
          </a:bodyPr>
          <a:lstStyle/>
          <a:p>
            <a:pPr algn="ctr">
              <a:lnSpc>
                <a:spcPct val="100000"/>
              </a:lnSpc>
            </a:pPr>
            <a:r>
              <a:rPr sz="1400" b="0">
                <a:solidFill>
                  <a:srgbClr val="1F4E79"/>
                </a:solidFill>
                <a:latin typeface="Segoe UI Semibold"/>
              </a:rPr>
              <a:t>Realistic data</a:t>
            </a:r>
          </a:p>
        </p:txBody>
      </p:sp>
      <p:sp>
        <p:nvSpPr>
          <p:cNvPr id="13" name="TextBox 12"/>
          <p:cNvSpPr txBox="1"/>
          <p:nvPr/>
        </p:nvSpPr>
        <p:spPr>
          <a:xfrm>
            <a:off x="1618487" y="4910328"/>
            <a:ext cx="1426464" cy="731520"/>
          </a:xfrm>
          <a:prstGeom prst="rect">
            <a:avLst/>
          </a:prstGeom>
          <a:noFill/>
        </p:spPr>
        <p:txBody>
          <a:bodyPr wrap="square" lIns="0" tIns="0" rIns="0" bIns="0" anchor="t">
            <a:spAutoFit/>
          </a:bodyPr>
          <a:lstStyle/>
          <a:p>
            <a:pPr algn="ctr">
              <a:lnSpc>
                <a:spcPct val="100000"/>
              </a:lnSpc>
            </a:pPr>
            <a:r>
              <a:rPr sz="1100" b="0">
                <a:solidFill>
                  <a:srgbClr val="6B7785"/>
                </a:solidFill>
                <a:latin typeface="Segoe UI"/>
              </a:rPr>
              <a:t>3 formats, issues
planted on purpose</a:t>
            </a:r>
          </a:p>
        </p:txBody>
      </p:sp>
      <p:sp>
        <p:nvSpPr>
          <p:cNvPr id="14" name="Oval 13"/>
          <p:cNvSpPr/>
          <p:nvPr/>
        </p:nvSpPr>
        <p:spPr>
          <a:xfrm>
            <a:off x="3282696" y="3739896"/>
            <a:ext cx="566928" cy="566928"/>
          </a:xfrm>
          <a:prstGeom prst="ellipse">
            <a:avLst/>
          </a:prstGeom>
          <a:solidFill>
            <a:srgbClr val="1F4E7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3282696" y="3739896"/>
            <a:ext cx="566928" cy="566928"/>
          </a:xfrm>
          <a:prstGeom prst="rect">
            <a:avLst/>
          </a:prstGeom>
          <a:noFill/>
        </p:spPr>
        <p:txBody>
          <a:bodyPr wrap="square" lIns="0" tIns="0" rIns="0" bIns="0" anchor="ctr">
            <a:spAutoFit/>
          </a:bodyPr>
          <a:lstStyle/>
          <a:p>
            <a:pPr algn="ctr">
              <a:lnSpc>
                <a:spcPct val="100000"/>
              </a:lnSpc>
            </a:pPr>
            <a:r>
              <a:rPr sz="1600" b="0">
                <a:solidFill>
                  <a:srgbClr val="FFFFFF"/>
                </a:solidFill>
                <a:latin typeface="Segoe UI Semibold"/>
              </a:rPr>
              <a:t>3</a:t>
            </a:r>
          </a:p>
        </p:txBody>
      </p:sp>
      <p:sp>
        <p:nvSpPr>
          <p:cNvPr id="16" name="TextBox 15"/>
          <p:cNvSpPr txBox="1"/>
          <p:nvPr/>
        </p:nvSpPr>
        <p:spPr>
          <a:xfrm>
            <a:off x="2852928" y="2194560"/>
            <a:ext cx="1426464" cy="365760"/>
          </a:xfrm>
          <a:prstGeom prst="rect">
            <a:avLst/>
          </a:prstGeom>
          <a:noFill/>
        </p:spPr>
        <p:txBody>
          <a:bodyPr wrap="square" lIns="0" tIns="0" rIns="0" bIns="0" anchor="t">
            <a:spAutoFit/>
          </a:bodyPr>
          <a:lstStyle/>
          <a:p>
            <a:pPr algn="ctr">
              <a:lnSpc>
                <a:spcPct val="100000"/>
              </a:lnSpc>
            </a:pPr>
            <a:r>
              <a:rPr sz="1400" b="0">
                <a:solidFill>
                  <a:srgbClr val="1F4E79"/>
                </a:solidFill>
                <a:latin typeface="Segoe UI Semibold"/>
              </a:rPr>
              <a:t>Ingestion</a:t>
            </a:r>
          </a:p>
        </p:txBody>
      </p:sp>
      <p:sp>
        <p:nvSpPr>
          <p:cNvPr id="17" name="TextBox 16"/>
          <p:cNvSpPr txBox="1"/>
          <p:nvPr/>
        </p:nvSpPr>
        <p:spPr>
          <a:xfrm>
            <a:off x="2852928" y="2578608"/>
            <a:ext cx="1426464" cy="731520"/>
          </a:xfrm>
          <a:prstGeom prst="rect">
            <a:avLst/>
          </a:prstGeom>
          <a:noFill/>
        </p:spPr>
        <p:txBody>
          <a:bodyPr wrap="square" lIns="0" tIns="0" rIns="0" bIns="0" anchor="t">
            <a:spAutoFit/>
          </a:bodyPr>
          <a:lstStyle/>
          <a:p>
            <a:pPr algn="ctr">
              <a:lnSpc>
                <a:spcPct val="100000"/>
              </a:lnSpc>
            </a:pPr>
            <a:r>
              <a:rPr sz="1100" b="0">
                <a:solidFill>
                  <a:srgbClr val="6B7785"/>
                </a:solidFill>
                <a:latin typeface="Segoe UI"/>
              </a:rPr>
              <a:t>All sources in,
fully traceable</a:t>
            </a:r>
          </a:p>
        </p:txBody>
      </p:sp>
      <p:sp>
        <p:nvSpPr>
          <p:cNvPr id="18" name="Oval 17"/>
          <p:cNvSpPr/>
          <p:nvPr/>
        </p:nvSpPr>
        <p:spPr>
          <a:xfrm>
            <a:off x="4517136" y="3739896"/>
            <a:ext cx="566928" cy="566928"/>
          </a:xfrm>
          <a:prstGeom prst="ellipse">
            <a:avLst/>
          </a:prstGeom>
          <a:solidFill>
            <a:srgbClr val="1F4E7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4517136" y="3739896"/>
            <a:ext cx="566928" cy="566928"/>
          </a:xfrm>
          <a:prstGeom prst="rect">
            <a:avLst/>
          </a:prstGeom>
          <a:noFill/>
        </p:spPr>
        <p:txBody>
          <a:bodyPr wrap="square" lIns="0" tIns="0" rIns="0" bIns="0" anchor="ctr">
            <a:spAutoFit/>
          </a:bodyPr>
          <a:lstStyle/>
          <a:p>
            <a:pPr algn="ctr">
              <a:lnSpc>
                <a:spcPct val="100000"/>
              </a:lnSpc>
            </a:pPr>
            <a:r>
              <a:rPr sz="1600" b="0">
                <a:solidFill>
                  <a:srgbClr val="FFFFFF"/>
                </a:solidFill>
                <a:latin typeface="Segoe UI Semibold"/>
              </a:rPr>
              <a:t>4</a:t>
            </a:r>
          </a:p>
        </p:txBody>
      </p:sp>
      <p:sp>
        <p:nvSpPr>
          <p:cNvPr id="20" name="TextBox 19"/>
          <p:cNvSpPr txBox="1"/>
          <p:nvPr/>
        </p:nvSpPr>
        <p:spPr>
          <a:xfrm>
            <a:off x="4087368" y="4526280"/>
            <a:ext cx="1426464" cy="365760"/>
          </a:xfrm>
          <a:prstGeom prst="rect">
            <a:avLst/>
          </a:prstGeom>
          <a:noFill/>
        </p:spPr>
        <p:txBody>
          <a:bodyPr wrap="square" lIns="0" tIns="0" rIns="0" bIns="0" anchor="t">
            <a:spAutoFit/>
          </a:bodyPr>
          <a:lstStyle/>
          <a:p>
            <a:pPr algn="ctr">
              <a:lnSpc>
                <a:spcPct val="100000"/>
              </a:lnSpc>
            </a:pPr>
            <a:r>
              <a:rPr sz="1400" b="0">
                <a:solidFill>
                  <a:srgbClr val="1F4E79"/>
                </a:solidFill>
                <a:latin typeface="Segoe UI Semibold"/>
              </a:rPr>
              <a:t>Quality gate</a:t>
            </a:r>
          </a:p>
        </p:txBody>
      </p:sp>
      <p:sp>
        <p:nvSpPr>
          <p:cNvPr id="21" name="TextBox 20"/>
          <p:cNvSpPr txBox="1"/>
          <p:nvPr/>
        </p:nvSpPr>
        <p:spPr>
          <a:xfrm>
            <a:off x="4087368" y="4910328"/>
            <a:ext cx="1426464" cy="731520"/>
          </a:xfrm>
          <a:prstGeom prst="rect">
            <a:avLst/>
          </a:prstGeom>
          <a:noFill/>
        </p:spPr>
        <p:txBody>
          <a:bodyPr wrap="square" lIns="0" tIns="0" rIns="0" bIns="0" anchor="t">
            <a:spAutoFit/>
          </a:bodyPr>
          <a:lstStyle/>
          <a:p>
            <a:pPr algn="ctr">
              <a:lnSpc>
                <a:spcPct val="100000"/>
              </a:lnSpc>
            </a:pPr>
            <a:r>
              <a:rPr sz="1100" b="0">
                <a:solidFill>
                  <a:srgbClr val="6B7785"/>
                </a:solidFill>
                <a:latin typeface="Segoe UI"/>
              </a:rPr>
              <a:t>43 rules, every
problem logged</a:t>
            </a:r>
          </a:p>
        </p:txBody>
      </p:sp>
      <p:sp>
        <p:nvSpPr>
          <p:cNvPr id="22" name="Oval 21"/>
          <p:cNvSpPr/>
          <p:nvPr/>
        </p:nvSpPr>
        <p:spPr>
          <a:xfrm>
            <a:off x="5751576" y="3739896"/>
            <a:ext cx="566928" cy="566928"/>
          </a:xfrm>
          <a:prstGeom prst="ellipse">
            <a:avLst/>
          </a:prstGeom>
          <a:solidFill>
            <a:srgbClr val="1F4E7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5751576" y="3739896"/>
            <a:ext cx="566928" cy="566928"/>
          </a:xfrm>
          <a:prstGeom prst="rect">
            <a:avLst/>
          </a:prstGeom>
          <a:noFill/>
        </p:spPr>
        <p:txBody>
          <a:bodyPr wrap="square" lIns="0" tIns="0" rIns="0" bIns="0" anchor="ctr">
            <a:spAutoFit/>
          </a:bodyPr>
          <a:lstStyle/>
          <a:p>
            <a:pPr algn="ctr">
              <a:lnSpc>
                <a:spcPct val="100000"/>
              </a:lnSpc>
            </a:pPr>
            <a:r>
              <a:rPr sz="1600" b="0">
                <a:solidFill>
                  <a:srgbClr val="FFFFFF"/>
                </a:solidFill>
                <a:latin typeface="Segoe UI Semibold"/>
              </a:rPr>
              <a:t>5</a:t>
            </a:r>
          </a:p>
        </p:txBody>
      </p:sp>
      <p:sp>
        <p:nvSpPr>
          <p:cNvPr id="24" name="TextBox 23"/>
          <p:cNvSpPr txBox="1"/>
          <p:nvPr/>
        </p:nvSpPr>
        <p:spPr>
          <a:xfrm>
            <a:off x="5321808" y="2194560"/>
            <a:ext cx="1426464" cy="365760"/>
          </a:xfrm>
          <a:prstGeom prst="rect">
            <a:avLst/>
          </a:prstGeom>
          <a:noFill/>
        </p:spPr>
        <p:txBody>
          <a:bodyPr wrap="square" lIns="0" tIns="0" rIns="0" bIns="0" anchor="t">
            <a:spAutoFit/>
          </a:bodyPr>
          <a:lstStyle/>
          <a:p>
            <a:pPr algn="ctr">
              <a:lnSpc>
                <a:spcPct val="100000"/>
              </a:lnSpc>
            </a:pPr>
            <a:r>
              <a:rPr sz="1400" b="0">
                <a:solidFill>
                  <a:srgbClr val="1F4E79"/>
                </a:solidFill>
                <a:latin typeface="Segoe UI Semibold"/>
              </a:rPr>
              <a:t>Warehouse</a:t>
            </a:r>
          </a:p>
        </p:txBody>
      </p:sp>
      <p:sp>
        <p:nvSpPr>
          <p:cNvPr id="25" name="TextBox 24"/>
          <p:cNvSpPr txBox="1"/>
          <p:nvPr/>
        </p:nvSpPr>
        <p:spPr>
          <a:xfrm>
            <a:off x="5321808" y="2578608"/>
            <a:ext cx="1426464" cy="731520"/>
          </a:xfrm>
          <a:prstGeom prst="rect">
            <a:avLst/>
          </a:prstGeom>
          <a:noFill/>
        </p:spPr>
        <p:txBody>
          <a:bodyPr wrap="square" lIns="0" tIns="0" rIns="0" bIns="0" anchor="t">
            <a:spAutoFit/>
          </a:bodyPr>
          <a:lstStyle/>
          <a:p>
            <a:pPr algn="ctr">
              <a:lnSpc>
                <a:spcPct val="100000"/>
              </a:lnSpc>
            </a:pPr>
            <a:r>
              <a:rPr sz="1100" b="0">
                <a:solidFill>
                  <a:srgbClr val="6B7785"/>
                </a:solidFill>
                <a:latin typeface="Segoe UI"/>
              </a:rPr>
              <a:t>Built for fast
analysis</a:t>
            </a:r>
          </a:p>
        </p:txBody>
      </p:sp>
      <p:sp>
        <p:nvSpPr>
          <p:cNvPr id="26" name="Oval 25"/>
          <p:cNvSpPr/>
          <p:nvPr/>
        </p:nvSpPr>
        <p:spPr>
          <a:xfrm>
            <a:off x="6986016" y="3739896"/>
            <a:ext cx="566928" cy="566928"/>
          </a:xfrm>
          <a:prstGeom prst="ellipse">
            <a:avLst/>
          </a:prstGeom>
          <a:solidFill>
            <a:srgbClr val="1F4E7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TextBox 26"/>
          <p:cNvSpPr txBox="1"/>
          <p:nvPr/>
        </p:nvSpPr>
        <p:spPr>
          <a:xfrm>
            <a:off x="6986016" y="3739896"/>
            <a:ext cx="566928" cy="566928"/>
          </a:xfrm>
          <a:prstGeom prst="rect">
            <a:avLst/>
          </a:prstGeom>
          <a:noFill/>
        </p:spPr>
        <p:txBody>
          <a:bodyPr wrap="square" lIns="0" tIns="0" rIns="0" bIns="0" anchor="ctr">
            <a:spAutoFit/>
          </a:bodyPr>
          <a:lstStyle/>
          <a:p>
            <a:pPr algn="ctr">
              <a:lnSpc>
                <a:spcPct val="100000"/>
              </a:lnSpc>
            </a:pPr>
            <a:r>
              <a:rPr sz="1600" b="0">
                <a:solidFill>
                  <a:srgbClr val="FFFFFF"/>
                </a:solidFill>
                <a:latin typeface="Segoe UI Semibold"/>
              </a:rPr>
              <a:t>6</a:t>
            </a:r>
          </a:p>
        </p:txBody>
      </p:sp>
      <p:sp>
        <p:nvSpPr>
          <p:cNvPr id="28" name="TextBox 27"/>
          <p:cNvSpPr txBox="1"/>
          <p:nvPr/>
        </p:nvSpPr>
        <p:spPr>
          <a:xfrm>
            <a:off x="6556248" y="4526280"/>
            <a:ext cx="1426464" cy="365760"/>
          </a:xfrm>
          <a:prstGeom prst="rect">
            <a:avLst/>
          </a:prstGeom>
          <a:noFill/>
        </p:spPr>
        <p:txBody>
          <a:bodyPr wrap="square" lIns="0" tIns="0" rIns="0" bIns="0" anchor="t">
            <a:spAutoFit/>
          </a:bodyPr>
          <a:lstStyle/>
          <a:p>
            <a:pPr algn="ctr">
              <a:lnSpc>
                <a:spcPct val="100000"/>
              </a:lnSpc>
            </a:pPr>
            <a:r>
              <a:rPr sz="1400" b="0">
                <a:solidFill>
                  <a:srgbClr val="1F4E79"/>
                </a:solidFill>
                <a:latin typeface="Segoe UI Semibold"/>
              </a:rPr>
              <a:t>Business rules</a:t>
            </a:r>
          </a:p>
        </p:txBody>
      </p:sp>
      <p:sp>
        <p:nvSpPr>
          <p:cNvPr id="29" name="TextBox 28"/>
          <p:cNvSpPr txBox="1"/>
          <p:nvPr/>
        </p:nvSpPr>
        <p:spPr>
          <a:xfrm>
            <a:off x="6556248" y="4910328"/>
            <a:ext cx="1426464" cy="731520"/>
          </a:xfrm>
          <a:prstGeom prst="rect">
            <a:avLst/>
          </a:prstGeom>
          <a:noFill/>
        </p:spPr>
        <p:txBody>
          <a:bodyPr wrap="square" lIns="0" tIns="0" rIns="0" bIns="0" anchor="t">
            <a:spAutoFit/>
          </a:bodyPr>
          <a:lstStyle/>
          <a:p>
            <a:pPr algn="ctr">
              <a:lnSpc>
                <a:spcPct val="100000"/>
              </a:lnSpc>
            </a:pPr>
            <a:r>
              <a:rPr sz="1100" b="0">
                <a:solidFill>
                  <a:srgbClr val="6B7785"/>
                </a:solidFill>
                <a:latin typeface="Segoe UI"/>
              </a:rPr>
              <a:t>One definition
per measure</a:t>
            </a:r>
          </a:p>
        </p:txBody>
      </p:sp>
      <p:sp>
        <p:nvSpPr>
          <p:cNvPr id="30" name="Oval 29"/>
          <p:cNvSpPr/>
          <p:nvPr/>
        </p:nvSpPr>
        <p:spPr>
          <a:xfrm>
            <a:off x="8220456" y="3739896"/>
            <a:ext cx="566928" cy="566928"/>
          </a:xfrm>
          <a:prstGeom prst="ellipse">
            <a:avLst/>
          </a:prstGeom>
          <a:solidFill>
            <a:srgbClr val="1F4E7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TextBox 30"/>
          <p:cNvSpPr txBox="1"/>
          <p:nvPr/>
        </p:nvSpPr>
        <p:spPr>
          <a:xfrm>
            <a:off x="8220456" y="3739896"/>
            <a:ext cx="566928" cy="566928"/>
          </a:xfrm>
          <a:prstGeom prst="rect">
            <a:avLst/>
          </a:prstGeom>
          <a:noFill/>
        </p:spPr>
        <p:txBody>
          <a:bodyPr wrap="square" lIns="0" tIns="0" rIns="0" bIns="0" anchor="ctr">
            <a:spAutoFit/>
          </a:bodyPr>
          <a:lstStyle/>
          <a:p>
            <a:pPr algn="ctr">
              <a:lnSpc>
                <a:spcPct val="100000"/>
              </a:lnSpc>
            </a:pPr>
            <a:r>
              <a:rPr sz="1600" b="0">
                <a:solidFill>
                  <a:srgbClr val="FFFFFF"/>
                </a:solidFill>
                <a:latin typeface="Segoe UI Semibold"/>
              </a:rPr>
              <a:t>7</a:t>
            </a:r>
          </a:p>
        </p:txBody>
      </p:sp>
      <p:sp>
        <p:nvSpPr>
          <p:cNvPr id="32" name="TextBox 31"/>
          <p:cNvSpPr txBox="1"/>
          <p:nvPr/>
        </p:nvSpPr>
        <p:spPr>
          <a:xfrm>
            <a:off x="7790688" y="2194560"/>
            <a:ext cx="1426464" cy="365760"/>
          </a:xfrm>
          <a:prstGeom prst="rect">
            <a:avLst/>
          </a:prstGeom>
          <a:noFill/>
        </p:spPr>
        <p:txBody>
          <a:bodyPr wrap="square" lIns="0" tIns="0" rIns="0" bIns="0" anchor="t">
            <a:spAutoFit/>
          </a:bodyPr>
          <a:lstStyle/>
          <a:p>
            <a:pPr algn="ctr">
              <a:lnSpc>
                <a:spcPct val="100000"/>
              </a:lnSpc>
            </a:pPr>
            <a:r>
              <a:rPr sz="1400" b="0">
                <a:solidFill>
                  <a:srgbClr val="1F4E79"/>
                </a:solidFill>
                <a:latin typeface="Segoe UI Semibold"/>
              </a:rPr>
              <a:t>One-click run</a:t>
            </a:r>
          </a:p>
        </p:txBody>
      </p:sp>
      <p:sp>
        <p:nvSpPr>
          <p:cNvPr id="33" name="TextBox 32"/>
          <p:cNvSpPr txBox="1"/>
          <p:nvPr/>
        </p:nvSpPr>
        <p:spPr>
          <a:xfrm>
            <a:off x="7790688" y="2578608"/>
            <a:ext cx="1426464" cy="731520"/>
          </a:xfrm>
          <a:prstGeom prst="rect">
            <a:avLst/>
          </a:prstGeom>
          <a:noFill/>
        </p:spPr>
        <p:txBody>
          <a:bodyPr wrap="square" lIns="0" tIns="0" rIns="0" bIns="0" anchor="t">
            <a:spAutoFit/>
          </a:bodyPr>
          <a:lstStyle/>
          <a:p>
            <a:pPr algn="ctr">
              <a:lnSpc>
                <a:spcPct val="100000"/>
              </a:lnSpc>
            </a:pPr>
            <a:r>
              <a:rPr sz="1100" b="0">
                <a:solidFill>
                  <a:srgbClr val="6B7785"/>
                </a:solidFill>
                <a:latin typeface="Segoe UI"/>
              </a:rPr>
              <a:t>Whole pipeline
automated</a:t>
            </a:r>
          </a:p>
        </p:txBody>
      </p:sp>
      <p:sp>
        <p:nvSpPr>
          <p:cNvPr id="34" name="Oval 33"/>
          <p:cNvSpPr/>
          <p:nvPr/>
        </p:nvSpPr>
        <p:spPr>
          <a:xfrm>
            <a:off x="9454896" y="3739896"/>
            <a:ext cx="566928" cy="566928"/>
          </a:xfrm>
          <a:prstGeom prst="ellipse">
            <a:avLst/>
          </a:prstGeom>
          <a:solidFill>
            <a:srgbClr val="1F4E7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 name="TextBox 34"/>
          <p:cNvSpPr txBox="1"/>
          <p:nvPr/>
        </p:nvSpPr>
        <p:spPr>
          <a:xfrm>
            <a:off x="9454896" y="3739896"/>
            <a:ext cx="566928" cy="566928"/>
          </a:xfrm>
          <a:prstGeom prst="rect">
            <a:avLst/>
          </a:prstGeom>
          <a:noFill/>
        </p:spPr>
        <p:txBody>
          <a:bodyPr wrap="square" lIns="0" tIns="0" rIns="0" bIns="0" anchor="ctr">
            <a:spAutoFit/>
          </a:bodyPr>
          <a:lstStyle/>
          <a:p>
            <a:pPr algn="ctr">
              <a:lnSpc>
                <a:spcPct val="100000"/>
              </a:lnSpc>
            </a:pPr>
            <a:r>
              <a:rPr sz="1600" b="0">
                <a:solidFill>
                  <a:srgbClr val="FFFFFF"/>
                </a:solidFill>
                <a:latin typeface="Segoe UI Semibold"/>
              </a:rPr>
              <a:t>8</a:t>
            </a:r>
          </a:p>
        </p:txBody>
      </p:sp>
      <p:sp>
        <p:nvSpPr>
          <p:cNvPr id="36" name="TextBox 35"/>
          <p:cNvSpPr txBox="1"/>
          <p:nvPr/>
        </p:nvSpPr>
        <p:spPr>
          <a:xfrm>
            <a:off x="9025128" y="4526280"/>
            <a:ext cx="1426464" cy="365760"/>
          </a:xfrm>
          <a:prstGeom prst="rect">
            <a:avLst/>
          </a:prstGeom>
          <a:noFill/>
        </p:spPr>
        <p:txBody>
          <a:bodyPr wrap="square" lIns="0" tIns="0" rIns="0" bIns="0" anchor="t">
            <a:spAutoFit/>
          </a:bodyPr>
          <a:lstStyle/>
          <a:p>
            <a:pPr algn="ctr">
              <a:lnSpc>
                <a:spcPct val="100000"/>
              </a:lnSpc>
            </a:pPr>
            <a:r>
              <a:rPr sz="1400" b="0">
                <a:solidFill>
                  <a:srgbClr val="1F4E79"/>
                </a:solidFill>
                <a:latin typeface="Segoe UI Semibold"/>
              </a:rPr>
              <a:t>Dashboards</a:t>
            </a:r>
          </a:p>
        </p:txBody>
      </p:sp>
      <p:sp>
        <p:nvSpPr>
          <p:cNvPr id="37" name="TextBox 36"/>
          <p:cNvSpPr txBox="1"/>
          <p:nvPr/>
        </p:nvSpPr>
        <p:spPr>
          <a:xfrm>
            <a:off x="9025128" y="4910328"/>
            <a:ext cx="1426464" cy="731520"/>
          </a:xfrm>
          <a:prstGeom prst="rect">
            <a:avLst/>
          </a:prstGeom>
          <a:noFill/>
        </p:spPr>
        <p:txBody>
          <a:bodyPr wrap="square" lIns="0" tIns="0" rIns="0" bIns="0" anchor="t">
            <a:spAutoFit/>
          </a:bodyPr>
          <a:lstStyle/>
          <a:p>
            <a:pPr algn="ctr">
              <a:lnSpc>
                <a:spcPct val="100000"/>
              </a:lnSpc>
            </a:pPr>
            <a:r>
              <a:rPr sz="1100" b="0">
                <a:solidFill>
                  <a:srgbClr val="6B7785"/>
                </a:solidFill>
                <a:latin typeface="Segoe UI"/>
              </a:rPr>
              <a:t>8 dashboards
and a story</a:t>
            </a:r>
          </a:p>
        </p:txBody>
      </p:sp>
      <p:sp>
        <p:nvSpPr>
          <p:cNvPr id="38" name="Oval 37"/>
          <p:cNvSpPr/>
          <p:nvPr/>
        </p:nvSpPr>
        <p:spPr>
          <a:xfrm>
            <a:off x="10689336" y="3739896"/>
            <a:ext cx="566928" cy="566928"/>
          </a:xfrm>
          <a:prstGeom prst="ellipse">
            <a:avLst/>
          </a:prstGeom>
          <a:solidFill>
            <a:srgbClr val="F2A9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9" name="TextBox 38"/>
          <p:cNvSpPr txBox="1"/>
          <p:nvPr/>
        </p:nvSpPr>
        <p:spPr>
          <a:xfrm>
            <a:off x="10689336" y="3739896"/>
            <a:ext cx="566928" cy="566928"/>
          </a:xfrm>
          <a:prstGeom prst="rect">
            <a:avLst/>
          </a:prstGeom>
          <a:noFill/>
        </p:spPr>
        <p:txBody>
          <a:bodyPr wrap="square" lIns="0" tIns="0" rIns="0" bIns="0" anchor="ctr">
            <a:spAutoFit/>
          </a:bodyPr>
          <a:lstStyle/>
          <a:p>
            <a:pPr algn="ctr">
              <a:lnSpc>
                <a:spcPct val="100000"/>
              </a:lnSpc>
            </a:pPr>
            <a:r>
              <a:rPr sz="1600" b="0">
                <a:solidFill>
                  <a:srgbClr val="1F4E79"/>
                </a:solidFill>
                <a:latin typeface="Segoe UI Semibold"/>
              </a:rPr>
              <a:t>9</a:t>
            </a:r>
          </a:p>
        </p:txBody>
      </p:sp>
      <p:sp>
        <p:nvSpPr>
          <p:cNvPr id="40" name="TextBox 39"/>
          <p:cNvSpPr txBox="1"/>
          <p:nvPr/>
        </p:nvSpPr>
        <p:spPr>
          <a:xfrm>
            <a:off x="10259568" y="2194560"/>
            <a:ext cx="1426464" cy="365760"/>
          </a:xfrm>
          <a:prstGeom prst="rect">
            <a:avLst/>
          </a:prstGeom>
          <a:noFill/>
        </p:spPr>
        <p:txBody>
          <a:bodyPr wrap="square" lIns="0" tIns="0" rIns="0" bIns="0" anchor="t">
            <a:spAutoFit/>
          </a:bodyPr>
          <a:lstStyle/>
          <a:p>
            <a:pPr algn="ctr">
              <a:lnSpc>
                <a:spcPct val="100000"/>
              </a:lnSpc>
            </a:pPr>
            <a:r>
              <a:rPr sz="1400" b="0">
                <a:solidFill>
                  <a:srgbClr val="1F4E79"/>
                </a:solidFill>
                <a:latin typeface="Segoe UI Semibold"/>
              </a:rPr>
              <a:t>Tested &amp; shared</a:t>
            </a:r>
          </a:p>
        </p:txBody>
      </p:sp>
      <p:sp>
        <p:nvSpPr>
          <p:cNvPr id="41" name="TextBox 40"/>
          <p:cNvSpPr txBox="1"/>
          <p:nvPr/>
        </p:nvSpPr>
        <p:spPr>
          <a:xfrm>
            <a:off x="10259568" y="2578608"/>
            <a:ext cx="1426464" cy="731520"/>
          </a:xfrm>
          <a:prstGeom prst="rect">
            <a:avLst/>
          </a:prstGeom>
          <a:noFill/>
        </p:spPr>
        <p:txBody>
          <a:bodyPr wrap="square" lIns="0" tIns="0" rIns="0" bIns="0" anchor="t">
            <a:spAutoFit/>
          </a:bodyPr>
          <a:lstStyle/>
          <a:p>
            <a:pPr algn="ctr">
              <a:lnSpc>
                <a:spcPct val="100000"/>
              </a:lnSpc>
            </a:pPr>
            <a:r>
              <a:rPr sz="1100" b="0">
                <a:solidFill>
                  <a:srgbClr val="6B7785"/>
                </a:solidFill>
                <a:latin typeface="Segoe UI"/>
              </a:rPr>
              <a:t>108 checks, setup
on any PC</a:t>
            </a:r>
          </a:p>
        </p:txBody>
      </p:sp>
      <p:sp>
        <p:nvSpPr>
          <p:cNvPr id="42" name="TextBox 41"/>
          <p:cNvSpPr txBox="1"/>
          <p:nvPr/>
        </p:nvSpPr>
        <p:spPr>
          <a:xfrm>
            <a:off x="548640" y="6428232"/>
            <a:ext cx="5486400" cy="228600"/>
          </a:xfrm>
          <a:prstGeom prst="rect">
            <a:avLst/>
          </a:prstGeom>
          <a:noFill/>
        </p:spPr>
        <p:txBody>
          <a:bodyPr wrap="square" lIns="0" tIns="0" rIns="0" bIns="0" anchor="t">
            <a:spAutoFit/>
          </a:bodyPr>
          <a:lstStyle/>
          <a:p>
            <a:pPr algn="l">
              <a:lnSpc>
                <a:spcPct val="100000"/>
              </a:lnSpc>
            </a:pPr>
            <a:r>
              <a:rPr sz="1000" b="0">
                <a:solidFill>
                  <a:srgbClr val="6B7785"/>
                </a:solidFill>
                <a:latin typeface="Segoe UI"/>
              </a:rPr>
              <a:t>Cricket Analytics Platform</a:t>
            </a:r>
          </a:p>
        </p:txBody>
      </p:sp>
      <p:sp>
        <p:nvSpPr>
          <p:cNvPr id="43" name="TextBox 42"/>
          <p:cNvSpPr txBox="1"/>
          <p:nvPr/>
        </p:nvSpPr>
        <p:spPr>
          <a:xfrm>
            <a:off x="10725912" y="6428232"/>
            <a:ext cx="914400" cy="228600"/>
          </a:xfrm>
          <a:prstGeom prst="rect">
            <a:avLst/>
          </a:prstGeom>
          <a:noFill/>
        </p:spPr>
        <p:txBody>
          <a:bodyPr wrap="square" lIns="0" tIns="0" rIns="0" bIns="0" anchor="t">
            <a:spAutoFit/>
          </a:bodyPr>
          <a:lstStyle/>
          <a:p>
            <a:pPr algn="r">
              <a:lnSpc>
                <a:spcPct val="100000"/>
              </a:lnSpc>
            </a:pPr>
            <a:r>
              <a:rPr sz="1000" b="0">
                <a:solidFill>
                  <a:srgbClr val="6B7785"/>
                </a:solidFill>
                <a:latin typeface="Segoe UI"/>
              </a:rPr>
              <a:t>5</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EEF2F6"/>
        </a:solidFill>
        <a:effectLst/>
      </p:bgPr>
    </p:bg>
    <p:spTree>
      <p:nvGrpSpPr>
        <p:cNvPr id="1" name=""/>
        <p:cNvGrpSpPr/>
        <p:nvPr/>
      </p:nvGrpSpPr>
      <p:grpSpPr>
        <a:xfrm>
          <a:off x="0" y="0"/>
          <a:ext cx="0" cy="0"/>
          <a:chOff x="0" y="0"/>
          <a:chExt cx="0" cy="0"/>
        </a:xfrm>
      </p:grpSpPr>
      <p:sp>
        <p:nvSpPr>
          <p:cNvPr id="2" name="TextBox 1"/>
          <p:cNvSpPr txBox="1"/>
          <p:nvPr/>
        </p:nvSpPr>
        <p:spPr>
          <a:xfrm>
            <a:off x="548640" y="146304"/>
            <a:ext cx="10058400" cy="256032"/>
          </a:xfrm>
          <a:prstGeom prst="rect">
            <a:avLst/>
          </a:prstGeom>
          <a:noFill/>
        </p:spPr>
        <p:txBody>
          <a:bodyPr wrap="square" lIns="0" tIns="0" rIns="0" bIns="0" anchor="t">
            <a:spAutoFit/>
          </a:bodyPr>
          <a:lstStyle/>
          <a:p>
            <a:pPr algn="l">
              <a:lnSpc>
                <a:spcPct val="100000"/>
              </a:lnSpc>
            </a:pPr>
            <a:r>
              <a:rPr sz="1000" b="1">
                <a:solidFill>
                  <a:srgbClr val="F2A900"/>
                </a:solidFill>
                <a:latin typeface="Segoe UI"/>
              </a:rPr>
              <a:t>02  ·  SOLUTION ARCHITECTURE</a:t>
            </a:r>
            <a:r>
              <a:rPr sz="1000" b="0">
                <a:solidFill>
                  <a:srgbClr val="6B7785"/>
                </a:solidFill>
                <a:latin typeface="Segoe UI"/>
              </a:rPr>
              <a:t>     Brief §5</a:t>
            </a:r>
          </a:p>
        </p:txBody>
      </p:sp>
      <p:sp>
        <p:nvSpPr>
          <p:cNvPr id="3" name="TextBox 2"/>
          <p:cNvSpPr txBox="1"/>
          <p:nvPr/>
        </p:nvSpPr>
        <p:spPr>
          <a:xfrm>
            <a:off x="548640" y="411480"/>
            <a:ext cx="11064240" cy="640080"/>
          </a:xfrm>
          <a:prstGeom prst="rect">
            <a:avLst/>
          </a:prstGeom>
          <a:noFill/>
        </p:spPr>
        <p:txBody>
          <a:bodyPr wrap="square" lIns="0" tIns="0" rIns="0" bIns="0" anchor="t">
            <a:spAutoFit/>
          </a:bodyPr>
          <a:lstStyle/>
          <a:p>
            <a:pPr algn="l">
              <a:lnSpc>
                <a:spcPct val="100000"/>
              </a:lnSpc>
            </a:pPr>
            <a:r>
              <a:rPr sz="3200" b="0">
                <a:solidFill>
                  <a:srgbClr val="1F4E79"/>
                </a:solidFill>
                <a:latin typeface="Segoe UI Semibold"/>
              </a:rPr>
              <a:t>Architecture: medallion layers, metadata-driven</a:t>
            </a:r>
          </a:p>
        </p:txBody>
      </p:sp>
      <p:sp>
        <p:nvSpPr>
          <p:cNvPr id="4" name="TextBox 3"/>
          <p:cNvSpPr txBox="1"/>
          <p:nvPr/>
        </p:nvSpPr>
        <p:spPr>
          <a:xfrm>
            <a:off x="548640" y="1024128"/>
            <a:ext cx="11064240" cy="411480"/>
          </a:xfrm>
          <a:prstGeom prst="rect">
            <a:avLst/>
          </a:prstGeom>
          <a:noFill/>
        </p:spPr>
        <p:txBody>
          <a:bodyPr wrap="square" lIns="0" tIns="0" rIns="0" bIns="0" anchor="t">
            <a:spAutoFit/>
          </a:bodyPr>
          <a:lstStyle/>
          <a:p>
            <a:pPr algn="l">
              <a:lnSpc>
                <a:spcPct val="100000"/>
              </a:lnSpc>
            </a:pPr>
            <a:r>
              <a:rPr sz="1500" b="0">
                <a:solidFill>
                  <a:srgbClr val="6B7785"/>
                </a:solidFill>
                <a:latin typeface="Segoe UI"/>
              </a:rPr>
              <a:t>How data moves from source to dashboard on one PC</a:t>
            </a:r>
          </a:p>
        </p:txBody>
      </p:sp>
      <p:sp>
        <p:nvSpPr>
          <p:cNvPr id="5" name="Rounded Rectangle 4"/>
          <p:cNvSpPr/>
          <p:nvPr/>
        </p:nvSpPr>
        <p:spPr>
          <a:xfrm>
            <a:off x="2148840" y="1572768"/>
            <a:ext cx="7498079" cy="420624"/>
          </a:xfrm>
          <a:prstGeom prst="roundRect">
            <a:avLst>
              <a:gd name="adj" fmla="val 50000"/>
            </a:avLst>
          </a:prstGeom>
          <a:solidFill>
            <a:srgbClr val="FFFFFF"/>
          </a:solidFill>
          <a:ln w="15875">
            <a:solidFill>
              <a:srgbClr val="C3CBD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2148840" y="1572768"/>
            <a:ext cx="7498079" cy="420624"/>
          </a:xfrm>
          <a:prstGeom prst="rect">
            <a:avLst/>
          </a:prstGeom>
          <a:noFill/>
        </p:spPr>
        <p:txBody>
          <a:bodyPr wrap="square" lIns="0" tIns="0" rIns="0" bIns="0" anchor="ctr">
            <a:spAutoFit/>
          </a:bodyPr>
          <a:lstStyle/>
          <a:p>
            <a:pPr algn="ctr">
              <a:lnSpc>
                <a:spcPct val="100000"/>
              </a:lnSpc>
            </a:pPr>
            <a:r>
              <a:rPr sz="1100" b="1">
                <a:solidFill>
                  <a:srgbClr val="1F4E79"/>
                </a:solidFill>
                <a:latin typeface="Segoe UI"/>
              </a:rPr>
              <a:t>Orchestration  </a:t>
            </a:r>
            <a:r>
              <a:rPr sz="1100" b="0">
                <a:solidFill>
                  <a:srgbClr val="6B7785"/>
                </a:solidFill>
                <a:latin typeface="Segoe UI"/>
              </a:rPr>
              <a:t>00_orchestrator · Control Containers · one LoadRunId · stops on first error</a:t>
            </a:r>
          </a:p>
        </p:txBody>
      </p:sp>
      <p:sp>
        <p:nvSpPr>
          <p:cNvPr id="7" name="TextBox 6"/>
          <p:cNvSpPr txBox="1"/>
          <p:nvPr/>
        </p:nvSpPr>
        <p:spPr>
          <a:xfrm>
            <a:off x="548640" y="2194560"/>
            <a:ext cx="1371600" cy="274320"/>
          </a:xfrm>
          <a:prstGeom prst="rect">
            <a:avLst/>
          </a:prstGeom>
          <a:noFill/>
        </p:spPr>
        <p:txBody>
          <a:bodyPr wrap="square" lIns="0" tIns="0" rIns="0" bIns="0" anchor="t">
            <a:spAutoFit/>
          </a:bodyPr>
          <a:lstStyle/>
          <a:p>
            <a:pPr algn="ctr">
              <a:lnSpc>
                <a:spcPct val="100000"/>
              </a:lnSpc>
            </a:pPr>
            <a:r>
              <a:rPr sz="1000" b="1">
                <a:solidFill>
                  <a:srgbClr val="6B7785"/>
                </a:solidFill>
                <a:latin typeface="Segoe UI"/>
              </a:rPr>
              <a:t>SOURCES</a:t>
            </a:r>
          </a:p>
        </p:txBody>
      </p:sp>
      <p:sp>
        <p:nvSpPr>
          <p:cNvPr id="8" name="Oval 7"/>
          <p:cNvSpPr/>
          <p:nvPr/>
        </p:nvSpPr>
        <p:spPr>
          <a:xfrm>
            <a:off x="950976" y="2596896"/>
            <a:ext cx="566928" cy="566928"/>
          </a:xfrm>
          <a:prstGeom prst="ellipse">
            <a:avLst/>
          </a:prstGeom>
          <a:solidFill>
            <a:srgbClr val="1F4E7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Can 8"/>
          <p:cNvSpPr/>
          <p:nvPr/>
        </p:nvSpPr>
        <p:spPr>
          <a:xfrm>
            <a:off x="1109715" y="2732958"/>
            <a:ext cx="249448" cy="294802"/>
          </a:xfrm>
          <a:prstGeom prst="can">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548640" y="3191256"/>
            <a:ext cx="1371600" cy="274320"/>
          </a:xfrm>
          <a:prstGeom prst="rect">
            <a:avLst/>
          </a:prstGeom>
          <a:noFill/>
        </p:spPr>
        <p:txBody>
          <a:bodyPr wrap="square" lIns="0" tIns="0" rIns="0" bIns="0" anchor="t">
            <a:spAutoFit/>
          </a:bodyPr>
          <a:lstStyle/>
          <a:p>
            <a:pPr algn="ctr">
              <a:lnSpc>
                <a:spcPct val="100000"/>
              </a:lnSpc>
            </a:pPr>
            <a:r>
              <a:rPr sz="1000" b="0">
                <a:solidFill>
                  <a:srgbClr val="24323F"/>
                </a:solidFill>
                <a:latin typeface="Segoe UI"/>
              </a:rPr>
              <a:t>SQL Server</a:t>
            </a:r>
          </a:p>
        </p:txBody>
      </p:sp>
      <p:cxnSp>
        <p:nvCxnSpPr>
          <p:cNvPr id="11" name="Connector 10"/>
          <p:cNvCxnSpPr/>
          <p:nvPr/>
        </p:nvCxnSpPr>
        <p:spPr>
          <a:xfrm>
            <a:off x="1572768" y="2880360"/>
            <a:ext cx="694944" cy="1097279"/>
          </a:xfrm>
          <a:prstGeom prst="line">
            <a:avLst/>
          </a:prstGeom>
          <a:ln w="19050">
            <a:solidFill>
              <a:srgbClr val="C3CBD4"/>
            </a:solidFill>
            <a:tailEnd type="triangle" w="med" len="med"/>
          </a:ln>
        </p:spPr>
        <p:style>
          <a:lnRef idx="2">
            <a:schemeClr val="accent1"/>
          </a:lnRef>
          <a:fillRef idx="0">
            <a:schemeClr val="accent1"/>
          </a:fillRef>
          <a:effectRef idx="1">
            <a:schemeClr val="accent1"/>
          </a:effectRef>
          <a:fontRef idx="minor">
            <a:schemeClr val="tx1"/>
          </a:fontRef>
        </p:style>
      </p:cxnSp>
      <p:sp>
        <p:nvSpPr>
          <p:cNvPr id="12" name="Oval 11"/>
          <p:cNvSpPr/>
          <p:nvPr/>
        </p:nvSpPr>
        <p:spPr>
          <a:xfrm>
            <a:off x="950976" y="3557016"/>
            <a:ext cx="566928" cy="566928"/>
          </a:xfrm>
          <a:prstGeom prst="ellipse">
            <a:avLst/>
          </a:prstGeom>
          <a:solidFill>
            <a:srgbClr val="1F4E7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Folded Corner 12"/>
          <p:cNvSpPr/>
          <p:nvPr/>
        </p:nvSpPr>
        <p:spPr>
          <a:xfrm>
            <a:off x="1109715" y="3681740"/>
            <a:ext cx="249448" cy="317479"/>
          </a:xfrm>
          <a:prstGeom prst="foldedCorner">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1109715" y="3715755"/>
            <a:ext cx="249448" cy="249448"/>
          </a:xfrm>
          <a:prstGeom prst="rect">
            <a:avLst/>
          </a:prstGeom>
          <a:noFill/>
        </p:spPr>
        <p:txBody>
          <a:bodyPr wrap="square" lIns="0" tIns="0" rIns="0" bIns="0" anchor="ctr">
            <a:spAutoFit/>
          </a:bodyPr>
          <a:lstStyle/>
          <a:p>
            <a:pPr algn="ctr">
              <a:lnSpc>
                <a:spcPct val="100000"/>
              </a:lnSpc>
            </a:pPr>
            <a:r>
              <a:rPr sz="900" b="0">
                <a:solidFill>
                  <a:srgbClr val="1F4E79"/>
                </a:solidFill>
                <a:latin typeface="Segoe UI Semibold"/>
              </a:rPr>
              <a:t>{ }</a:t>
            </a:r>
          </a:p>
        </p:txBody>
      </p:sp>
      <p:sp>
        <p:nvSpPr>
          <p:cNvPr id="15" name="TextBox 14"/>
          <p:cNvSpPr txBox="1"/>
          <p:nvPr/>
        </p:nvSpPr>
        <p:spPr>
          <a:xfrm>
            <a:off x="548640" y="4151376"/>
            <a:ext cx="1371600" cy="274320"/>
          </a:xfrm>
          <a:prstGeom prst="rect">
            <a:avLst/>
          </a:prstGeom>
          <a:noFill/>
        </p:spPr>
        <p:txBody>
          <a:bodyPr wrap="square" lIns="0" tIns="0" rIns="0" bIns="0" anchor="t">
            <a:spAutoFit/>
          </a:bodyPr>
          <a:lstStyle/>
          <a:p>
            <a:pPr algn="ctr">
              <a:lnSpc>
                <a:spcPct val="100000"/>
              </a:lnSpc>
            </a:pPr>
            <a:r>
              <a:rPr sz="1000" b="0">
                <a:solidFill>
                  <a:srgbClr val="24323F"/>
                </a:solidFill>
                <a:latin typeface="Segoe UI"/>
              </a:rPr>
              <a:t>JSON</a:t>
            </a:r>
          </a:p>
        </p:txBody>
      </p:sp>
      <p:cxnSp>
        <p:nvCxnSpPr>
          <p:cNvPr id="16" name="Connector 15"/>
          <p:cNvCxnSpPr/>
          <p:nvPr/>
        </p:nvCxnSpPr>
        <p:spPr>
          <a:xfrm>
            <a:off x="1572768" y="3840480"/>
            <a:ext cx="694944" cy="137159"/>
          </a:xfrm>
          <a:prstGeom prst="line">
            <a:avLst/>
          </a:prstGeom>
          <a:ln w="19050">
            <a:solidFill>
              <a:srgbClr val="C3CBD4"/>
            </a:solidFill>
            <a:tailEnd type="triangle" w="med" len="med"/>
          </a:ln>
        </p:spPr>
        <p:style>
          <a:lnRef idx="2">
            <a:schemeClr val="accent1"/>
          </a:lnRef>
          <a:fillRef idx="0">
            <a:schemeClr val="accent1"/>
          </a:fillRef>
          <a:effectRef idx="1">
            <a:schemeClr val="accent1"/>
          </a:effectRef>
          <a:fontRef idx="minor">
            <a:schemeClr val="tx1"/>
          </a:fontRef>
        </p:style>
      </p:cxnSp>
      <p:sp>
        <p:nvSpPr>
          <p:cNvPr id="17" name="Oval 16"/>
          <p:cNvSpPr/>
          <p:nvPr/>
        </p:nvSpPr>
        <p:spPr>
          <a:xfrm>
            <a:off x="950976" y="4517136"/>
            <a:ext cx="566928" cy="566928"/>
          </a:xfrm>
          <a:prstGeom prst="ellipse">
            <a:avLst/>
          </a:prstGeom>
          <a:solidFill>
            <a:srgbClr val="1F4E7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Folded Corner 17"/>
          <p:cNvSpPr/>
          <p:nvPr/>
        </p:nvSpPr>
        <p:spPr>
          <a:xfrm>
            <a:off x="1109715" y="4641860"/>
            <a:ext cx="249448" cy="317479"/>
          </a:xfrm>
          <a:prstGeom prst="foldedCorner">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Rectangle 18"/>
          <p:cNvSpPr/>
          <p:nvPr/>
        </p:nvSpPr>
        <p:spPr>
          <a:xfrm>
            <a:off x="1149400" y="4721230"/>
            <a:ext cx="73700" cy="45354"/>
          </a:xfrm>
          <a:prstGeom prst="rect">
            <a:avLst/>
          </a:prstGeom>
          <a:solidFill>
            <a:srgbClr val="1F4E7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Rectangle 19"/>
          <p:cNvSpPr/>
          <p:nvPr/>
        </p:nvSpPr>
        <p:spPr>
          <a:xfrm>
            <a:off x="1240109" y="4721230"/>
            <a:ext cx="73700" cy="45354"/>
          </a:xfrm>
          <a:prstGeom prst="rect">
            <a:avLst/>
          </a:prstGeom>
          <a:solidFill>
            <a:srgbClr val="1F4E7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Rectangle 20"/>
          <p:cNvSpPr/>
          <p:nvPr/>
        </p:nvSpPr>
        <p:spPr>
          <a:xfrm>
            <a:off x="1149400" y="4789261"/>
            <a:ext cx="73700" cy="45354"/>
          </a:xfrm>
          <a:prstGeom prst="rect">
            <a:avLst/>
          </a:prstGeom>
          <a:solidFill>
            <a:srgbClr val="1F4E7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Rectangle 21"/>
          <p:cNvSpPr/>
          <p:nvPr/>
        </p:nvSpPr>
        <p:spPr>
          <a:xfrm>
            <a:off x="1240109" y="4789261"/>
            <a:ext cx="73700" cy="45354"/>
          </a:xfrm>
          <a:prstGeom prst="rect">
            <a:avLst/>
          </a:prstGeom>
          <a:solidFill>
            <a:srgbClr val="1F4E7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Rectangle 22"/>
          <p:cNvSpPr/>
          <p:nvPr/>
        </p:nvSpPr>
        <p:spPr>
          <a:xfrm>
            <a:off x="1149400" y="4857292"/>
            <a:ext cx="73700" cy="45354"/>
          </a:xfrm>
          <a:prstGeom prst="rect">
            <a:avLst/>
          </a:prstGeom>
          <a:solidFill>
            <a:srgbClr val="1F4E7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Rectangle 23"/>
          <p:cNvSpPr/>
          <p:nvPr/>
        </p:nvSpPr>
        <p:spPr>
          <a:xfrm>
            <a:off x="1240109" y="4857292"/>
            <a:ext cx="73700" cy="45354"/>
          </a:xfrm>
          <a:prstGeom prst="rect">
            <a:avLst/>
          </a:prstGeom>
          <a:solidFill>
            <a:srgbClr val="1F4E7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TextBox 24"/>
          <p:cNvSpPr txBox="1"/>
          <p:nvPr/>
        </p:nvSpPr>
        <p:spPr>
          <a:xfrm>
            <a:off x="548640" y="5111496"/>
            <a:ext cx="1371600" cy="274320"/>
          </a:xfrm>
          <a:prstGeom prst="rect">
            <a:avLst/>
          </a:prstGeom>
          <a:noFill/>
        </p:spPr>
        <p:txBody>
          <a:bodyPr wrap="square" lIns="0" tIns="0" rIns="0" bIns="0" anchor="t">
            <a:spAutoFit/>
          </a:bodyPr>
          <a:lstStyle/>
          <a:p>
            <a:pPr algn="ctr">
              <a:lnSpc>
                <a:spcPct val="100000"/>
              </a:lnSpc>
            </a:pPr>
            <a:r>
              <a:rPr sz="1000" b="0">
                <a:solidFill>
                  <a:srgbClr val="24323F"/>
                </a:solidFill>
                <a:latin typeface="Segoe UI"/>
              </a:rPr>
              <a:t>CSV</a:t>
            </a:r>
          </a:p>
        </p:txBody>
      </p:sp>
      <p:cxnSp>
        <p:nvCxnSpPr>
          <p:cNvPr id="26" name="Connector 25"/>
          <p:cNvCxnSpPr/>
          <p:nvPr/>
        </p:nvCxnSpPr>
        <p:spPr>
          <a:xfrm flipV="1">
            <a:off x="1572768" y="3977639"/>
            <a:ext cx="694944" cy="822961"/>
          </a:xfrm>
          <a:prstGeom prst="line">
            <a:avLst/>
          </a:prstGeom>
          <a:ln w="19050">
            <a:solidFill>
              <a:srgbClr val="C3CBD4"/>
            </a:solidFill>
            <a:tailEnd type="triangle" w="med" len="med"/>
          </a:ln>
        </p:spPr>
        <p:style>
          <a:lnRef idx="2">
            <a:schemeClr val="accent1"/>
          </a:lnRef>
          <a:fillRef idx="0">
            <a:schemeClr val="accent1"/>
          </a:fillRef>
          <a:effectRef idx="1">
            <a:schemeClr val="accent1"/>
          </a:effectRef>
          <a:fontRef idx="minor">
            <a:schemeClr val="tx1"/>
          </a:fontRef>
        </p:style>
      </p:cxnSp>
      <p:sp>
        <p:nvSpPr>
          <p:cNvPr id="27" name="Rounded Rectangle 26"/>
          <p:cNvSpPr/>
          <p:nvPr/>
        </p:nvSpPr>
        <p:spPr>
          <a:xfrm>
            <a:off x="2148840" y="2148840"/>
            <a:ext cx="7498079" cy="3154680"/>
          </a:xfrm>
          <a:prstGeom prst="roundRect">
            <a:avLst>
              <a:gd name="adj" fmla="val 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TextBox 27"/>
          <p:cNvSpPr txBox="1"/>
          <p:nvPr/>
        </p:nvSpPr>
        <p:spPr>
          <a:xfrm>
            <a:off x="2331720" y="2212848"/>
            <a:ext cx="4572000" cy="274320"/>
          </a:xfrm>
          <a:prstGeom prst="rect">
            <a:avLst/>
          </a:prstGeom>
          <a:noFill/>
        </p:spPr>
        <p:txBody>
          <a:bodyPr wrap="square" lIns="0" tIns="0" rIns="0" bIns="0" anchor="t">
            <a:spAutoFit/>
          </a:bodyPr>
          <a:lstStyle/>
          <a:p>
            <a:pPr algn="l">
              <a:lnSpc>
                <a:spcPct val="100000"/>
              </a:lnSpc>
            </a:pPr>
            <a:r>
              <a:rPr sz="1000" b="1">
                <a:solidFill>
                  <a:srgbClr val="6B7785"/>
                </a:solidFill>
                <a:latin typeface="Segoe UI"/>
              </a:rPr>
              <a:t>SQL SERVER · CricketDW</a:t>
            </a:r>
          </a:p>
        </p:txBody>
      </p:sp>
      <p:sp>
        <p:nvSpPr>
          <p:cNvPr id="29" name="Rounded Rectangle 28"/>
          <p:cNvSpPr/>
          <p:nvPr/>
        </p:nvSpPr>
        <p:spPr>
          <a:xfrm>
            <a:off x="2286000" y="2542032"/>
            <a:ext cx="1645920" cy="438912"/>
          </a:xfrm>
          <a:prstGeom prst="roundRect">
            <a:avLst>
              <a:gd name="adj" fmla="val 20000"/>
            </a:avLst>
          </a:prstGeom>
          <a:solidFill>
            <a:srgbClr val="A9652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TextBox 29"/>
          <p:cNvSpPr txBox="1"/>
          <p:nvPr/>
        </p:nvSpPr>
        <p:spPr>
          <a:xfrm>
            <a:off x="2286000" y="2542032"/>
            <a:ext cx="1645920" cy="438912"/>
          </a:xfrm>
          <a:prstGeom prst="rect">
            <a:avLst/>
          </a:prstGeom>
          <a:noFill/>
        </p:spPr>
        <p:txBody>
          <a:bodyPr wrap="square" lIns="0" tIns="0" rIns="0" bIns="0" anchor="ctr">
            <a:spAutoFit/>
          </a:bodyPr>
          <a:lstStyle/>
          <a:p>
            <a:pPr algn="ctr">
              <a:lnSpc>
                <a:spcPct val="100000"/>
              </a:lnSpc>
            </a:pPr>
            <a:r>
              <a:rPr sz="1200" b="1">
                <a:solidFill>
                  <a:srgbClr val="FFFFFF"/>
                </a:solidFill>
                <a:latin typeface="Segoe UI"/>
              </a:rPr>
              <a:t>BRONZE</a:t>
            </a:r>
          </a:p>
        </p:txBody>
      </p:sp>
      <p:sp>
        <p:nvSpPr>
          <p:cNvPr id="31" name="Rounded Rectangle 30"/>
          <p:cNvSpPr/>
          <p:nvPr/>
        </p:nvSpPr>
        <p:spPr>
          <a:xfrm>
            <a:off x="2286000" y="3054096"/>
            <a:ext cx="1645920" cy="2103120"/>
          </a:xfrm>
          <a:prstGeom prst="roundRect">
            <a:avLst>
              <a:gd name="adj" fmla="val 6000"/>
            </a:avLst>
          </a:prstGeom>
          <a:solidFill>
            <a:srgbClr val="EEF2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TextBox 31"/>
          <p:cNvSpPr txBox="1"/>
          <p:nvPr/>
        </p:nvSpPr>
        <p:spPr>
          <a:xfrm>
            <a:off x="2395728" y="3163824"/>
            <a:ext cx="1426464" cy="320040"/>
          </a:xfrm>
          <a:prstGeom prst="rect">
            <a:avLst/>
          </a:prstGeom>
          <a:noFill/>
        </p:spPr>
        <p:txBody>
          <a:bodyPr wrap="square" lIns="0" tIns="0" rIns="0" bIns="0" anchor="t">
            <a:spAutoFit/>
          </a:bodyPr>
          <a:lstStyle/>
          <a:p>
            <a:pPr algn="l">
              <a:lnSpc>
                <a:spcPct val="100000"/>
              </a:lnSpc>
            </a:pPr>
            <a:r>
              <a:rPr sz="1200" b="0">
                <a:solidFill>
                  <a:srgbClr val="1F4E79"/>
                </a:solidFill>
                <a:latin typeface="Segoe UI Semibold"/>
              </a:rPr>
              <a:t>stg.*Raw</a:t>
            </a:r>
          </a:p>
        </p:txBody>
      </p:sp>
      <p:sp>
        <p:nvSpPr>
          <p:cNvPr id="33" name="TextBox 32"/>
          <p:cNvSpPr txBox="1"/>
          <p:nvPr/>
        </p:nvSpPr>
        <p:spPr>
          <a:xfrm>
            <a:off x="2395728" y="3529584"/>
            <a:ext cx="1426464" cy="731520"/>
          </a:xfrm>
          <a:prstGeom prst="rect">
            <a:avLst/>
          </a:prstGeom>
          <a:noFill/>
        </p:spPr>
        <p:txBody>
          <a:bodyPr wrap="square" lIns="0" tIns="0" rIns="0" bIns="0" anchor="t">
            <a:spAutoFit/>
          </a:bodyPr>
          <a:lstStyle/>
          <a:p>
            <a:pPr algn="l">
              <a:lnSpc>
                <a:spcPct val="100000"/>
              </a:lnSpc>
            </a:pPr>
            <a:r>
              <a:rPr sz="1000" b="0">
                <a:solidFill>
                  <a:srgbClr val="24323F"/>
                </a:solidFill>
                <a:latin typeface="Segoe UI"/>
              </a:rPr>
              <a:t>As received, with file,
hash and run ID</a:t>
            </a:r>
          </a:p>
        </p:txBody>
      </p:sp>
      <p:sp>
        <p:nvSpPr>
          <p:cNvPr id="34" name="Rounded Rectangle 33"/>
          <p:cNvSpPr/>
          <p:nvPr/>
        </p:nvSpPr>
        <p:spPr>
          <a:xfrm>
            <a:off x="2395728" y="4617720"/>
            <a:ext cx="1426464" cy="347472"/>
          </a:xfrm>
          <a:prstGeom prst="roundRect">
            <a:avLst>
              <a:gd name="adj" fmla="val 5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 name="TextBox 34"/>
          <p:cNvSpPr txBox="1"/>
          <p:nvPr/>
        </p:nvSpPr>
        <p:spPr>
          <a:xfrm>
            <a:off x="2395728" y="4617720"/>
            <a:ext cx="1426464" cy="347472"/>
          </a:xfrm>
          <a:prstGeom prst="rect">
            <a:avLst/>
          </a:prstGeom>
          <a:noFill/>
        </p:spPr>
        <p:txBody>
          <a:bodyPr wrap="square" lIns="0" tIns="0" rIns="0" bIns="0" anchor="ctr">
            <a:spAutoFit/>
          </a:bodyPr>
          <a:lstStyle/>
          <a:p>
            <a:pPr algn="ctr">
              <a:lnSpc>
                <a:spcPct val="100000"/>
              </a:lnSpc>
            </a:pPr>
            <a:r>
              <a:rPr sz="1000" b="1">
                <a:solidFill>
                  <a:srgbClr val="6B7785"/>
                </a:solidFill>
                <a:latin typeface="Segoe UI"/>
              </a:rPr>
              <a:t>Alteryx 01–03</a:t>
            </a:r>
          </a:p>
        </p:txBody>
      </p:sp>
      <p:cxnSp>
        <p:nvCxnSpPr>
          <p:cNvPr id="36" name="Connector 35"/>
          <p:cNvCxnSpPr/>
          <p:nvPr/>
        </p:nvCxnSpPr>
        <p:spPr>
          <a:xfrm>
            <a:off x="3931920" y="2761488"/>
            <a:ext cx="182880" cy="0"/>
          </a:xfrm>
          <a:prstGeom prst="line">
            <a:avLst/>
          </a:prstGeom>
          <a:ln w="19050">
            <a:solidFill>
              <a:srgbClr val="C3CBD4"/>
            </a:solidFill>
            <a:tailEnd type="triangle" w="med" len="med"/>
          </a:ln>
        </p:spPr>
        <p:style>
          <a:lnRef idx="2">
            <a:schemeClr val="accent1"/>
          </a:lnRef>
          <a:fillRef idx="0">
            <a:schemeClr val="accent1"/>
          </a:fillRef>
          <a:effectRef idx="1">
            <a:schemeClr val="accent1"/>
          </a:effectRef>
          <a:fontRef idx="minor">
            <a:schemeClr val="tx1"/>
          </a:fontRef>
        </p:style>
      </p:cxnSp>
      <p:sp>
        <p:nvSpPr>
          <p:cNvPr id="37" name="Rounded Rectangle 36"/>
          <p:cNvSpPr/>
          <p:nvPr/>
        </p:nvSpPr>
        <p:spPr>
          <a:xfrm>
            <a:off x="4114800" y="2542032"/>
            <a:ext cx="1645920" cy="438912"/>
          </a:xfrm>
          <a:prstGeom prst="roundRect">
            <a:avLst>
              <a:gd name="adj" fmla="val 20000"/>
            </a:avLst>
          </a:prstGeom>
          <a:solidFill>
            <a:srgbClr val="7C8A9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8" name="TextBox 37"/>
          <p:cNvSpPr txBox="1"/>
          <p:nvPr/>
        </p:nvSpPr>
        <p:spPr>
          <a:xfrm>
            <a:off x="4114800" y="2542032"/>
            <a:ext cx="1645920" cy="438912"/>
          </a:xfrm>
          <a:prstGeom prst="rect">
            <a:avLst/>
          </a:prstGeom>
          <a:noFill/>
        </p:spPr>
        <p:txBody>
          <a:bodyPr wrap="square" lIns="0" tIns="0" rIns="0" bIns="0" anchor="ctr">
            <a:spAutoFit/>
          </a:bodyPr>
          <a:lstStyle/>
          <a:p>
            <a:pPr algn="ctr">
              <a:lnSpc>
                <a:spcPct val="100000"/>
              </a:lnSpc>
            </a:pPr>
            <a:r>
              <a:rPr sz="1200" b="1">
                <a:solidFill>
                  <a:srgbClr val="FFFFFF"/>
                </a:solidFill>
                <a:latin typeface="Segoe UI"/>
              </a:rPr>
              <a:t>SILVER</a:t>
            </a:r>
          </a:p>
        </p:txBody>
      </p:sp>
      <p:sp>
        <p:nvSpPr>
          <p:cNvPr id="39" name="Rounded Rectangle 38"/>
          <p:cNvSpPr/>
          <p:nvPr/>
        </p:nvSpPr>
        <p:spPr>
          <a:xfrm>
            <a:off x="4114800" y="3054096"/>
            <a:ext cx="1645920" cy="2103120"/>
          </a:xfrm>
          <a:prstGeom prst="roundRect">
            <a:avLst>
              <a:gd name="adj" fmla="val 6000"/>
            </a:avLst>
          </a:prstGeom>
          <a:solidFill>
            <a:srgbClr val="EEF2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0" name="TextBox 39"/>
          <p:cNvSpPr txBox="1"/>
          <p:nvPr/>
        </p:nvSpPr>
        <p:spPr>
          <a:xfrm>
            <a:off x="4224528" y="3163824"/>
            <a:ext cx="1426464" cy="320040"/>
          </a:xfrm>
          <a:prstGeom prst="rect">
            <a:avLst/>
          </a:prstGeom>
          <a:noFill/>
        </p:spPr>
        <p:txBody>
          <a:bodyPr wrap="square" lIns="0" tIns="0" rIns="0" bIns="0" anchor="t">
            <a:spAutoFit/>
          </a:bodyPr>
          <a:lstStyle/>
          <a:p>
            <a:pPr algn="l">
              <a:lnSpc>
                <a:spcPct val="100000"/>
              </a:lnSpc>
            </a:pPr>
            <a:r>
              <a:rPr sz="1200" b="0">
                <a:solidFill>
                  <a:srgbClr val="1F4E79"/>
                </a:solidFill>
                <a:latin typeface="Segoe UI Semibold"/>
              </a:rPr>
              <a:t>stg.*Valid</a:t>
            </a:r>
          </a:p>
        </p:txBody>
      </p:sp>
      <p:sp>
        <p:nvSpPr>
          <p:cNvPr id="41" name="TextBox 40"/>
          <p:cNvSpPr txBox="1"/>
          <p:nvPr/>
        </p:nvSpPr>
        <p:spPr>
          <a:xfrm>
            <a:off x="4224528" y="3529584"/>
            <a:ext cx="1426464" cy="731520"/>
          </a:xfrm>
          <a:prstGeom prst="rect">
            <a:avLst/>
          </a:prstGeom>
          <a:noFill/>
        </p:spPr>
        <p:txBody>
          <a:bodyPr wrap="square" lIns="0" tIns="0" rIns="0" bIns="0" anchor="t">
            <a:spAutoFit/>
          </a:bodyPr>
          <a:lstStyle/>
          <a:p>
            <a:pPr algn="l">
              <a:lnSpc>
                <a:spcPct val="100000"/>
              </a:lnSpc>
            </a:pPr>
            <a:r>
              <a:rPr sz="1000" b="0">
                <a:solidFill>
                  <a:srgbClr val="24323F"/>
                </a:solidFill>
                <a:latin typeface="Segoe UI"/>
              </a:rPr>
              <a:t>Passed the rules;
typed, standardised</a:t>
            </a:r>
          </a:p>
        </p:txBody>
      </p:sp>
      <p:sp>
        <p:nvSpPr>
          <p:cNvPr id="42" name="Rounded Rectangle 41"/>
          <p:cNvSpPr/>
          <p:nvPr/>
        </p:nvSpPr>
        <p:spPr>
          <a:xfrm>
            <a:off x="4224528" y="4617720"/>
            <a:ext cx="1426464" cy="347472"/>
          </a:xfrm>
          <a:prstGeom prst="roundRect">
            <a:avLst>
              <a:gd name="adj" fmla="val 5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3" name="TextBox 42"/>
          <p:cNvSpPr txBox="1"/>
          <p:nvPr/>
        </p:nvSpPr>
        <p:spPr>
          <a:xfrm>
            <a:off x="4224528" y="4617720"/>
            <a:ext cx="1426464" cy="347472"/>
          </a:xfrm>
          <a:prstGeom prst="rect">
            <a:avLst/>
          </a:prstGeom>
          <a:noFill/>
        </p:spPr>
        <p:txBody>
          <a:bodyPr wrap="square" lIns="0" tIns="0" rIns="0" bIns="0" anchor="ctr">
            <a:spAutoFit/>
          </a:bodyPr>
          <a:lstStyle/>
          <a:p>
            <a:pPr algn="ctr">
              <a:lnSpc>
                <a:spcPct val="100000"/>
              </a:lnSpc>
            </a:pPr>
            <a:r>
              <a:rPr sz="1000" b="1">
                <a:solidFill>
                  <a:srgbClr val="6B7785"/>
                </a:solidFill>
                <a:latin typeface="Segoe UI"/>
              </a:rPr>
              <a:t>Alteryx 04 gate</a:t>
            </a:r>
          </a:p>
        </p:txBody>
      </p:sp>
      <p:cxnSp>
        <p:nvCxnSpPr>
          <p:cNvPr id="44" name="Connector 43"/>
          <p:cNvCxnSpPr/>
          <p:nvPr/>
        </p:nvCxnSpPr>
        <p:spPr>
          <a:xfrm>
            <a:off x="5760720" y="2761488"/>
            <a:ext cx="182880" cy="0"/>
          </a:xfrm>
          <a:prstGeom prst="line">
            <a:avLst/>
          </a:prstGeom>
          <a:ln w="19050">
            <a:solidFill>
              <a:srgbClr val="C3CBD4"/>
            </a:solidFill>
            <a:tailEnd type="triangle" w="med" len="med"/>
          </a:ln>
        </p:spPr>
        <p:style>
          <a:lnRef idx="2">
            <a:schemeClr val="accent1"/>
          </a:lnRef>
          <a:fillRef idx="0">
            <a:schemeClr val="accent1"/>
          </a:fillRef>
          <a:effectRef idx="1">
            <a:schemeClr val="accent1"/>
          </a:effectRef>
          <a:fontRef idx="minor">
            <a:schemeClr val="tx1"/>
          </a:fontRef>
        </p:style>
      </p:cxnSp>
      <p:sp>
        <p:nvSpPr>
          <p:cNvPr id="45" name="Rounded Rectangle 44"/>
          <p:cNvSpPr/>
          <p:nvPr/>
        </p:nvSpPr>
        <p:spPr>
          <a:xfrm>
            <a:off x="5943600" y="2542032"/>
            <a:ext cx="1645920" cy="438912"/>
          </a:xfrm>
          <a:prstGeom prst="roundRect">
            <a:avLst>
              <a:gd name="adj" fmla="val 20000"/>
            </a:avLst>
          </a:prstGeom>
          <a:solidFill>
            <a:srgbClr val="F2A9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6" name="TextBox 45"/>
          <p:cNvSpPr txBox="1"/>
          <p:nvPr/>
        </p:nvSpPr>
        <p:spPr>
          <a:xfrm>
            <a:off x="5943600" y="2542032"/>
            <a:ext cx="1645920" cy="438912"/>
          </a:xfrm>
          <a:prstGeom prst="rect">
            <a:avLst/>
          </a:prstGeom>
          <a:noFill/>
        </p:spPr>
        <p:txBody>
          <a:bodyPr wrap="square" lIns="0" tIns="0" rIns="0" bIns="0" anchor="ctr">
            <a:spAutoFit/>
          </a:bodyPr>
          <a:lstStyle/>
          <a:p>
            <a:pPr algn="ctr">
              <a:lnSpc>
                <a:spcPct val="100000"/>
              </a:lnSpc>
            </a:pPr>
            <a:r>
              <a:rPr sz="1200" b="1">
                <a:solidFill>
                  <a:srgbClr val="1F4E79"/>
                </a:solidFill>
                <a:latin typeface="Segoe UI"/>
              </a:rPr>
              <a:t>GOLD</a:t>
            </a:r>
          </a:p>
        </p:txBody>
      </p:sp>
      <p:sp>
        <p:nvSpPr>
          <p:cNvPr id="47" name="Rounded Rectangle 46"/>
          <p:cNvSpPr/>
          <p:nvPr/>
        </p:nvSpPr>
        <p:spPr>
          <a:xfrm>
            <a:off x="5943600" y="3054096"/>
            <a:ext cx="1645920" cy="2103120"/>
          </a:xfrm>
          <a:prstGeom prst="roundRect">
            <a:avLst>
              <a:gd name="adj" fmla="val 6000"/>
            </a:avLst>
          </a:prstGeom>
          <a:solidFill>
            <a:srgbClr val="EEF2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8" name="TextBox 47"/>
          <p:cNvSpPr txBox="1"/>
          <p:nvPr/>
        </p:nvSpPr>
        <p:spPr>
          <a:xfrm>
            <a:off x="6053328" y="3163824"/>
            <a:ext cx="1426464" cy="320040"/>
          </a:xfrm>
          <a:prstGeom prst="rect">
            <a:avLst/>
          </a:prstGeom>
          <a:noFill/>
        </p:spPr>
        <p:txBody>
          <a:bodyPr wrap="square" lIns="0" tIns="0" rIns="0" bIns="0" anchor="t">
            <a:spAutoFit/>
          </a:bodyPr>
          <a:lstStyle/>
          <a:p>
            <a:pPr algn="l">
              <a:lnSpc>
                <a:spcPct val="100000"/>
              </a:lnSpc>
            </a:pPr>
            <a:r>
              <a:rPr sz="1200" b="0">
                <a:solidFill>
                  <a:srgbClr val="1F4E79"/>
                </a:solidFill>
                <a:latin typeface="Segoe UI Semibold"/>
              </a:rPr>
              <a:t>dw star schema</a:t>
            </a:r>
          </a:p>
        </p:txBody>
      </p:sp>
      <p:sp>
        <p:nvSpPr>
          <p:cNvPr id="49" name="TextBox 48"/>
          <p:cNvSpPr txBox="1"/>
          <p:nvPr/>
        </p:nvSpPr>
        <p:spPr>
          <a:xfrm>
            <a:off x="6053328" y="3529584"/>
            <a:ext cx="1426464" cy="731520"/>
          </a:xfrm>
          <a:prstGeom prst="rect">
            <a:avLst/>
          </a:prstGeom>
          <a:noFill/>
        </p:spPr>
        <p:txBody>
          <a:bodyPr wrap="square" lIns="0" tIns="0" rIns="0" bIns="0" anchor="t">
            <a:spAutoFit/>
          </a:bodyPr>
          <a:lstStyle/>
          <a:p>
            <a:pPr algn="l">
              <a:lnSpc>
                <a:spcPct val="100000"/>
              </a:lnSpc>
            </a:pPr>
            <a:r>
              <a:rPr sz="1000" b="0">
                <a:solidFill>
                  <a:srgbClr val="24323F"/>
                </a:solidFill>
                <a:latin typeface="Segoe UI"/>
              </a:rPr>
              <a:t>Facts, dimensions,
Type-2 team history</a:t>
            </a:r>
          </a:p>
        </p:txBody>
      </p:sp>
      <p:sp>
        <p:nvSpPr>
          <p:cNvPr id="50" name="Rounded Rectangle 49"/>
          <p:cNvSpPr/>
          <p:nvPr/>
        </p:nvSpPr>
        <p:spPr>
          <a:xfrm>
            <a:off x="6053328" y="4617720"/>
            <a:ext cx="1426464" cy="347472"/>
          </a:xfrm>
          <a:prstGeom prst="roundRect">
            <a:avLst>
              <a:gd name="adj" fmla="val 5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1" name="TextBox 50"/>
          <p:cNvSpPr txBox="1"/>
          <p:nvPr/>
        </p:nvSpPr>
        <p:spPr>
          <a:xfrm>
            <a:off x="6053328" y="4617720"/>
            <a:ext cx="1426464" cy="347472"/>
          </a:xfrm>
          <a:prstGeom prst="rect">
            <a:avLst/>
          </a:prstGeom>
          <a:noFill/>
        </p:spPr>
        <p:txBody>
          <a:bodyPr wrap="square" lIns="0" tIns="0" rIns="0" bIns="0" anchor="ctr">
            <a:spAutoFit/>
          </a:bodyPr>
          <a:lstStyle/>
          <a:p>
            <a:pPr algn="ctr">
              <a:lnSpc>
                <a:spcPct val="100000"/>
              </a:lnSpc>
            </a:pPr>
            <a:r>
              <a:rPr sz="1000" b="1">
                <a:solidFill>
                  <a:srgbClr val="6B7785"/>
                </a:solidFill>
                <a:latin typeface="Segoe UI"/>
              </a:rPr>
              <a:t>Alteryx 05 publish</a:t>
            </a:r>
          </a:p>
        </p:txBody>
      </p:sp>
      <p:cxnSp>
        <p:nvCxnSpPr>
          <p:cNvPr id="52" name="Connector 51"/>
          <p:cNvCxnSpPr/>
          <p:nvPr/>
        </p:nvCxnSpPr>
        <p:spPr>
          <a:xfrm>
            <a:off x="7589520" y="2761488"/>
            <a:ext cx="182880" cy="0"/>
          </a:xfrm>
          <a:prstGeom prst="line">
            <a:avLst/>
          </a:prstGeom>
          <a:ln w="19050">
            <a:solidFill>
              <a:srgbClr val="C3CBD4"/>
            </a:solidFill>
            <a:tailEnd type="triangle" w="med" len="med"/>
          </a:ln>
        </p:spPr>
        <p:style>
          <a:lnRef idx="2">
            <a:schemeClr val="accent1"/>
          </a:lnRef>
          <a:fillRef idx="0">
            <a:schemeClr val="accent1"/>
          </a:fillRef>
          <a:effectRef idx="1">
            <a:schemeClr val="accent1"/>
          </a:effectRef>
          <a:fontRef idx="minor">
            <a:schemeClr val="tx1"/>
          </a:fontRef>
        </p:style>
      </p:cxnSp>
      <p:sp>
        <p:nvSpPr>
          <p:cNvPr id="53" name="Rounded Rectangle 52"/>
          <p:cNvSpPr/>
          <p:nvPr/>
        </p:nvSpPr>
        <p:spPr>
          <a:xfrm>
            <a:off x="7772400" y="2542032"/>
            <a:ext cx="1645920" cy="438912"/>
          </a:xfrm>
          <a:prstGeom prst="roundRect">
            <a:avLst>
              <a:gd name="adj" fmla="val 20000"/>
            </a:avLst>
          </a:prstGeom>
          <a:solidFill>
            <a:srgbClr val="1F4E7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4" name="TextBox 53"/>
          <p:cNvSpPr txBox="1"/>
          <p:nvPr/>
        </p:nvSpPr>
        <p:spPr>
          <a:xfrm>
            <a:off x="7772400" y="2542032"/>
            <a:ext cx="1645920" cy="438912"/>
          </a:xfrm>
          <a:prstGeom prst="rect">
            <a:avLst/>
          </a:prstGeom>
          <a:noFill/>
        </p:spPr>
        <p:txBody>
          <a:bodyPr wrap="square" lIns="0" tIns="0" rIns="0" bIns="0" anchor="ctr">
            <a:spAutoFit/>
          </a:bodyPr>
          <a:lstStyle/>
          <a:p>
            <a:pPr algn="ctr">
              <a:lnSpc>
                <a:spcPct val="100000"/>
              </a:lnSpc>
            </a:pPr>
            <a:r>
              <a:rPr sz="1200" b="1">
                <a:solidFill>
                  <a:srgbClr val="FFFFFF"/>
                </a:solidFill>
                <a:latin typeface="Segoe UI"/>
              </a:rPr>
              <a:t>SEMANTIC</a:t>
            </a:r>
          </a:p>
        </p:txBody>
      </p:sp>
      <p:sp>
        <p:nvSpPr>
          <p:cNvPr id="55" name="Rounded Rectangle 54"/>
          <p:cNvSpPr/>
          <p:nvPr/>
        </p:nvSpPr>
        <p:spPr>
          <a:xfrm>
            <a:off x="7772400" y="3054096"/>
            <a:ext cx="1645920" cy="2103120"/>
          </a:xfrm>
          <a:prstGeom prst="roundRect">
            <a:avLst>
              <a:gd name="adj" fmla="val 6000"/>
            </a:avLst>
          </a:prstGeom>
          <a:solidFill>
            <a:srgbClr val="EEF2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6" name="TextBox 55"/>
          <p:cNvSpPr txBox="1"/>
          <p:nvPr/>
        </p:nvSpPr>
        <p:spPr>
          <a:xfrm>
            <a:off x="7882127" y="3163824"/>
            <a:ext cx="1426464" cy="320040"/>
          </a:xfrm>
          <a:prstGeom prst="rect">
            <a:avLst/>
          </a:prstGeom>
          <a:noFill/>
        </p:spPr>
        <p:txBody>
          <a:bodyPr wrap="square" lIns="0" tIns="0" rIns="0" bIns="0" anchor="t">
            <a:spAutoFit/>
          </a:bodyPr>
          <a:lstStyle/>
          <a:p>
            <a:pPr algn="l">
              <a:lnSpc>
                <a:spcPct val="100000"/>
              </a:lnSpc>
            </a:pPr>
            <a:r>
              <a:rPr sz="1200" b="0">
                <a:solidFill>
                  <a:srgbClr val="1F4E79"/>
                </a:solidFill>
                <a:latin typeface="Segoe UI Semibold"/>
              </a:rPr>
              <a:t>rpt · 22 views</a:t>
            </a:r>
          </a:p>
        </p:txBody>
      </p:sp>
      <p:sp>
        <p:nvSpPr>
          <p:cNvPr id="57" name="TextBox 56"/>
          <p:cNvSpPr txBox="1"/>
          <p:nvPr/>
        </p:nvSpPr>
        <p:spPr>
          <a:xfrm>
            <a:off x="7882127" y="3529584"/>
            <a:ext cx="1426464" cy="731520"/>
          </a:xfrm>
          <a:prstGeom prst="rect">
            <a:avLst/>
          </a:prstGeom>
          <a:noFill/>
        </p:spPr>
        <p:txBody>
          <a:bodyPr wrap="square" lIns="0" tIns="0" rIns="0" bIns="0" anchor="t">
            <a:spAutoFit/>
          </a:bodyPr>
          <a:lstStyle/>
          <a:p>
            <a:pPr algn="l">
              <a:lnSpc>
                <a:spcPct val="100000"/>
              </a:lnSpc>
            </a:pPr>
            <a:r>
              <a:rPr sz="1000" b="0">
                <a:solidFill>
                  <a:srgbClr val="24323F"/>
                </a:solidFill>
                <a:latin typeface="Segoe UI"/>
              </a:rPr>
              <a:t>Business rules
defined once</a:t>
            </a:r>
          </a:p>
        </p:txBody>
      </p:sp>
      <p:sp>
        <p:nvSpPr>
          <p:cNvPr id="58" name="Rounded Rectangle 57"/>
          <p:cNvSpPr/>
          <p:nvPr/>
        </p:nvSpPr>
        <p:spPr>
          <a:xfrm>
            <a:off x="7882127" y="4617720"/>
            <a:ext cx="1426464" cy="347472"/>
          </a:xfrm>
          <a:prstGeom prst="roundRect">
            <a:avLst>
              <a:gd name="adj" fmla="val 5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9" name="TextBox 58"/>
          <p:cNvSpPr txBox="1"/>
          <p:nvPr/>
        </p:nvSpPr>
        <p:spPr>
          <a:xfrm>
            <a:off x="7882127" y="4617720"/>
            <a:ext cx="1426464" cy="347472"/>
          </a:xfrm>
          <a:prstGeom prst="rect">
            <a:avLst/>
          </a:prstGeom>
          <a:noFill/>
        </p:spPr>
        <p:txBody>
          <a:bodyPr wrap="square" lIns="0" tIns="0" rIns="0" bIns="0" anchor="ctr">
            <a:spAutoFit/>
          </a:bodyPr>
          <a:lstStyle/>
          <a:p>
            <a:pPr algn="ctr">
              <a:lnSpc>
                <a:spcPct val="100000"/>
              </a:lnSpc>
            </a:pPr>
            <a:r>
              <a:rPr sz="1000" b="1">
                <a:solidFill>
                  <a:srgbClr val="6B7785"/>
                </a:solidFill>
                <a:latin typeface="Segoe UI"/>
              </a:rPr>
              <a:t>SQL views</a:t>
            </a:r>
          </a:p>
        </p:txBody>
      </p:sp>
      <p:sp>
        <p:nvSpPr>
          <p:cNvPr id="60" name="Oval 59"/>
          <p:cNvSpPr/>
          <p:nvPr/>
        </p:nvSpPr>
        <p:spPr>
          <a:xfrm>
            <a:off x="10424160" y="2514600"/>
            <a:ext cx="640080" cy="640080"/>
          </a:xfrm>
          <a:prstGeom prst="ellipse">
            <a:avLst/>
          </a:prstGeom>
          <a:solidFill>
            <a:srgbClr val="1F4E7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1" name="Folded Corner 60"/>
          <p:cNvSpPr/>
          <p:nvPr/>
        </p:nvSpPr>
        <p:spPr>
          <a:xfrm>
            <a:off x="10616184" y="2661818"/>
            <a:ext cx="256031" cy="345643"/>
          </a:xfrm>
          <a:prstGeom prst="foldedCorner">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2" name="Rectangle 61"/>
          <p:cNvSpPr/>
          <p:nvPr/>
        </p:nvSpPr>
        <p:spPr>
          <a:xfrm>
            <a:off x="10660989" y="2757830"/>
            <a:ext cx="166420" cy="22402"/>
          </a:xfrm>
          <a:prstGeom prst="rect">
            <a:avLst/>
          </a:prstGeom>
          <a:solidFill>
            <a:srgbClr val="1F4E7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3" name="Rectangle 62"/>
          <p:cNvSpPr/>
          <p:nvPr/>
        </p:nvSpPr>
        <p:spPr>
          <a:xfrm>
            <a:off x="10660989" y="2828239"/>
            <a:ext cx="166420" cy="22402"/>
          </a:xfrm>
          <a:prstGeom prst="rect">
            <a:avLst/>
          </a:prstGeom>
          <a:solidFill>
            <a:srgbClr val="1F4E7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4" name="Rectangle 63"/>
          <p:cNvSpPr/>
          <p:nvPr/>
        </p:nvSpPr>
        <p:spPr>
          <a:xfrm>
            <a:off x="10660989" y="2898648"/>
            <a:ext cx="166420" cy="22402"/>
          </a:xfrm>
          <a:prstGeom prst="rect">
            <a:avLst/>
          </a:prstGeom>
          <a:solidFill>
            <a:srgbClr val="1F4E7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5" name="TextBox 64"/>
          <p:cNvSpPr txBox="1"/>
          <p:nvPr/>
        </p:nvSpPr>
        <p:spPr>
          <a:xfrm>
            <a:off x="9921240" y="3200400"/>
            <a:ext cx="1645920" cy="457200"/>
          </a:xfrm>
          <a:prstGeom prst="rect">
            <a:avLst/>
          </a:prstGeom>
          <a:noFill/>
        </p:spPr>
        <p:txBody>
          <a:bodyPr wrap="square" lIns="0" tIns="0" rIns="0" bIns="0" anchor="t">
            <a:spAutoFit/>
          </a:bodyPr>
          <a:lstStyle/>
          <a:p>
            <a:pPr algn="ctr">
              <a:lnSpc>
                <a:spcPct val="100000"/>
              </a:lnSpc>
            </a:pPr>
            <a:r>
              <a:rPr sz="1000" b="0">
                <a:solidFill>
                  <a:srgbClr val="24323F"/>
                </a:solidFill>
                <a:latin typeface="Segoe UI"/>
              </a:rPr>
              <a:t>.hyper extracts
04_Prepared</a:t>
            </a:r>
          </a:p>
        </p:txBody>
      </p:sp>
      <p:cxnSp>
        <p:nvCxnSpPr>
          <p:cNvPr id="66" name="Connector 65"/>
          <p:cNvCxnSpPr/>
          <p:nvPr/>
        </p:nvCxnSpPr>
        <p:spPr>
          <a:xfrm>
            <a:off x="9646920" y="2834640"/>
            <a:ext cx="740664" cy="0"/>
          </a:xfrm>
          <a:prstGeom prst="line">
            <a:avLst/>
          </a:prstGeom>
          <a:ln w="19050">
            <a:solidFill>
              <a:srgbClr val="C3CBD4"/>
            </a:solidFill>
            <a:tailEnd type="triangle" w="med" len="med"/>
          </a:ln>
        </p:spPr>
        <p:style>
          <a:lnRef idx="2">
            <a:schemeClr val="accent1"/>
          </a:lnRef>
          <a:fillRef idx="0">
            <a:schemeClr val="accent1"/>
          </a:fillRef>
          <a:effectRef idx="1">
            <a:schemeClr val="accent1"/>
          </a:effectRef>
          <a:fontRef idx="minor">
            <a:schemeClr val="tx1"/>
          </a:fontRef>
        </p:style>
      </p:cxnSp>
      <p:sp>
        <p:nvSpPr>
          <p:cNvPr id="67" name="TextBox 66"/>
          <p:cNvSpPr txBox="1"/>
          <p:nvPr/>
        </p:nvSpPr>
        <p:spPr>
          <a:xfrm>
            <a:off x="9601200" y="2514600"/>
            <a:ext cx="822960" cy="274320"/>
          </a:xfrm>
          <a:prstGeom prst="rect">
            <a:avLst/>
          </a:prstGeom>
          <a:noFill/>
        </p:spPr>
        <p:txBody>
          <a:bodyPr wrap="square" lIns="0" tIns="0" rIns="0" bIns="0" anchor="t">
            <a:spAutoFit/>
          </a:bodyPr>
          <a:lstStyle/>
          <a:p>
            <a:pPr algn="ctr">
              <a:lnSpc>
                <a:spcPct val="100000"/>
              </a:lnSpc>
            </a:pPr>
            <a:r>
              <a:rPr sz="1000" b="0">
                <a:solidFill>
                  <a:srgbClr val="6B7785"/>
                </a:solidFill>
                <a:latin typeface="Segoe UI"/>
              </a:rPr>
              <a:t>06 export</a:t>
            </a:r>
          </a:p>
        </p:txBody>
      </p:sp>
      <p:cxnSp>
        <p:nvCxnSpPr>
          <p:cNvPr id="68" name="Connector 67"/>
          <p:cNvCxnSpPr/>
          <p:nvPr/>
        </p:nvCxnSpPr>
        <p:spPr>
          <a:xfrm>
            <a:off x="10744200" y="3703320"/>
            <a:ext cx="0" cy="384048"/>
          </a:xfrm>
          <a:prstGeom prst="line">
            <a:avLst/>
          </a:prstGeom>
          <a:ln w="19050">
            <a:solidFill>
              <a:srgbClr val="C3CBD4"/>
            </a:solidFill>
            <a:tailEnd type="triangle" w="med" len="med"/>
          </a:ln>
        </p:spPr>
        <p:style>
          <a:lnRef idx="2">
            <a:schemeClr val="accent1"/>
          </a:lnRef>
          <a:fillRef idx="0">
            <a:schemeClr val="accent1"/>
          </a:fillRef>
          <a:effectRef idx="1">
            <a:schemeClr val="accent1"/>
          </a:effectRef>
          <a:fontRef idx="minor">
            <a:schemeClr val="tx1"/>
          </a:fontRef>
        </p:style>
      </p:cxnSp>
      <p:sp>
        <p:nvSpPr>
          <p:cNvPr id="69" name="Oval 68"/>
          <p:cNvSpPr/>
          <p:nvPr/>
        </p:nvSpPr>
        <p:spPr>
          <a:xfrm>
            <a:off x="10378440" y="4114800"/>
            <a:ext cx="731520" cy="731520"/>
          </a:xfrm>
          <a:prstGeom prst="ellipse">
            <a:avLst/>
          </a:prstGeom>
          <a:solidFill>
            <a:srgbClr val="F2A9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0" name="Plus 69"/>
          <p:cNvSpPr/>
          <p:nvPr/>
        </p:nvSpPr>
        <p:spPr>
          <a:xfrm>
            <a:off x="10612526" y="4348886"/>
            <a:ext cx="263347" cy="263347"/>
          </a:xfrm>
          <a:prstGeom prst="mathPlus">
            <a:avLst/>
          </a:prstGeom>
          <a:solidFill>
            <a:srgbClr val="1F4E7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1" name="Plus 70"/>
          <p:cNvSpPr/>
          <p:nvPr/>
        </p:nvSpPr>
        <p:spPr>
          <a:xfrm>
            <a:off x="10488168" y="4224528"/>
            <a:ext cx="131673" cy="131673"/>
          </a:xfrm>
          <a:prstGeom prst="mathPlus">
            <a:avLst/>
          </a:prstGeom>
          <a:solidFill>
            <a:srgbClr val="1F4E7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2" name="Plus 71"/>
          <p:cNvSpPr/>
          <p:nvPr/>
        </p:nvSpPr>
        <p:spPr>
          <a:xfrm>
            <a:off x="10868558" y="4224528"/>
            <a:ext cx="131673" cy="131673"/>
          </a:xfrm>
          <a:prstGeom prst="mathPlus">
            <a:avLst/>
          </a:prstGeom>
          <a:solidFill>
            <a:srgbClr val="1F4E7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3" name="Plus 72"/>
          <p:cNvSpPr/>
          <p:nvPr/>
        </p:nvSpPr>
        <p:spPr>
          <a:xfrm>
            <a:off x="10488168" y="4604918"/>
            <a:ext cx="131673" cy="131673"/>
          </a:xfrm>
          <a:prstGeom prst="mathPlus">
            <a:avLst/>
          </a:prstGeom>
          <a:solidFill>
            <a:srgbClr val="1F4E7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4" name="Plus 73"/>
          <p:cNvSpPr/>
          <p:nvPr/>
        </p:nvSpPr>
        <p:spPr>
          <a:xfrm>
            <a:off x="10868558" y="4604918"/>
            <a:ext cx="131673" cy="131673"/>
          </a:xfrm>
          <a:prstGeom prst="mathPlus">
            <a:avLst/>
          </a:prstGeom>
          <a:solidFill>
            <a:srgbClr val="1F4E7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5" name="TextBox 74"/>
          <p:cNvSpPr txBox="1"/>
          <p:nvPr/>
        </p:nvSpPr>
        <p:spPr>
          <a:xfrm>
            <a:off x="9921240" y="4892040"/>
            <a:ext cx="1645920" cy="457200"/>
          </a:xfrm>
          <a:prstGeom prst="rect">
            <a:avLst/>
          </a:prstGeom>
          <a:noFill/>
        </p:spPr>
        <p:txBody>
          <a:bodyPr wrap="square" lIns="0" tIns="0" rIns="0" bIns="0" anchor="t">
            <a:spAutoFit/>
          </a:bodyPr>
          <a:lstStyle/>
          <a:p>
            <a:pPr algn="ctr">
              <a:lnSpc>
                <a:spcPct val="100000"/>
              </a:lnSpc>
            </a:pPr>
            <a:r>
              <a:rPr sz="1000" b="0">
                <a:solidFill>
                  <a:srgbClr val="24323F"/>
                </a:solidFill>
                <a:latin typeface="Segoe UI"/>
              </a:rPr>
              <a:t>Tableau
8 dashboards</a:t>
            </a:r>
          </a:p>
        </p:txBody>
      </p:sp>
      <p:sp>
        <p:nvSpPr>
          <p:cNvPr id="76" name="Rounded Rectangle 75"/>
          <p:cNvSpPr/>
          <p:nvPr/>
        </p:nvSpPr>
        <p:spPr>
          <a:xfrm>
            <a:off x="548640" y="5486400"/>
            <a:ext cx="11064240" cy="713232"/>
          </a:xfrm>
          <a:prstGeom prst="roundRect">
            <a:avLst>
              <a:gd name="adj" fmla="val 6000"/>
            </a:avLst>
          </a:prstGeom>
          <a:solidFill>
            <a:srgbClr val="1F4E7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7" name="TextBox 76"/>
          <p:cNvSpPr txBox="1"/>
          <p:nvPr/>
        </p:nvSpPr>
        <p:spPr>
          <a:xfrm>
            <a:off x="731520" y="5486400"/>
            <a:ext cx="1554480" cy="713232"/>
          </a:xfrm>
          <a:prstGeom prst="rect">
            <a:avLst/>
          </a:prstGeom>
          <a:noFill/>
        </p:spPr>
        <p:txBody>
          <a:bodyPr wrap="square" lIns="0" tIns="0" rIns="0" bIns="0" anchor="ctr">
            <a:spAutoFit/>
          </a:bodyPr>
          <a:lstStyle/>
          <a:p>
            <a:pPr algn="l">
              <a:lnSpc>
                <a:spcPct val="100000"/>
              </a:lnSpc>
            </a:pPr>
            <a:r>
              <a:rPr sz="1100" b="1">
                <a:solidFill>
                  <a:srgbClr val="FFFFFF"/>
                </a:solidFill>
                <a:latin typeface="Segoe UI"/>
              </a:rPr>
              <a:t>Metadata &amp;
control plane</a:t>
            </a:r>
          </a:p>
        </p:txBody>
      </p:sp>
      <p:sp>
        <p:nvSpPr>
          <p:cNvPr id="78" name="Rounded Rectangle 77"/>
          <p:cNvSpPr/>
          <p:nvPr/>
        </p:nvSpPr>
        <p:spPr>
          <a:xfrm>
            <a:off x="2331720" y="5568696"/>
            <a:ext cx="1463040" cy="548640"/>
          </a:xfrm>
          <a:prstGeom prst="roundRect">
            <a:avLst>
              <a:gd name="adj" fmla="val 15000"/>
            </a:avLst>
          </a:prstGeom>
          <a:solidFill>
            <a:srgbClr val="17385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9" name="TextBox 78"/>
          <p:cNvSpPr txBox="1"/>
          <p:nvPr/>
        </p:nvSpPr>
        <p:spPr>
          <a:xfrm>
            <a:off x="2331720" y="5568696"/>
            <a:ext cx="1463040" cy="548640"/>
          </a:xfrm>
          <a:prstGeom prst="rect">
            <a:avLst/>
          </a:prstGeom>
          <a:noFill/>
        </p:spPr>
        <p:txBody>
          <a:bodyPr wrap="square" lIns="0" tIns="0" rIns="0" bIns="0" anchor="ctr">
            <a:spAutoFit/>
          </a:bodyPr>
          <a:lstStyle/>
          <a:p>
            <a:pPr algn="ctr">
              <a:lnSpc>
                <a:spcPct val="100000"/>
              </a:lnSpc>
            </a:pPr>
            <a:r>
              <a:rPr sz="900" b="0">
                <a:solidFill>
                  <a:srgbClr val="FFFFFF"/>
                </a:solidFill>
                <a:latin typeface="Segoe UI"/>
              </a:rPr>
              <a:t>config.DQRule
43 rules, 7 entities</a:t>
            </a:r>
          </a:p>
        </p:txBody>
      </p:sp>
      <p:sp>
        <p:nvSpPr>
          <p:cNvPr id="80" name="Rounded Rectangle 79"/>
          <p:cNvSpPr/>
          <p:nvPr/>
        </p:nvSpPr>
        <p:spPr>
          <a:xfrm>
            <a:off x="3877056" y="5568696"/>
            <a:ext cx="1463040" cy="548640"/>
          </a:xfrm>
          <a:prstGeom prst="roundRect">
            <a:avLst>
              <a:gd name="adj" fmla="val 15000"/>
            </a:avLst>
          </a:prstGeom>
          <a:solidFill>
            <a:srgbClr val="17385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1" name="TextBox 80"/>
          <p:cNvSpPr txBox="1"/>
          <p:nvPr/>
        </p:nvSpPr>
        <p:spPr>
          <a:xfrm>
            <a:off x="3877056" y="5568696"/>
            <a:ext cx="1463040" cy="548640"/>
          </a:xfrm>
          <a:prstGeom prst="rect">
            <a:avLst/>
          </a:prstGeom>
          <a:noFill/>
        </p:spPr>
        <p:txBody>
          <a:bodyPr wrap="square" lIns="0" tIns="0" rIns="0" bIns="0" anchor="ctr">
            <a:spAutoFit/>
          </a:bodyPr>
          <a:lstStyle/>
          <a:p>
            <a:pPr algn="ctr">
              <a:lnSpc>
                <a:spcPct val="100000"/>
              </a:lnSpc>
            </a:pPr>
            <a:r>
              <a:rPr sz="900" b="0">
                <a:solidFill>
                  <a:srgbClr val="FFFFFF"/>
                </a:solidFill>
                <a:latin typeface="Segoe UI"/>
              </a:rPr>
              <a:t>config.Parameter
folders, thresholds</a:t>
            </a:r>
          </a:p>
        </p:txBody>
      </p:sp>
      <p:sp>
        <p:nvSpPr>
          <p:cNvPr id="82" name="Rounded Rectangle 81"/>
          <p:cNvSpPr/>
          <p:nvPr/>
        </p:nvSpPr>
        <p:spPr>
          <a:xfrm>
            <a:off x="5422392" y="5568696"/>
            <a:ext cx="1463040" cy="548640"/>
          </a:xfrm>
          <a:prstGeom prst="roundRect">
            <a:avLst>
              <a:gd name="adj" fmla="val 15000"/>
            </a:avLst>
          </a:prstGeom>
          <a:solidFill>
            <a:srgbClr val="17385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3" name="TextBox 82"/>
          <p:cNvSpPr txBox="1"/>
          <p:nvPr/>
        </p:nvSpPr>
        <p:spPr>
          <a:xfrm>
            <a:off x="5422392" y="5568696"/>
            <a:ext cx="1463040" cy="548640"/>
          </a:xfrm>
          <a:prstGeom prst="rect">
            <a:avLst/>
          </a:prstGeom>
          <a:noFill/>
        </p:spPr>
        <p:txBody>
          <a:bodyPr wrap="square" lIns="0" tIns="0" rIns="0" bIns="0" anchor="ctr">
            <a:spAutoFit/>
          </a:bodyPr>
          <a:lstStyle/>
          <a:p>
            <a:pPr algn="ctr">
              <a:lnSpc>
                <a:spcPct val="100000"/>
              </a:lnSpc>
            </a:pPr>
            <a:r>
              <a:rPr sz="900" b="0">
                <a:solidFill>
                  <a:srgbClr val="FFFFFF"/>
                </a:solidFill>
                <a:latin typeface="Segoe UI"/>
              </a:rPr>
              <a:t>audit.FileControl
file hashes</a:t>
            </a:r>
          </a:p>
        </p:txBody>
      </p:sp>
      <p:sp>
        <p:nvSpPr>
          <p:cNvPr id="84" name="Rounded Rectangle 83"/>
          <p:cNvSpPr/>
          <p:nvPr/>
        </p:nvSpPr>
        <p:spPr>
          <a:xfrm>
            <a:off x="6967728" y="5568696"/>
            <a:ext cx="1463040" cy="548640"/>
          </a:xfrm>
          <a:prstGeom prst="roundRect">
            <a:avLst>
              <a:gd name="adj" fmla="val 15000"/>
            </a:avLst>
          </a:prstGeom>
          <a:solidFill>
            <a:srgbClr val="17385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5" name="TextBox 84"/>
          <p:cNvSpPr txBox="1"/>
          <p:nvPr/>
        </p:nvSpPr>
        <p:spPr>
          <a:xfrm>
            <a:off x="6967728" y="5568696"/>
            <a:ext cx="1463040" cy="548640"/>
          </a:xfrm>
          <a:prstGeom prst="rect">
            <a:avLst/>
          </a:prstGeom>
          <a:noFill/>
        </p:spPr>
        <p:txBody>
          <a:bodyPr wrap="square" lIns="0" tIns="0" rIns="0" bIns="0" anchor="ctr">
            <a:spAutoFit/>
          </a:bodyPr>
          <a:lstStyle/>
          <a:p>
            <a:pPr algn="ctr">
              <a:lnSpc>
                <a:spcPct val="100000"/>
              </a:lnSpc>
            </a:pPr>
            <a:r>
              <a:rPr sz="900" b="0">
                <a:solidFill>
                  <a:srgbClr val="FFFFFF"/>
                </a:solidFill>
                <a:latin typeface="Segoe UI"/>
              </a:rPr>
              <a:t>audit.DQException
every violation</a:t>
            </a:r>
          </a:p>
        </p:txBody>
      </p:sp>
      <p:sp>
        <p:nvSpPr>
          <p:cNvPr id="86" name="Rounded Rectangle 85"/>
          <p:cNvSpPr/>
          <p:nvPr/>
        </p:nvSpPr>
        <p:spPr>
          <a:xfrm>
            <a:off x="8513063" y="5568696"/>
            <a:ext cx="1463040" cy="548640"/>
          </a:xfrm>
          <a:prstGeom prst="roundRect">
            <a:avLst>
              <a:gd name="adj" fmla="val 15000"/>
            </a:avLst>
          </a:prstGeom>
          <a:solidFill>
            <a:srgbClr val="17385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7" name="TextBox 86"/>
          <p:cNvSpPr txBox="1"/>
          <p:nvPr/>
        </p:nvSpPr>
        <p:spPr>
          <a:xfrm>
            <a:off x="8513063" y="5568696"/>
            <a:ext cx="1463040" cy="548640"/>
          </a:xfrm>
          <a:prstGeom prst="rect">
            <a:avLst/>
          </a:prstGeom>
          <a:noFill/>
        </p:spPr>
        <p:txBody>
          <a:bodyPr wrap="square" lIns="0" tIns="0" rIns="0" bIns="0" anchor="ctr">
            <a:spAutoFit/>
          </a:bodyPr>
          <a:lstStyle/>
          <a:p>
            <a:pPr algn="ctr">
              <a:lnSpc>
                <a:spcPct val="100000"/>
              </a:lnSpc>
            </a:pPr>
            <a:r>
              <a:rPr sz="900" b="0">
                <a:solidFill>
                  <a:srgbClr val="FFFFFF"/>
                </a:solidFill>
                <a:latin typeface="Segoe UI"/>
              </a:rPr>
              <a:t>audit.ETLRunLog
every stage</a:t>
            </a:r>
          </a:p>
        </p:txBody>
      </p:sp>
      <p:sp>
        <p:nvSpPr>
          <p:cNvPr id="88" name="Rounded Rectangle 87"/>
          <p:cNvSpPr/>
          <p:nvPr/>
        </p:nvSpPr>
        <p:spPr>
          <a:xfrm>
            <a:off x="10058400" y="5568696"/>
            <a:ext cx="1463040" cy="548640"/>
          </a:xfrm>
          <a:prstGeom prst="roundRect">
            <a:avLst>
              <a:gd name="adj" fmla="val 15000"/>
            </a:avLst>
          </a:prstGeom>
          <a:solidFill>
            <a:srgbClr val="17385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9" name="TextBox 88"/>
          <p:cNvSpPr txBox="1"/>
          <p:nvPr/>
        </p:nvSpPr>
        <p:spPr>
          <a:xfrm>
            <a:off x="10058400" y="5568696"/>
            <a:ext cx="1463040" cy="548640"/>
          </a:xfrm>
          <a:prstGeom prst="rect">
            <a:avLst/>
          </a:prstGeom>
          <a:noFill/>
        </p:spPr>
        <p:txBody>
          <a:bodyPr wrap="square" lIns="0" tIns="0" rIns="0" bIns="0" anchor="ctr">
            <a:spAutoFit/>
          </a:bodyPr>
          <a:lstStyle/>
          <a:p>
            <a:pPr algn="ctr">
              <a:lnSpc>
                <a:spcPct val="100000"/>
              </a:lnSpc>
            </a:pPr>
            <a:r>
              <a:rPr sz="900" b="0">
                <a:solidFill>
                  <a:srgbClr val="FFFFFF"/>
                </a:solidFill>
                <a:latin typeface="Segoe UI"/>
              </a:rPr>
              <a:t>audit.DQRunScore
quality scores</a:t>
            </a:r>
          </a:p>
        </p:txBody>
      </p:sp>
      <p:sp>
        <p:nvSpPr>
          <p:cNvPr id="90" name="TextBox 89"/>
          <p:cNvSpPr txBox="1"/>
          <p:nvPr/>
        </p:nvSpPr>
        <p:spPr>
          <a:xfrm>
            <a:off x="548640" y="6428232"/>
            <a:ext cx="5486400" cy="228600"/>
          </a:xfrm>
          <a:prstGeom prst="rect">
            <a:avLst/>
          </a:prstGeom>
          <a:noFill/>
        </p:spPr>
        <p:txBody>
          <a:bodyPr wrap="square" lIns="0" tIns="0" rIns="0" bIns="0" anchor="t">
            <a:spAutoFit/>
          </a:bodyPr>
          <a:lstStyle/>
          <a:p>
            <a:pPr algn="l">
              <a:lnSpc>
                <a:spcPct val="100000"/>
              </a:lnSpc>
            </a:pPr>
            <a:r>
              <a:rPr sz="1000" b="0">
                <a:solidFill>
                  <a:srgbClr val="6B7785"/>
                </a:solidFill>
                <a:latin typeface="Segoe UI"/>
              </a:rPr>
              <a:t>Cricket Analytics Platform</a:t>
            </a:r>
          </a:p>
        </p:txBody>
      </p:sp>
      <p:sp>
        <p:nvSpPr>
          <p:cNvPr id="91" name="TextBox 90"/>
          <p:cNvSpPr txBox="1"/>
          <p:nvPr/>
        </p:nvSpPr>
        <p:spPr>
          <a:xfrm>
            <a:off x="10725912" y="6428232"/>
            <a:ext cx="914400" cy="228600"/>
          </a:xfrm>
          <a:prstGeom prst="rect">
            <a:avLst/>
          </a:prstGeom>
          <a:noFill/>
        </p:spPr>
        <p:txBody>
          <a:bodyPr wrap="square" lIns="0" tIns="0" rIns="0" bIns="0" anchor="t">
            <a:spAutoFit/>
          </a:bodyPr>
          <a:lstStyle/>
          <a:p>
            <a:pPr algn="r">
              <a:lnSpc>
                <a:spcPct val="100000"/>
              </a:lnSpc>
            </a:pPr>
            <a:r>
              <a:rPr sz="1000" b="0">
                <a:solidFill>
                  <a:srgbClr val="6B7785"/>
                </a:solidFill>
                <a:latin typeface="Segoe UI"/>
              </a:rPr>
              <a:t>6</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EEF2F6"/>
        </a:solidFill>
        <a:effectLst/>
      </p:bgPr>
    </p:bg>
    <p:spTree>
      <p:nvGrpSpPr>
        <p:cNvPr id="1" name=""/>
        <p:cNvGrpSpPr/>
        <p:nvPr/>
      </p:nvGrpSpPr>
      <p:grpSpPr>
        <a:xfrm>
          <a:off x="0" y="0"/>
          <a:ext cx="0" cy="0"/>
          <a:chOff x="0" y="0"/>
          <a:chExt cx="0" cy="0"/>
        </a:xfrm>
      </p:grpSpPr>
      <p:sp>
        <p:nvSpPr>
          <p:cNvPr id="2" name="TextBox 1"/>
          <p:cNvSpPr txBox="1"/>
          <p:nvPr/>
        </p:nvSpPr>
        <p:spPr>
          <a:xfrm>
            <a:off x="548640" y="146304"/>
            <a:ext cx="10058400" cy="256032"/>
          </a:xfrm>
          <a:prstGeom prst="rect">
            <a:avLst/>
          </a:prstGeom>
          <a:noFill/>
        </p:spPr>
        <p:txBody>
          <a:bodyPr wrap="square" lIns="0" tIns="0" rIns="0" bIns="0" anchor="t">
            <a:spAutoFit/>
          </a:bodyPr>
          <a:lstStyle/>
          <a:p>
            <a:pPr algn="l">
              <a:lnSpc>
                <a:spcPct val="100000"/>
              </a:lnSpc>
            </a:pPr>
            <a:r>
              <a:rPr sz="1000" b="1">
                <a:solidFill>
                  <a:srgbClr val="F2A900"/>
                </a:solidFill>
                <a:latin typeface="Segoe UI"/>
              </a:rPr>
              <a:t>03  ·  DATA FLOW</a:t>
            </a:r>
            <a:r>
              <a:rPr sz="1000" b="0">
                <a:solidFill>
                  <a:srgbClr val="6B7785"/>
                </a:solidFill>
                <a:latin typeface="Segoe UI"/>
              </a:rPr>
              <a:t>     Brief §5</a:t>
            </a:r>
          </a:p>
        </p:txBody>
      </p:sp>
      <p:sp>
        <p:nvSpPr>
          <p:cNvPr id="3" name="TextBox 2"/>
          <p:cNvSpPr txBox="1"/>
          <p:nvPr/>
        </p:nvSpPr>
        <p:spPr>
          <a:xfrm>
            <a:off x="548640" y="411480"/>
            <a:ext cx="11064240" cy="640080"/>
          </a:xfrm>
          <a:prstGeom prst="rect">
            <a:avLst/>
          </a:prstGeom>
          <a:noFill/>
        </p:spPr>
        <p:txBody>
          <a:bodyPr wrap="square" lIns="0" tIns="0" rIns="0" bIns="0" anchor="t">
            <a:spAutoFit/>
          </a:bodyPr>
          <a:lstStyle/>
          <a:p>
            <a:pPr algn="l">
              <a:lnSpc>
                <a:spcPct val="100000"/>
              </a:lnSpc>
            </a:pPr>
            <a:r>
              <a:rPr sz="3200" b="0">
                <a:solidFill>
                  <a:srgbClr val="1F4E79"/>
                </a:solidFill>
                <a:latin typeface="Segoe UI Semibold"/>
              </a:rPr>
              <a:t>From raw data to insight: the data journey</a:t>
            </a:r>
          </a:p>
        </p:txBody>
      </p:sp>
      <p:sp>
        <p:nvSpPr>
          <p:cNvPr id="4" name="TextBox 3"/>
          <p:cNvSpPr txBox="1"/>
          <p:nvPr/>
        </p:nvSpPr>
        <p:spPr>
          <a:xfrm>
            <a:off x="548640" y="1024128"/>
            <a:ext cx="11064240" cy="411480"/>
          </a:xfrm>
          <a:prstGeom prst="rect">
            <a:avLst/>
          </a:prstGeom>
          <a:noFill/>
        </p:spPr>
        <p:txBody>
          <a:bodyPr wrap="square" lIns="0" tIns="0" rIns="0" bIns="0" anchor="t">
            <a:spAutoFit/>
          </a:bodyPr>
          <a:lstStyle/>
          <a:p>
            <a:pPr algn="l">
              <a:lnSpc>
                <a:spcPct val="100000"/>
              </a:lnSpc>
            </a:pPr>
            <a:r>
              <a:rPr sz="1500" b="0">
                <a:solidFill>
                  <a:srgbClr val="6B7785"/>
                </a:solidFill>
                <a:latin typeface="Segoe UI"/>
              </a:rPr>
              <a:t>Seven processing steps between a raw file and a dashboard</a:t>
            </a:r>
          </a:p>
        </p:txBody>
      </p:sp>
      <p:sp>
        <p:nvSpPr>
          <p:cNvPr id="5" name="Rounded Rectangle 4"/>
          <p:cNvSpPr/>
          <p:nvPr/>
        </p:nvSpPr>
        <p:spPr>
          <a:xfrm>
            <a:off x="548640" y="1691640"/>
            <a:ext cx="1280160" cy="457200"/>
          </a:xfrm>
          <a:prstGeom prst="roundRect">
            <a:avLst>
              <a:gd name="adj" fmla="val 20000"/>
            </a:avLst>
          </a:prstGeom>
          <a:solidFill>
            <a:srgbClr val="C3CB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548640" y="1691640"/>
            <a:ext cx="1280160" cy="457200"/>
          </a:xfrm>
          <a:prstGeom prst="rect">
            <a:avLst/>
          </a:prstGeom>
          <a:noFill/>
        </p:spPr>
        <p:txBody>
          <a:bodyPr wrap="square" lIns="0" tIns="0" rIns="0" bIns="0" anchor="ctr">
            <a:spAutoFit/>
          </a:bodyPr>
          <a:lstStyle/>
          <a:p>
            <a:pPr algn="ctr">
              <a:lnSpc>
                <a:spcPct val="100000"/>
              </a:lnSpc>
            </a:pPr>
            <a:r>
              <a:rPr sz="1000" b="1">
                <a:solidFill>
                  <a:srgbClr val="1F4E79"/>
                </a:solidFill>
                <a:latin typeface="Segoe UI"/>
              </a:rPr>
              <a:t>SOURCES</a:t>
            </a:r>
          </a:p>
        </p:txBody>
      </p:sp>
      <p:sp>
        <p:nvSpPr>
          <p:cNvPr id="7" name="Rounded Rectangle 6"/>
          <p:cNvSpPr/>
          <p:nvPr/>
        </p:nvSpPr>
        <p:spPr>
          <a:xfrm>
            <a:off x="548640" y="2240280"/>
            <a:ext cx="1280160" cy="3017520"/>
          </a:xfrm>
          <a:prstGeom prst="roundRect">
            <a:avLst>
              <a:gd name="adj" fmla="val 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594360" y="2395728"/>
            <a:ext cx="1188720" cy="548640"/>
          </a:xfrm>
          <a:prstGeom prst="rect">
            <a:avLst/>
          </a:prstGeom>
          <a:noFill/>
        </p:spPr>
        <p:txBody>
          <a:bodyPr wrap="square" lIns="0" tIns="0" rIns="0" bIns="0" anchor="ctr">
            <a:spAutoFit/>
          </a:bodyPr>
          <a:lstStyle/>
          <a:p>
            <a:pPr algn="ctr">
              <a:lnSpc>
                <a:spcPct val="100000"/>
              </a:lnSpc>
            </a:pPr>
            <a:r>
              <a:rPr sz="2800" b="0">
                <a:solidFill>
                  <a:srgbClr val="1F4E79"/>
                </a:solidFill>
                <a:latin typeface="Segoe UI Semibold"/>
              </a:rPr>
              <a:t>129</a:t>
            </a:r>
          </a:p>
        </p:txBody>
      </p:sp>
      <p:sp>
        <p:nvSpPr>
          <p:cNvPr id="9" name="TextBox 8"/>
          <p:cNvSpPr txBox="1"/>
          <p:nvPr/>
        </p:nvSpPr>
        <p:spPr>
          <a:xfrm>
            <a:off x="594360" y="2944368"/>
            <a:ext cx="1188720" cy="274320"/>
          </a:xfrm>
          <a:prstGeom prst="rect">
            <a:avLst/>
          </a:prstGeom>
          <a:noFill/>
        </p:spPr>
        <p:txBody>
          <a:bodyPr wrap="square" lIns="0" tIns="0" rIns="0" bIns="0" anchor="t">
            <a:spAutoFit/>
          </a:bodyPr>
          <a:lstStyle/>
          <a:p>
            <a:pPr algn="ctr">
              <a:lnSpc>
                <a:spcPct val="100000"/>
              </a:lnSpc>
            </a:pPr>
            <a:r>
              <a:rPr sz="1000" b="1">
                <a:solidFill>
                  <a:srgbClr val="24323F"/>
                </a:solidFill>
                <a:latin typeface="Segoe UI"/>
              </a:rPr>
              <a:t>files received</a:t>
            </a:r>
          </a:p>
        </p:txBody>
      </p:sp>
      <p:sp>
        <p:nvSpPr>
          <p:cNvPr id="10" name="TextBox 9"/>
          <p:cNvSpPr txBox="1"/>
          <p:nvPr/>
        </p:nvSpPr>
        <p:spPr>
          <a:xfrm>
            <a:off x="621792" y="3383280"/>
            <a:ext cx="1133856" cy="1097280"/>
          </a:xfrm>
          <a:prstGeom prst="rect">
            <a:avLst/>
          </a:prstGeom>
          <a:noFill/>
        </p:spPr>
        <p:txBody>
          <a:bodyPr wrap="square" lIns="0" tIns="0" rIns="0" bIns="0" anchor="t">
            <a:spAutoFit/>
          </a:bodyPr>
          <a:lstStyle/>
          <a:p>
            <a:pPr algn="ctr">
              <a:lnSpc>
                <a:spcPct val="100000"/>
              </a:lnSpc>
            </a:pPr>
            <a:r>
              <a:rPr sz="1000" b="0">
                <a:solidFill>
                  <a:srgbClr val="6B7785"/>
                </a:solidFill>
                <a:latin typeface="Segoe UI"/>
              </a:rPr>
              <a:t>1 live database,
JSON and CSV feeds</a:t>
            </a:r>
          </a:p>
        </p:txBody>
      </p:sp>
      <p:sp>
        <p:nvSpPr>
          <p:cNvPr id="11" name="Rounded Rectangle 10"/>
          <p:cNvSpPr/>
          <p:nvPr/>
        </p:nvSpPr>
        <p:spPr>
          <a:xfrm>
            <a:off x="640080" y="4709160"/>
            <a:ext cx="1097280" cy="329184"/>
          </a:xfrm>
          <a:prstGeom prst="roundRect">
            <a:avLst>
              <a:gd name="adj" fmla="val 50000"/>
            </a:avLst>
          </a:prstGeom>
          <a:solidFill>
            <a:srgbClr val="EEF2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640080" y="4709160"/>
            <a:ext cx="1097280" cy="329184"/>
          </a:xfrm>
          <a:prstGeom prst="rect">
            <a:avLst/>
          </a:prstGeom>
          <a:noFill/>
        </p:spPr>
        <p:txBody>
          <a:bodyPr wrap="square" lIns="0" tIns="0" rIns="0" bIns="0" anchor="ctr">
            <a:spAutoFit/>
          </a:bodyPr>
          <a:lstStyle/>
          <a:p>
            <a:pPr algn="ctr">
              <a:lnSpc>
                <a:spcPct val="100000"/>
              </a:lnSpc>
            </a:pPr>
            <a:r>
              <a:rPr sz="900" b="1">
                <a:solidFill>
                  <a:srgbClr val="1F4E79"/>
                </a:solidFill>
                <a:latin typeface="Segoe UI"/>
              </a:rPr>
              <a:t>—</a:t>
            </a:r>
          </a:p>
        </p:txBody>
      </p:sp>
      <p:cxnSp>
        <p:nvCxnSpPr>
          <p:cNvPr id="13" name="Connector 12"/>
          <p:cNvCxnSpPr/>
          <p:nvPr/>
        </p:nvCxnSpPr>
        <p:spPr>
          <a:xfrm>
            <a:off x="1837943" y="1920240"/>
            <a:ext cx="100585" cy="0"/>
          </a:xfrm>
          <a:prstGeom prst="line">
            <a:avLst/>
          </a:prstGeom>
          <a:ln w="19050">
            <a:solidFill>
              <a:srgbClr val="C3CBD4"/>
            </a:solidFill>
            <a:tailEnd type="triangle" w="med" len="med"/>
          </a:ln>
        </p:spPr>
        <p:style>
          <a:lnRef idx="2">
            <a:schemeClr val="accent1"/>
          </a:lnRef>
          <a:fillRef idx="0">
            <a:schemeClr val="accent1"/>
          </a:fillRef>
          <a:effectRef idx="1">
            <a:schemeClr val="accent1"/>
          </a:effectRef>
          <a:fontRef idx="minor">
            <a:schemeClr val="tx1"/>
          </a:fontRef>
        </p:style>
      </p:cxnSp>
      <p:sp>
        <p:nvSpPr>
          <p:cNvPr id="14" name="Rounded Rectangle 13"/>
          <p:cNvSpPr/>
          <p:nvPr/>
        </p:nvSpPr>
        <p:spPr>
          <a:xfrm>
            <a:off x="1947672" y="1691640"/>
            <a:ext cx="1280160" cy="457200"/>
          </a:xfrm>
          <a:prstGeom prst="roundRect">
            <a:avLst>
              <a:gd name="adj" fmla="val 20000"/>
            </a:avLst>
          </a:prstGeom>
          <a:solidFill>
            <a:srgbClr val="A9652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1947672" y="1691640"/>
            <a:ext cx="1280160" cy="457200"/>
          </a:xfrm>
          <a:prstGeom prst="rect">
            <a:avLst/>
          </a:prstGeom>
          <a:noFill/>
        </p:spPr>
        <p:txBody>
          <a:bodyPr wrap="square" lIns="0" tIns="0" rIns="0" bIns="0" anchor="ctr">
            <a:spAutoFit/>
          </a:bodyPr>
          <a:lstStyle/>
          <a:p>
            <a:pPr algn="ctr">
              <a:lnSpc>
                <a:spcPct val="100000"/>
              </a:lnSpc>
            </a:pPr>
            <a:r>
              <a:rPr sz="1000" b="1">
                <a:solidFill>
                  <a:srgbClr val="FFFFFF"/>
                </a:solidFill>
                <a:latin typeface="Segoe UI"/>
              </a:rPr>
              <a:t>BRONZE</a:t>
            </a:r>
          </a:p>
        </p:txBody>
      </p:sp>
      <p:sp>
        <p:nvSpPr>
          <p:cNvPr id="16" name="Rounded Rectangle 15"/>
          <p:cNvSpPr/>
          <p:nvPr/>
        </p:nvSpPr>
        <p:spPr>
          <a:xfrm>
            <a:off x="1947672" y="2240280"/>
            <a:ext cx="1280160" cy="3017520"/>
          </a:xfrm>
          <a:prstGeom prst="roundRect">
            <a:avLst>
              <a:gd name="adj" fmla="val 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1993391" y="2395728"/>
            <a:ext cx="1188720" cy="548640"/>
          </a:xfrm>
          <a:prstGeom prst="rect">
            <a:avLst/>
          </a:prstGeom>
          <a:noFill/>
        </p:spPr>
        <p:txBody>
          <a:bodyPr wrap="square" lIns="0" tIns="0" rIns="0" bIns="0" anchor="ctr">
            <a:spAutoFit/>
          </a:bodyPr>
          <a:lstStyle/>
          <a:p>
            <a:pPr algn="ctr">
              <a:lnSpc>
                <a:spcPct val="100000"/>
              </a:lnSpc>
            </a:pPr>
            <a:r>
              <a:rPr sz="2200" b="0">
                <a:solidFill>
                  <a:srgbClr val="1F4E79"/>
                </a:solidFill>
                <a:latin typeface="Segoe UI Semibold"/>
              </a:rPr>
              <a:t>30,758</a:t>
            </a:r>
          </a:p>
        </p:txBody>
      </p:sp>
      <p:sp>
        <p:nvSpPr>
          <p:cNvPr id="18" name="TextBox 17"/>
          <p:cNvSpPr txBox="1"/>
          <p:nvPr/>
        </p:nvSpPr>
        <p:spPr>
          <a:xfrm>
            <a:off x="1993391" y="2944368"/>
            <a:ext cx="1188720" cy="274320"/>
          </a:xfrm>
          <a:prstGeom prst="rect">
            <a:avLst/>
          </a:prstGeom>
          <a:noFill/>
        </p:spPr>
        <p:txBody>
          <a:bodyPr wrap="square" lIns="0" tIns="0" rIns="0" bIns="0" anchor="t">
            <a:spAutoFit/>
          </a:bodyPr>
          <a:lstStyle/>
          <a:p>
            <a:pPr algn="ctr">
              <a:lnSpc>
                <a:spcPct val="100000"/>
              </a:lnSpc>
            </a:pPr>
            <a:r>
              <a:rPr sz="1000" b="1">
                <a:solidFill>
                  <a:srgbClr val="24323F"/>
                </a:solidFill>
                <a:latin typeface="Segoe UI"/>
              </a:rPr>
              <a:t>rows landed</a:t>
            </a:r>
          </a:p>
        </p:txBody>
      </p:sp>
      <p:sp>
        <p:nvSpPr>
          <p:cNvPr id="19" name="TextBox 18"/>
          <p:cNvSpPr txBox="1"/>
          <p:nvPr/>
        </p:nvSpPr>
        <p:spPr>
          <a:xfrm>
            <a:off x="2020824" y="3383280"/>
            <a:ext cx="1133856" cy="1097280"/>
          </a:xfrm>
          <a:prstGeom prst="rect">
            <a:avLst/>
          </a:prstGeom>
          <a:noFill/>
        </p:spPr>
        <p:txBody>
          <a:bodyPr wrap="square" lIns="0" tIns="0" rIns="0" bIns="0" anchor="t">
            <a:spAutoFit/>
          </a:bodyPr>
          <a:lstStyle/>
          <a:p>
            <a:pPr algn="ctr">
              <a:lnSpc>
                <a:spcPct val="100000"/>
              </a:lnSpc>
            </a:pPr>
            <a:r>
              <a:rPr sz="1000" b="0">
                <a:solidFill>
                  <a:srgbClr val="6B7785"/>
                </a:solidFill>
                <a:latin typeface="Segoe UI"/>
              </a:rPr>
              <a:t>8 tables · as received,
file + hash + run ID</a:t>
            </a:r>
          </a:p>
        </p:txBody>
      </p:sp>
      <p:sp>
        <p:nvSpPr>
          <p:cNvPr id="20" name="Rounded Rectangle 19"/>
          <p:cNvSpPr/>
          <p:nvPr/>
        </p:nvSpPr>
        <p:spPr>
          <a:xfrm>
            <a:off x="2039112" y="4709160"/>
            <a:ext cx="1097280" cy="329184"/>
          </a:xfrm>
          <a:prstGeom prst="roundRect">
            <a:avLst>
              <a:gd name="adj" fmla="val 50000"/>
            </a:avLst>
          </a:prstGeom>
          <a:solidFill>
            <a:srgbClr val="EEF2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2039112" y="4709160"/>
            <a:ext cx="1097280" cy="329184"/>
          </a:xfrm>
          <a:prstGeom prst="rect">
            <a:avLst/>
          </a:prstGeom>
          <a:noFill/>
        </p:spPr>
        <p:txBody>
          <a:bodyPr wrap="square" lIns="0" tIns="0" rIns="0" bIns="0" anchor="ctr">
            <a:spAutoFit/>
          </a:bodyPr>
          <a:lstStyle/>
          <a:p>
            <a:pPr algn="ctr">
              <a:lnSpc>
                <a:spcPct val="100000"/>
              </a:lnSpc>
            </a:pPr>
            <a:r>
              <a:rPr sz="900" b="1">
                <a:solidFill>
                  <a:srgbClr val="1F4E79"/>
                </a:solidFill>
                <a:latin typeface="Segoe UI"/>
              </a:rPr>
              <a:t>Alteryx 01–03</a:t>
            </a:r>
          </a:p>
        </p:txBody>
      </p:sp>
      <p:cxnSp>
        <p:nvCxnSpPr>
          <p:cNvPr id="22" name="Connector 21"/>
          <p:cNvCxnSpPr/>
          <p:nvPr/>
        </p:nvCxnSpPr>
        <p:spPr>
          <a:xfrm>
            <a:off x="3236976" y="1920240"/>
            <a:ext cx="100584" cy="0"/>
          </a:xfrm>
          <a:prstGeom prst="line">
            <a:avLst/>
          </a:prstGeom>
          <a:ln w="19050">
            <a:solidFill>
              <a:srgbClr val="C3CBD4"/>
            </a:solidFill>
            <a:tailEnd type="triangle" w="med" len="med"/>
          </a:ln>
        </p:spPr>
        <p:style>
          <a:lnRef idx="2">
            <a:schemeClr val="accent1"/>
          </a:lnRef>
          <a:fillRef idx="0">
            <a:schemeClr val="accent1"/>
          </a:fillRef>
          <a:effectRef idx="1">
            <a:schemeClr val="accent1"/>
          </a:effectRef>
          <a:fontRef idx="minor">
            <a:schemeClr val="tx1"/>
          </a:fontRef>
        </p:style>
      </p:cxnSp>
      <p:sp>
        <p:nvSpPr>
          <p:cNvPr id="23" name="Rounded Rectangle 22"/>
          <p:cNvSpPr/>
          <p:nvPr/>
        </p:nvSpPr>
        <p:spPr>
          <a:xfrm>
            <a:off x="3346704" y="1691640"/>
            <a:ext cx="1280160" cy="457200"/>
          </a:xfrm>
          <a:prstGeom prst="roundRect">
            <a:avLst>
              <a:gd name="adj" fmla="val 20000"/>
            </a:avLst>
          </a:prstGeom>
          <a:solidFill>
            <a:srgbClr val="7C8A9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TextBox 23"/>
          <p:cNvSpPr txBox="1"/>
          <p:nvPr/>
        </p:nvSpPr>
        <p:spPr>
          <a:xfrm>
            <a:off x="3346704" y="1691640"/>
            <a:ext cx="1280160" cy="457200"/>
          </a:xfrm>
          <a:prstGeom prst="rect">
            <a:avLst/>
          </a:prstGeom>
          <a:noFill/>
        </p:spPr>
        <p:txBody>
          <a:bodyPr wrap="square" lIns="0" tIns="0" rIns="0" bIns="0" anchor="ctr">
            <a:spAutoFit/>
          </a:bodyPr>
          <a:lstStyle/>
          <a:p>
            <a:pPr algn="ctr">
              <a:lnSpc>
                <a:spcPct val="100000"/>
              </a:lnSpc>
            </a:pPr>
            <a:r>
              <a:rPr sz="1000" b="1">
                <a:solidFill>
                  <a:srgbClr val="FFFFFF"/>
                </a:solidFill>
                <a:latin typeface="Segoe UI"/>
              </a:rPr>
              <a:t>SILVER</a:t>
            </a:r>
          </a:p>
        </p:txBody>
      </p:sp>
      <p:sp>
        <p:nvSpPr>
          <p:cNvPr id="25" name="Rounded Rectangle 24"/>
          <p:cNvSpPr/>
          <p:nvPr/>
        </p:nvSpPr>
        <p:spPr>
          <a:xfrm>
            <a:off x="3346704" y="2240280"/>
            <a:ext cx="1280160" cy="3017520"/>
          </a:xfrm>
          <a:prstGeom prst="roundRect">
            <a:avLst>
              <a:gd name="adj" fmla="val 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Box 25"/>
          <p:cNvSpPr txBox="1"/>
          <p:nvPr/>
        </p:nvSpPr>
        <p:spPr>
          <a:xfrm>
            <a:off x="3392424" y="2395728"/>
            <a:ext cx="1188720" cy="548640"/>
          </a:xfrm>
          <a:prstGeom prst="rect">
            <a:avLst/>
          </a:prstGeom>
          <a:noFill/>
        </p:spPr>
        <p:txBody>
          <a:bodyPr wrap="square" lIns="0" tIns="0" rIns="0" bIns="0" anchor="ctr">
            <a:spAutoFit/>
          </a:bodyPr>
          <a:lstStyle/>
          <a:p>
            <a:pPr algn="ctr">
              <a:lnSpc>
                <a:spcPct val="100000"/>
              </a:lnSpc>
            </a:pPr>
            <a:r>
              <a:rPr sz="2200" b="0">
                <a:solidFill>
                  <a:srgbClr val="1F4E79"/>
                </a:solidFill>
                <a:latin typeface="Segoe UI Semibold"/>
              </a:rPr>
              <a:t>29,724</a:t>
            </a:r>
          </a:p>
        </p:txBody>
      </p:sp>
      <p:sp>
        <p:nvSpPr>
          <p:cNvPr id="27" name="TextBox 26"/>
          <p:cNvSpPr txBox="1"/>
          <p:nvPr/>
        </p:nvSpPr>
        <p:spPr>
          <a:xfrm>
            <a:off x="3392424" y="2944368"/>
            <a:ext cx="1188720" cy="274320"/>
          </a:xfrm>
          <a:prstGeom prst="rect">
            <a:avLst/>
          </a:prstGeom>
          <a:noFill/>
        </p:spPr>
        <p:txBody>
          <a:bodyPr wrap="square" lIns="0" tIns="0" rIns="0" bIns="0" anchor="t">
            <a:spAutoFit/>
          </a:bodyPr>
          <a:lstStyle/>
          <a:p>
            <a:pPr algn="ctr">
              <a:lnSpc>
                <a:spcPct val="100000"/>
              </a:lnSpc>
            </a:pPr>
            <a:r>
              <a:rPr sz="1000" b="1">
                <a:solidFill>
                  <a:srgbClr val="24323F"/>
                </a:solidFill>
                <a:latin typeface="Segoe UI"/>
              </a:rPr>
              <a:t>rows passed</a:t>
            </a:r>
          </a:p>
        </p:txBody>
      </p:sp>
      <p:sp>
        <p:nvSpPr>
          <p:cNvPr id="28" name="TextBox 27"/>
          <p:cNvSpPr txBox="1"/>
          <p:nvPr/>
        </p:nvSpPr>
        <p:spPr>
          <a:xfrm>
            <a:off x="3419856" y="3383280"/>
            <a:ext cx="1133856" cy="1097280"/>
          </a:xfrm>
          <a:prstGeom prst="rect">
            <a:avLst/>
          </a:prstGeom>
          <a:noFill/>
        </p:spPr>
        <p:txBody>
          <a:bodyPr wrap="square" lIns="0" tIns="0" rIns="0" bIns="0" anchor="t">
            <a:spAutoFit/>
          </a:bodyPr>
          <a:lstStyle/>
          <a:p>
            <a:pPr algn="ctr">
              <a:lnSpc>
                <a:spcPct val="100000"/>
              </a:lnSpc>
            </a:pPr>
            <a:r>
              <a:rPr sz="1000" b="0">
                <a:solidFill>
                  <a:srgbClr val="6B7785"/>
                </a:solidFill>
                <a:latin typeface="Segoe UI"/>
              </a:rPr>
              <a:t>7 tables · 43 rules,
6 DQ dimensions</a:t>
            </a:r>
          </a:p>
        </p:txBody>
      </p:sp>
      <p:sp>
        <p:nvSpPr>
          <p:cNvPr id="29" name="Rounded Rectangle 28"/>
          <p:cNvSpPr/>
          <p:nvPr/>
        </p:nvSpPr>
        <p:spPr>
          <a:xfrm>
            <a:off x="3438144" y="4709160"/>
            <a:ext cx="1097280" cy="329184"/>
          </a:xfrm>
          <a:prstGeom prst="roundRect">
            <a:avLst>
              <a:gd name="adj" fmla="val 50000"/>
            </a:avLst>
          </a:prstGeom>
          <a:solidFill>
            <a:srgbClr val="EEF2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TextBox 29"/>
          <p:cNvSpPr txBox="1"/>
          <p:nvPr/>
        </p:nvSpPr>
        <p:spPr>
          <a:xfrm>
            <a:off x="3438144" y="4709160"/>
            <a:ext cx="1097280" cy="329184"/>
          </a:xfrm>
          <a:prstGeom prst="rect">
            <a:avLst/>
          </a:prstGeom>
          <a:noFill/>
        </p:spPr>
        <p:txBody>
          <a:bodyPr wrap="square" lIns="0" tIns="0" rIns="0" bIns="0" anchor="ctr">
            <a:spAutoFit/>
          </a:bodyPr>
          <a:lstStyle/>
          <a:p>
            <a:pPr algn="ctr">
              <a:lnSpc>
                <a:spcPct val="100000"/>
              </a:lnSpc>
            </a:pPr>
            <a:r>
              <a:rPr sz="900" b="1">
                <a:solidFill>
                  <a:srgbClr val="1F4E79"/>
                </a:solidFill>
                <a:latin typeface="Segoe UI"/>
              </a:rPr>
              <a:t>Alteryx 04</a:t>
            </a:r>
          </a:p>
        </p:txBody>
      </p:sp>
      <p:cxnSp>
        <p:nvCxnSpPr>
          <p:cNvPr id="31" name="Connector 30"/>
          <p:cNvCxnSpPr/>
          <p:nvPr/>
        </p:nvCxnSpPr>
        <p:spPr>
          <a:xfrm>
            <a:off x="4636008" y="1920240"/>
            <a:ext cx="100584" cy="0"/>
          </a:xfrm>
          <a:prstGeom prst="line">
            <a:avLst/>
          </a:prstGeom>
          <a:ln w="19050">
            <a:solidFill>
              <a:srgbClr val="C3CBD4"/>
            </a:solidFill>
            <a:tailEnd type="triangle" w="med" len="med"/>
          </a:ln>
        </p:spPr>
        <p:style>
          <a:lnRef idx="2">
            <a:schemeClr val="accent1"/>
          </a:lnRef>
          <a:fillRef idx="0">
            <a:schemeClr val="accent1"/>
          </a:fillRef>
          <a:effectRef idx="1">
            <a:schemeClr val="accent1"/>
          </a:effectRef>
          <a:fontRef idx="minor">
            <a:schemeClr val="tx1"/>
          </a:fontRef>
        </p:style>
      </p:cxnSp>
      <p:sp>
        <p:nvSpPr>
          <p:cNvPr id="32" name="Rounded Rectangle 31"/>
          <p:cNvSpPr/>
          <p:nvPr/>
        </p:nvSpPr>
        <p:spPr>
          <a:xfrm>
            <a:off x="4745736" y="1691640"/>
            <a:ext cx="1280160" cy="457200"/>
          </a:xfrm>
          <a:prstGeom prst="roundRect">
            <a:avLst>
              <a:gd name="adj" fmla="val 20000"/>
            </a:avLst>
          </a:prstGeom>
          <a:solidFill>
            <a:srgbClr val="4A90A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TextBox 32"/>
          <p:cNvSpPr txBox="1"/>
          <p:nvPr/>
        </p:nvSpPr>
        <p:spPr>
          <a:xfrm>
            <a:off x="4745736" y="1691640"/>
            <a:ext cx="1280160" cy="457200"/>
          </a:xfrm>
          <a:prstGeom prst="rect">
            <a:avLst/>
          </a:prstGeom>
          <a:noFill/>
        </p:spPr>
        <p:txBody>
          <a:bodyPr wrap="square" lIns="0" tIns="0" rIns="0" bIns="0" anchor="ctr">
            <a:spAutoFit/>
          </a:bodyPr>
          <a:lstStyle/>
          <a:p>
            <a:pPr algn="ctr">
              <a:lnSpc>
                <a:spcPct val="100000"/>
              </a:lnSpc>
            </a:pPr>
            <a:r>
              <a:rPr sz="1000" b="1">
                <a:solidFill>
                  <a:srgbClr val="FFFFFF"/>
                </a:solidFill>
                <a:latin typeface="Segoe UI"/>
              </a:rPr>
              <a:t>LOAD-READY</a:t>
            </a:r>
          </a:p>
        </p:txBody>
      </p:sp>
      <p:sp>
        <p:nvSpPr>
          <p:cNvPr id="34" name="Rounded Rectangle 33"/>
          <p:cNvSpPr/>
          <p:nvPr/>
        </p:nvSpPr>
        <p:spPr>
          <a:xfrm>
            <a:off x="4745736" y="2240280"/>
            <a:ext cx="1280160" cy="3017520"/>
          </a:xfrm>
          <a:prstGeom prst="roundRect">
            <a:avLst>
              <a:gd name="adj" fmla="val 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 name="TextBox 34"/>
          <p:cNvSpPr txBox="1"/>
          <p:nvPr/>
        </p:nvSpPr>
        <p:spPr>
          <a:xfrm>
            <a:off x="4791455" y="2395728"/>
            <a:ext cx="1188720" cy="548640"/>
          </a:xfrm>
          <a:prstGeom prst="rect">
            <a:avLst/>
          </a:prstGeom>
          <a:noFill/>
        </p:spPr>
        <p:txBody>
          <a:bodyPr wrap="square" lIns="0" tIns="0" rIns="0" bIns="0" anchor="ctr">
            <a:spAutoFit/>
          </a:bodyPr>
          <a:lstStyle/>
          <a:p>
            <a:pPr algn="ctr">
              <a:lnSpc>
                <a:spcPct val="100000"/>
              </a:lnSpc>
            </a:pPr>
            <a:r>
              <a:rPr sz="2800" b="0">
                <a:solidFill>
                  <a:srgbClr val="1F4E79"/>
                </a:solidFill>
                <a:latin typeface="Segoe UI Semibold"/>
              </a:rPr>
              <a:t>17</a:t>
            </a:r>
          </a:p>
        </p:txBody>
      </p:sp>
      <p:sp>
        <p:nvSpPr>
          <p:cNvPr id="36" name="TextBox 35"/>
          <p:cNvSpPr txBox="1"/>
          <p:nvPr/>
        </p:nvSpPr>
        <p:spPr>
          <a:xfrm>
            <a:off x="4791455" y="2944368"/>
            <a:ext cx="1188720" cy="274320"/>
          </a:xfrm>
          <a:prstGeom prst="rect">
            <a:avLst/>
          </a:prstGeom>
          <a:noFill/>
        </p:spPr>
        <p:txBody>
          <a:bodyPr wrap="square" lIns="0" tIns="0" rIns="0" bIns="0" anchor="t">
            <a:spAutoFit/>
          </a:bodyPr>
          <a:lstStyle/>
          <a:p>
            <a:pPr algn="ctr">
              <a:lnSpc>
                <a:spcPct val="100000"/>
              </a:lnSpc>
            </a:pPr>
            <a:r>
              <a:rPr sz="1000" b="1">
                <a:solidFill>
                  <a:srgbClr val="24323F"/>
                </a:solidFill>
                <a:latin typeface="Segoe UI"/>
              </a:rPr>
              <a:t>staged tables</a:t>
            </a:r>
          </a:p>
        </p:txBody>
      </p:sp>
      <p:sp>
        <p:nvSpPr>
          <p:cNvPr id="37" name="TextBox 36"/>
          <p:cNvSpPr txBox="1"/>
          <p:nvPr/>
        </p:nvSpPr>
        <p:spPr>
          <a:xfrm>
            <a:off x="4818888" y="3383280"/>
            <a:ext cx="1133856" cy="1097280"/>
          </a:xfrm>
          <a:prstGeom prst="rect">
            <a:avLst/>
          </a:prstGeom>
          <a:noFill/>
        </p:spPr>
        <p:txBody>
          <a:bodyPr wrap="square" lIns="0" tIns="0" rIns="0" bIns="0" anchor="t">
            <a:spAutoFit/>
          </a:bodyPr>
          <a:lstStyle/>
          <a:p>
            <a:pPr algn="ctr">
              <a:lnSpc>
                <a:spcPct val="100000"/>
              </a:lnSpc>
            </a:pPr>
            <a:r>
              <a:rPr sz="1000" b="0">
                <a:solidFill>
                  <a:srgbClr val="6B7785"/>
                </a:solidFill>
                <a:latin typeface="Segoe UI"/>
              </a:rPr>
              <a:t>Keys, Type-2 history,
derived ball facts</a:t>
            </a:r>
          </a:p>
        </p:txBody>
      </p:sp>
      <p:sp>
        <p:nvSpPr>
          <p:cNvPr id="38" name="Rounded Rectangle 37"/>
          <p:cNvSpPr/>
          <p:nvPr/>
        </p:nvSpPr>
        <p:spPr>
          <a:xfrm>
            <a:off x="4837175" y="4709160"/>
            <a:ext cx="1097280" cy="329184"/>
          </a:xfrm>
          <a:prstGeom prst="roundRect">
            <a:avLst>
              <a:gd name="adj" fmla="val 50000"/>
            </a:avLst>
          </a:prstGeom>
          <a:solidFill>
            <a:srgbClr val="EEF2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9" name="TextBox 38"/>
          <p:cNvSpPr txBox="1"/>
          <p:nvPr/>
        </p:nvSpPr>
        <p:spPr>
          <a:xfrm>
            <a:off x="4837175" y="4709160"/>
            <a:ext cx="1097280" cy="329184"/>
          </a:xfrm>
          <a:prstGeom prst="rect">
            <a:avLst/>
          </a:prstGeom>
          <a:noFill/>
        </p:spPr>
        <p:txBody>
          <a:bodyPr wrap="square" lIns="0" tIns="0" rIns="0" bIns="0" anchor="ctr">
            <a:spAutoFit/>
          </a:bodyPr>
          <a:lstStyle/>
          <a:p>
            <a:pPr algn="ctr">
              <a:lnSpc>
                <a:spcPct val="100000"/>
              </a:lnSpc>
            </a:pPr>
            <a:r>
              <a:rPr sz="900" b="1">
                <a:solidFill>
                  <a:srgbClr val="1F4E79"/>
                </a:solidFill>
                <a:latin typeface="Segoe UI"/>
              </a:rPr>
              <a:t>Alteryx 05</a:t>
            </a:r>
          </a:p>
        </p:txBody>
      </p:sp>
      <p:cxnSp>
        <p:nvCxnSpPr>
          <p:cNvPr id="40" name="Connector 39"/>
          <p:cNvCxnSpPr/>
          <p:nvPr/>
        </p:nvCxnSpPr>
        <p:spPr>
          <a:xfrm>
            <a:off x="6035040" y="1920240"/>
            <a:ext cx="100583" cy="0"/>
          </a:xfrm>
          <a:prstGeom prst="line">
            <a:avLst/>
          </a:prstGeom>
          <a:ln w="19050">
            <a:solidFill>
              <a:srgbClr val="C3CBD4"/>
            </a:solidFill>
            <a:tailEnd type="triangle" w="med" len="med"/>
          </a:ln>
        </p:spPr>
        <p:style>
          <a:lnRef idx="2">
            <a:schemeClr val="accent1"/>
          </a:lnRef>
          <a:fillRef idx="0">
            <a:schemeClr val="accent1"/>
          </a:fillRef>
          <a:effectRef idx="1">
            <a:schemeClr val="accent1"/>
          </a:effectRef>
          <a:fontRef idx="minor">
            <a:schemeClr val="tx1"/>
          </a:fontRef>
        </p:style>
      </p:cxnSp>
      <p:sp>
        <p:nvSpPr>
          <p:cNvPr id="41" name="Rounded Rectangle 40"/>
          <p:cNvSpPr/>
          <p:nvPr/>
        </p:nvSpPr>
        <p:spPr>
          <a:xfrm>
            <a:off x="6144768" y="1691640"/>
            <a:ext cx="1280160" cy="457200"/>
          </a:xfrm>
          <a:prstGeom prst="roundRect">
            <a:avLst>
              <a:gd name="adj" fmla="val 20000"/>
            </a:avLst>
          </a:prstGeom>
          <a:solidFill>
            <a:srgbClr val="F2A9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2" name="TextBox 41"/>
          <p:cNvSpPr txBox="1"/>
          <p:nvPr/>
        </p:nvSpPr>
        <p:spPr>
          <a:xfrm>
            <a:off x="6144768" y="1691640"/>
            <a:ext cx="1280160" cy="457200"/>
          </a:xfrm>
          <a:prstGeom prst="rect">
            <a:avLst/>
          </a:prstGeom>
          <a:noFill/>
        </p:spPr>
        <p:txBody>
          <a:bodyPr wrap="square" lIns="0" tIns="0" rIns="0" bIns="0" anchor="ctr">
            <a:spAutoFit/>
          </a:bodyPr>
          <a:lstStyle/>
          <a:p>
            <a:pPr algn="ctr">
              <a:lnSpc>
                <a:spcPct val="100000"/>
              </a:lnSpc>
            </a:pPr>
            <a:r>
              <a:rPr sz="1000" b="1">
                <a:solidFill>
                  <a:srgbClr val="1F4E79"/>
                </a:solidFill>
                <a:latin typeface="Segoe UI"/>
              </a:rPr>
              <a:t>GOLD</a:t>
            </a:r>
          </a:p>
        </p:txBody>
      </p:sp>
      <p:sp>
        <p:nvSpPr>
          <p:cNvPr id="43" name="Rounded Rectangle 42"/>
          <p:cNvSpPr/>
          <p:nvPr/>
        </p:nvSpPr>
        <p:spPr>
          <a:xfrm>
            <a:off x="6144768" y="2240280"/>
            <a:ext cx="1280160" cy="3017520"/>
          </a:xfrm>
          <a:prstGeom prst="roundRect">
            <a:avLst>
              <a:gd name="adj" fmla="val 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4" name="TextBox 43"/>
          <p:cNvSpPr txBox="1"/>
          <p:nvPr/>
        </p:nvSpPr>
        <p:spPr>
          <a:xfrm>
            <a:off x="6190488" y="2395728"/>
            <a:ext cx="1188720" cy="548640"/>
          </a:xfrm>
          <a:prstGeom prst="rect">
            <a:avLst/>
          </a:prstGeom>
          <a:noFill/>
        </p:spPr>
        <p:txBody>
          <a:bodyPr wrap="square" lIns="0" tIns="0" rIns="0" bIns="0" anchor="ctr">
            <a:spAutoFit/>
          </a:bodyPr>
          <a:lstStyle/>
          <a:p>
            <a:pPr algn="ctr">
              <a:lnSpc>
                <a:spcPct val="100000"/>
              </a:lnSpc>
            </a:pPr>
            <a:r>
              <a:rPr sz="2200" b="0">
                <a:solidFill>
                  <a:srgbClr val="1F4E79"/>
                </a:solidFill>
                <a:latin typeface="Segoe UI Semibold"/>
              </a:rPr>
              <a:t>41,000+</a:t>
            </a:r>
          </a:p>
        </p:txBody>
      </p:sp>
      <p:sp>
        <p:nvSpPr>
          <p:cNvPr id="45" name="TextBox 44"/>
          <p:cNvSpPr txBox="1"/>
          <p:nvPr/>
        </p:nvSpPr>
        <p:spPr>
          <a:xfrm>
            <a:off x="6190488" y="2944368"/>
            <a:ext cx="1188720" cy="274320"/>
          </a:xfrm>
          <a:prstGeom prst="rect">
            <a:avLst/>
          </a:prstGeom>
          <a:noFill/>
        </p:spPr>
        <p:txBody>
          <a:bodyPr wrap="square" lIns="0" tIns="0" rIns="0" bIns="0" anchor="t">
            <a:spAutoFit/>
          </a:bodyPr>
          <a:lstStyle/>
          <a:p>
            <a:pPr algn="ctr">
              <a:lnSpc>
                <a:spcPct val="100000"/>
              </a:lnSpc>
            </a:pPr>
            <a:r>
              <a:rPr sz="1000" b="1">
                <a:solidFill>
                  <a:srgbClr val="24323F"/>
                </a:solidFill>
                <a:latin typeface="Segoe UI"/>
              </a:rPr>
              <a:t>warehouse rows</a:t>
            </a:r>
          </a:p>
        </p:txBody>
      </p:sp>
      <p:sp>
        <p:nvSpPr>
          <p:cNvPr id="46" name="TextBox 45"/>
          <p:cNvSpPr txBox="1"/>
          <p:nvPr/>
        </p:nvSpPr>
        <p:spPr>
          <a:xfrm>
            <a:off x="6217920" y="3383280"/>
            <a:ext cx="1133856" cy="1097280"/>
          </a:xfrm>
          <a:prstGeom prst="rect">
            <a:avLst/>
          </a:prstGeom>
          <a:noFill/>
        </p:spPr>
        <p:txBody>
          <a:bodyPr wrap="square" lIns="0" tIns="0" rIns="0" bIns="0" anchor="t">
            <a:spAutoFit/>
          </a:bodyPr>
          <a:lstStyle/>
          <a:p>
            <a:pPr algn="ctr">
              <a:lnSpc>
                <a:spcPct val="100000"/>
              </a:lnSpc>
            </a:pPr>
            <a:r>
              <a:rPr sz="1000" b="0">
                <a:solidFill>
                  <a:srgbClr val="6B7785"/>
                </a:solidFill>
                <a:latin typeface="Segoe UI"/>
              </a:rPr>
              <a:t>16 tables · 36 FKs
facts, dims, bridge</a:t>
            </a:r>
          </a:p>
        </p:txBody>
      </p:sp>
      <p:sp>
        <p:nvSpPr>
          <p:cNvPr id="47" name="Rounded Rectangle 46"/>
          <p:cNvSpPr/>
          <p:nvPr/>
        </p:nvSpPr>
        <p:spPr>
          <a:xfrm>
            <a:off x="6236207" y="4709160"/>
            <a:ext cx="1097280" cy="329184"/>
          </a:xfrm>
          <a:prstGeom prst="roundRect">
            <a:avLst>
              <a:gd name="adj" fmla="val 50000"/>
            </a:avLst>
          </a:prstGeom>
          <a:solidFill>
            <a:srgbClr val="EEF2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8" name="TextBox 47"/>
          <p:cNvSpPr txBox="1"/>
          <p:nvPr/>
        </p:nvSpPr>
        <p:spPr>
          <a:xfrm>
            <a:off x="6236207" y="4709160"/>
            <a:ext cx="1097280" cy="329184"/>
          </a:xfrm>
          <a:prstGeom prst="rect">
            <a:avLst/>
          </a:prstGeom>
          <a:noFill/>
        </p:spPr>
        <p:txBody>
          <a:bodyPr wrap="square" lIns="0" tIns="0" rIns="0" bIns="0" anchor="ctr">
            <a:spAutoFit/>
          </a:bodyPr>
          <a:lstStyle/>
          <a:p>
            <a:pPr algn="ctr">
              <a:lnSpc>
                <a:spcPct val="100000"/>
              </a:lnSpc>
            </a:pPr>
            <a:r>
              <a:rPr sz="900" b="1">
                <a:solidFill>
                  <a:srgbClr val="1F4E79"/>
                </a:solidFill>
                <a:latin typeface="Segoe UI"/>
              </a:rPr>
              <a:t>1 transaction</a:t>
            </a:r>
          </a:p>
        </p:txBody>
      </p:sp>
      <p:cxnSp>
        <p:nvCxnSpPr>
          <p:cNvPr id="49" name="Connector 48"/>
          <p:cNvCxnSpPr/>
          <p:nvPr/>
        </p:nvCxnSpPr>
        <p:spPr>
          <a:xfrm>
            <a:off x="7434071" y="1920240"/>
            <a:ext cx="100585" cy="0"/>
          </a:xfrm>
          <a:prstGeom prst="line">
            <a:avLst/>
          </a:prstGeom>
          <a:ln w="19050">
            <a:solidFill>
              <a:srgbClr val="C3CBD4"/>
            </a:solidFill>
            <a:tailEnd type="triangle" w="med" len="med"/>
          </a:ln>
        </p:spPr>
        <p:style>
          <a:lnRef idx="2">
            <a:schemeClr val="accent1"/>
          </a:lnRef>
          <a:fillRef idx="0">
            <a:schemeClr val="accent1"/>
          </a:fillRef>
          <a:effectRef idx="1">
            <a:schemeClr val="accent1"/>
          </a:effectRef>
          <a:fontRef idx="minor">
            <a:schemeClr val="tx1"/>
          </a:fontRef>
        </p:style>
      </p:cxnSp>
      <p:sp>
        <p:nvSpPr>
          <p:cNvPr id="50" name="Rounded Rectangle 49"/>
          <p:cNvSpPr/>
          <p:nvPr/>
        </p:nvSpPr>
        <p:spPr>
          <a:xfrm>
            <a:off x="7543800" y="1691640"/>
            <a:ext cx="1280160" cy="457200"/>
          </a:xfrm>
          <a:prstGeom prst="roundRect">
            <a:avLst>
              <a:gd name="adj" fmla="val 20000"/>
            </a:avLst>
          </a:prstGeom>
          <a:solidFill>
            <a:srgbClr val="1F4E7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1" name="TextBox 50"/>
          <p:cNvSpPr txBox="1"/>
          <p:nvPr/>
        </p:nvSpPr>
        <p:spPr>
          <a:xfrm>
            <a:off x="7543800" y="1691640"/>
            <a:ext cx="1280160" cy="457200"/>
          </a:xfrm>
          <a:prstGeom prst="rect">
            <a:avLst/>
          </a:prstGeom>
          <a:noFill/>
        </p:spPr>
        <p:txBody>
          <a:bodyPr wrap="square" lIns="0" tIns="0" rIns="0" bIns="0" anchor="ctr">
            <a:spAutoFit/>
          </a:bodyPr>
          <a:lstStyle/>
          <a:p>
            <a:pPr algn="ctr">
              <a:lnSpc>
                <a:spcPct val="100000"/>
              </a:lnSpc>
            </a:pPr>
            <a:r>
              <a:rPr sz="1000" b="1">
                <a:solidFill>
                  <a:srgbClr val="FFFFFF"/>
                </a:solidFill>
                <a:latin typeface="Segoe UI"/>
              </a:rPr>
              <a:t>SEMANTIC</a:t>
            </a:r>
          </a:p>
        </p:txBody>
      </p:sp>
      <p:sp>
        <p:nvSpPr>
          <p:cNvPr id="52" name="Rounded Rectangle 51"/>
          <p:cNvSpPr/>
          <p:nvPr/>
        </p:nvSpPr>
        <p:spPr>
          <a:xfrm>
            <a:off x="7543800" y="2240280"/>
            <a:ext cx="1280160" cy="3017520"/>
          </a:xfrm>
          <a:prstGeom prst="roundRect">
            <a:avLst>
              <a:gd name="adj" fmla="val 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3" name="TextBox 52"/>
          <p:cNvSpPr txBox="1"/>
          <p:nvPr/>
        </p:nvSpPr>
        <p:spPr>
          <a:xfrm>
            <a:off x="7589520" y="2395728"/>
            <a:ext cx="1188720" cy="548640"/>
          </a:xfrm>
          <a:prstGeom prst="rect">
            <a:avLst/>
          </a:prstGeom>
          <a:noFill/>
        </p:spPr>
        <p:txBody>
          <a:bodyPr wrap="square" lIns="0" tIns="0" rIns="0" bIns="0" anchor="ctr">
            <a:spAutoFit/>
          </a:bodyPr>
          <a:lstStyle/>
          <a:p>
            <a:pPr algn="ctr">
              <a:lnSpc>
                <a:spcPct val="100000"/>
              </a:lnSpc>
            </a:pPr>
            <a:r>
              <a:rPr sz="2800" b="0">
                <a:solidFill>
                  <a:srgbClr val="1F4E79"/>
                </a:solidFill>
                <a:latin typeface="Segoe UI Semibold"/>
              </a:rPr>
              <a:t>22</a:t>
            </a:r>
          </a:p>
        </p:txBody>
      </p:sp>
      <p:sp>
        <p:nvSpPr>
          <p:cNvPr id="54" name="TextBox 53"/>
          <p:cNvSpPr txBox="1"/>
          <p:nvPr/>
        </p:nvSpPr>
        <p:spPr>
          <a:xfrm>
            <a:off x="7589520" y="2944368"/>
            <a:ext cx="1188720" cy="274320"/>
          </a:xfrm>
          <a:prstGeom prst="rect">
            <a:avLst/>
          </a:prstGeom>
          <a:noFill/>
        </p:spPr>
        <p:txBody>
          <a:bodyPr wrap="square" lIns="0" tIns="0" rIns="0" bIns="0" anchor="t">
            <a:spAutoFit/>
          </a:bodyPr>
          <a:lstStyle/>
          <a:p>
            <a:pPr algn="ctr">
              <a:lnSpc>
                <a:spcPct val="100000"/>
              </a:lnSpc>
            </a:pPr>
            <a:r>
              <a:rPr sz="1000" b="1">
                <a:solidFill>
                  <a:srgbClr val="24323F"/>
                </a:solidFill>
                <a:latin typeface="Segoe UI"/>
              </a:rPr>
              <a:t>reporting views</a:t>
            </a:r>
          </a:p>
        </p:txBody>
      </p:sp>
      <p:sp>
        <p:nvSpPr>
          <p:cNvPr id="55" name="TextBox 54"/>
          <p:cNvSpPr txBox="1"/>
          <p:nvPr/>
        </p:nvSpPr>
        <p:spPr>
          <a:xfrm>
            <a:off x="7616952" y="3383280"/>
            <a:ext cx="1133856" cy="1097280"/>
          </a:xfrm>
          <a:prstGeom prst="rect">
            <a:avLst/>
          </a:prstGeom>
          <a:noFill/>
        </p:spPr>
        <p:txBody>
          <a:bodyPr wrap="square" lIns="0" tIns="0" rIns="0" bIns="0" anchor="t">
            <a:spAutoFit/>
          </a:bodyPr>
          <a:lstStyle/>
          <a:p>
            <a:pPr algn="ctr">
              <a:lnSpc>
                <a:spcPct val="100000"/>
              </a:lnSpc>
            </a:pPr>
            <a:r>
              <a:rPr sz="1000" b="0">
                <a:solidFill>
                  <a:srgbClr val="6B7785"/>
                </a:solidFill>
                <a:latin typeface="Segoe UI"/>
              </a:rPr>
              <a:t>10 rule functions,
each rule once</a:t>
            </a:r>
          </a:p>
        </p:txBody>
      </p:sp>
      <p:sp>
        <p:nvSpPr>
          <p:cNvPr id="56" name="Rounded Rectangle 55"/>
          <p:cNvSpPr/>
          <p:nvPr/>
        </p:nvSpPr>
        <p:spPr>
          <a:xfrm>
            <a:off x="7635240" y="4709160"/>
            <a:ext cx="1097280" cy="329184"/>
          </a:xfrm>
          <a:prstGeom prst="roundRect">
            <a:avLst>
              <a:gd name="adj" fmla="val 50000"/>
            </a:avLst>
          </a:prstGeom>
          <a:solidFill>
            <a:srgbClr val="EEF2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7" name="TextBox 56"/>
          <p:cNvSpPr txBox="1"/>
          <p:nvPr/>
        </p:nvSpPr>
        <p:spPr>
          <a:xfrm>
            <a:off x="7635240" y="4709160"/>
            <a:ext cx="1097280" cy="329184"/>
          </a:xfrm>
          <a:prstGeom prst="rect">
            <a:avLst/>
          </a:prstGeom>
          <a:noFill/>
        </p:spPr>
        <p:txBody>
          <a:bodyPr wrap="square" lIns="0" tIns="0" rIns="0" bIns="0" anchor="ctr">
            <a:spAutoFit/>
          </a:bodyPr>
          <a:lstStyle/>
          <a:p>
            <a:pPr algn="ctr">
              <a:lnSpc>
                <a:spcPct val="100000"/>
              </a:lnSpc>
            </a:pPr>
            <a:r>
              <a:rPr sz="900" b="1">
                <a:solidFill>
                  <a:srgbClr val="1F4E79"/>
                </a:solidFill>
                <a:latin typeface="Segoe UI"/>
              </a:rPr>
              <a:t>SQL views</a:t>
            </a:r>
          </a:p>
        </p:txBody>
      </p:sp>
      <p:cxnSp>
        <p:nvCxnSpPr>
          <p:cNvPr id="58" name="Connector 57"/>
          <p:cNvCxnSpPr/>
          <p:nvPr/>
        </p:nvCxnSpPr>
        <p:spPr>
          <a:xfrm>
            <a:off x="8833104" y="1920240"/>
            <a:ext cx="100584" cy="0"/>
          </a:xfrm>
          <a:prstGeom prst="line">
            <a:avLst/>
          </a:prstGeom>
          <a:ln w="19050">
            <a:solidFill>
              <a:srgbClr val="C3CBD4"/>
            </a:solidFill>
            <a:tailEnd type="triangle" w="med" len="med"/>
          </a:ln>
        </p:spPr>
        <p:style>
          <a:lnRef idx="2">
            <a:schemeClr val="accent1"/>
          </a:lnRef>
          <a:fillRef idx="0">
            <a:schemeClr val="accent1"/>
          </a:fillRef>
          <a:effectRef idx="1">
            <a:schemeClr val="accent1"/>
          </a:effectRef>
          <a:fontRef idx="minor">
            <a:schemeClr val="tx1"/>
          </a:fontRef>
        </p:style>
      </p:cxnSp>
      <p:sp>
        <p:nvSpPr>
          <p:cNvPr id="59" name="Rounded Rectangle 58"/>
          <p:cNvSpPr/>
          <p:nvPr/>
        </p:nvSpPr>
        <p:spPr>
          <a:xfrm>
            <a:off x="8942832" y="1691640"/>
            <a:ext cx="1280160" cy="457200"/>
          </a:xfrm>
          <a:prstGeom prst="roundRect">
            <a:avLst>
              <a:gd name="adj" fmla="val 20000"/>
            </a:avLst>
          </a:prstGeom>
          <a:solidFill>
            <a:srgbClr val="17385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0" name="TextBox 59"/>
          <p:cNvSpPr txBox="1"/>
          <p:nvPr/>
        </p:nvSpPr>
        <p:spPr>
          <a:xfrm>
            <a:off x="8942832" y="1691640"/>
            <a:ext cx="1280160" cy="457200"/>
          </a:xfrm>
          <a:prstGeom prst="rect">
            <a:avLst/>
          </a:prstGeom>
          <a:noFill/>
        </p:spPr>
        <p:txBody>
          <a:bodyPr wrap="square" lIns="0" tIns="0" rIns="0" bIns="0" anchor="ctr">
            <a:spAutoFit/>
          </a:bodyPr>
          <a:lstStyle/>
          <a:p>
            <a:pPr algn="ctr">
              <a:lnSpc>
                <a:spcPct val="100000"/>
              </a:lnSpc>
            </a:pPr>
            <a:r>
              <a:rPr sz="1000" b="1">
                <a:solidFill>
                  <a:srgbClr val="FFFFFF"/>
                </a:solidFill>
                <a:latin typeface="Segoe UI"/>
              </a:rPr>
              <a:t>EXTRACTS</a:t>
            </a:r>
          </a:p>
        </p:txBody>
      </p:sp>
      <p:sp>
        <p:nvSpPr>
          <p:cNvPr id="61" name="Rounded Rectangle 60"/>
          <p:cNvSpPr/>
          <p:nvPr/>
        </p:nvSpPr>
        <p:spPr>
          <a:xfrm>
            <a:off x="8942832" y="2240280"/>
            <a:ext cx="1280160" cy="3017520"/>
          </a:xfrm>
          <a:prstGeom prst="roundRect">
            <a:avLst>
              <a:gd name="adj" fmla="val 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2" name="TextBox 61"/>
          <p:cNvSpPr txBox="1"/>
          <p:nvPr/>
        </p:nvSpPr>
        <p:spPr>
          <a:xfrm>
            <a:off x="8988552" y="2395728"/>
            <a:ext cx="1188720" cy="548640"/>
          </a:xfrm>
          <a:prstGeom prst="rect">
            <a:avLst/>
          </a:prstGeom>
          <a:noFill/>
        </p:spPr>
        <p:txBody>
          <a:bodyPr wrap="square" lIns="0" tIns="0" rIns="0" bIns="0" anchor="ctr">
            <a:spAutoFit/>
          </a:bodyPr>
          <a:lstStyle/>
          <a:p>
            <a:pPr algn="ctr">
              <a:lnSpc>
                <a:spcPct val="100000"/>
              </a:lnSpc>
            </a:pPr>
            <a:r>
              <a:rPr sz="2200" b="0">
                <a:solidFill>
                  <a:srgbClr val="1F4E79"/>
                </a:solidFill>
                <a:latin typeface="Segoe UI Semibold"/>
              </a:rPr>
              <a:t>18,557</a:t>
            </a:r>
          </a:p>
        </p:txBody>
      </p:sp>
      <p:sp>
        <p:nvSpPr>
          <p:cNvPr id="63" name="TextBox 62"/>
          <p:cNvSpPr txBox="1"/>
          <p:nvPr/>
        </p:nvSpPr>
        <p:spPr>
          <a:xfrm>
            <a:off x="8988552" y="2944368"/>
            <a:ext cx="1188720" cy="274320"/>
          </a:xfrm>
          <a:prstGeom prst="rect">
            <a:avLst/>
          </a:prstGeom>
          <a:noFill/>
        </p:spPr>
        <p:txBody>
          <a:bodyPr wrap="square" lIns="0" tIns="0" rIns="0" bIns="0" anchor="t">
            <a:spAutoFit/>
          </a:bodyPr>
          <a:lstStyle/>
          <a:p>
            <a:pPr algn="ctr">
              <a:lnSpc>
                <a:spcPct val="100000"/>
              </a:lnSpc>
            </a:pPr>
            <a:r>
              <a:rPr sz="1000" b="1">
                <a:solidFill>
                  <a:srgbClr val="24323F"/>
                </a:solidFill>
                <a:latin typeface="Segoe UI"/>
              </a:rPr>
              <a:t>rows exported</a:t>
            </a:r>
          </a:p>
        </p:txBody>
      </p:sp>
      <p:sp>
        <p:nvSpPr>
          <p:cNvPr id="64" name="TextBox 63"/>
          <p:cNvSpPr txBox="1"/>
          <p:nvPr/>
        </p:nvSpPr>
        <p:spPr>
          <a:xfrm>
            <a:off x="9015984" y="3383280"/>
            <a:ext cx="1133856" cy="1097280"/>
          </a:xfrm>
          <a:prstGeom prst="rect">
            <a:avLst/>
          </a:prstGeom>
          <a:noFill/>
        </p:spPr>
        <p:txBody>
          <a:bodyPr wrap="square" lIns="0" tIns="0" rIns="0" bIns="0" anchor="t">
            <a:spAutoFit/>
          </a:bodyPr>
          <a:lstStyle/>
          <a:p>
            <a:pPr algn="ctr">
              <a:lnSpc>
                <a:spcPct val="100000"/>
              </a:lnSpc>
            </a:pPr>
            <a:r>
              <a:rPr sz="1000" b="0">
                <a:solidFill>
                  <a:srgbClr val="6B7785"/>
                </a:solidFill>
                <a:latin typeface="Segoe UI"/>
              </a:rPr>
              <a:t>22 .hyper files,
counts reconciled</a:t>
            </a:r>
          </a:p>
        </p:txBody>
      </p:sp>
      <p:sp>
        <p:nvSpPr>
          <p:cNvPr id="65" name="Rounded Rectangle 64"/>
          <p:cNvSpPr/>
          <p:nvPr/>
        </p:nvSpPr>
        <p:spPr>
          <a:xfrm>
            <a:off x="9034272" y="4709160"/>
            <a:ext cx="1097280" cy="329184"/>
          </a:xfrm>
          <a:prstGeom prst="roundRect">
            <a:avLst>
              <a:gd name="adj" fmla="val 50000"/>
            </a:avLst>
          </a:prstGeom>
          <a:solidFill>
            <a:srgbClr val="EEF2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6" name="TextBox 65"/>
          <p:cNvSpPr txBox="1"/>
          <p:nvPr/>
        </p:nvSpPr>
        <p:spPr>
          <a:xfrm>
            <a:off x="9034272" y="4709160"/>
            <a:ext cx="1097280" cy="329184"/>
          </a:xfrm>
          <a:prstGeom prst="rect">
            <a:avLst/>
          </a:prstGeom>
          <a:noFill/>
        </p:spPr>
        <p:txBody>
          <a:bodyPr wrap="square" lIns="0" tIns="0" rIns="0" bIns="0" anchor="ctr">
            <a:spAutoFit/>
          </a:bodyPr>
          <a:lstStyle/>
          <a:p>
            <a:pPr algn="ctr">
              <a:lnSpc>
                <a:spcPct val="100000"/>
              </a:lnSpc>
            </a:pPr>
            <a:r>
              <a:rPr sz="900" b="1">
                <a:solidFill>
                  <a:srgbClr val="1F4E79"/>
                </a:solidFill>
                <a:latin typeface="Segoe UI"/>
              </a:rPr>
              <a:t>Alteryx 06</a:t>
            </a:r>
          </a:p>
        </p:txBody>
      </p:sp>
      <p:cxnSp>
        <p:nvCxnSpPr>
          <p:cNvPr id="67" name="Connector 66"/>
          <p:cNvCxnSpPr/>
          <p:nvPr/>
        </p:nvCxnSpPr>
        <p:spPr>
          <a:xfrm>
            <a:off x="10232136" y="1920240"/>
            <a:ext cx="100583" cy="0"/>
          </a:xfrm>
          <a:prstGeom prst="line">
            <a:avLst/>
          </a:prstGeom>
          <a:ln w="19050">
            <a:solidFill>
              <a:srgbClr val="C3CBD4"/>
            </a:solidFill>
            <a:tailEnd type="triangle" w="med" len="med"/>
          </a:ln>
        </p:spPr>
        <p:style>
          <a:lnRef idx="2">
            <a:schemeClr val="accent1"/>
          </a:lnRef>
          <a:fillRef idx="0">
            <a:schemeClr val="accent1"/>
          </a:fillRef>
          <a:effectRef idx="1">
            <a:schemeClr val="accent1"/>
          </a:effectRef>
          <a:fontRef idx="minor">
            <a:schemeClr val="tx1"/>
          </a:fontRef>
        </p:style>
      </p:cxnSp>
      <p:sp>
        <p:nvSpPr>
          <p:cNvPr id="68" name="Rounded Rectangle 67"/>
          <p:cNvSpPr/>
          <p:nvPr/>
        </p:nvSpPr>
        <p:spPr>
          <a:xfrm>
            <a:off x="10341864" y="1691640"/>
            <a:ext cx="1280160" cy="457200"/>
          </a:xfrm>
          <a:prstGeom prst="roundRect">
            <a:avLst>
              <a:gd name="adj" fmla="val 20000"/>
            </a:avLst>
          </a:prstGeom>
          <a:solidFill>
            <a:srgbClr val="F2A9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9" name="TextBox 68"/>
          <p:cNvSpPr txBox="1"/>
          <p:nvPr/>
        </p:nvSpPr>
        <p:spPr>
          <a:xfrm>
            <a:off x="10341864" y="1691640"/>
            <a:ext cx="1280160" cy="457200"/>
          </a:xfrm>
          <a:prstGeom prst="rect">
            <a:avLst/>
          </a:prstGeom>
          <a:noFill/>
        </p:spPr>
        <p:txBody>
          <a:bodyPr wrap="square" lIns="0" tIns="0" rIns="0" bIns="0" anchor="ctr">
            <a:spAutoFit/>
          </a:bodyPr>
          <a:lstStyle/>
          <a:p>
            <a:pPr algn="ctr">
              <a:lnSpc>
                <a:spcPct val="100000"/>
              </a:lnSpc>
            </a:pPr>
            <a:r>
              <a:rPr sz="1000" b="1">
                <a:solidFill>
                  <a:srgbClr val="1F4E79"/>
                </a:solidFill>
                <a:latin typeface="Segoe UI"/>
              </a:rPr>
              <a:t>DASHBOARDS</a:t>
            </a:r>
          </a:p>
        </p:txBody>
      </p:sp>
      <p:sp>
        <p:nvSpPr>
          <p:cNvPr id="70" name="Rounded Rectangle 69"/>
          <p:cNvSpPr/>
          <p:nvPr/>
        </p:nvSpPr>
        <p:spPr>
          <a:xfrm>
            <a:off x="10341864" y="2240280"/>
            <a:ext cx="1280160" cy="3017520"/>
          </a:xfrm>
          <a:prstGeom prst="roundRect">
            <a:avLst>
              <a:gd name="adj" fmla="val 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1" name="TextBox 70"/>
          <p:cNvSpPr txBox="1"/>
          <p:nvPr/>
        </p:nvSpPr>
        <p:spPr>
          <a:xfrm>
            <a:off x="10387584" y="2395728"/>
            <a:ext cx="1188720" cy="548640"/>
          </a:xfrm>
          <a:prstGeom prst="rect">
            <a:avLst/>
          </a:prstGeom>
          <a:noFill/>
        </p:spPr>
        <p:txBody>
          <a:bodyPr wrap="square" lIns="0" tIns="0" rIns="0" bIns="0" anchor="ctr">
            <a:spAutoFit/>
          </a:bodyPr>
          <a:lstStyle/>
          <a:p>
            <a:pPr algn="ctr">
              <a:lnSpc>
                <a:spcPct val="100000"/>
              </a:lnSpc>
            </a:pPr>
            <a:r>
              <a:rPr sz="2800" b="0">
                <a:solidFill>
                  <a:srgbClr val="1F4E79"/>
                </a:solidFill>
                <a:latin typeface="Segoe UI Semibold"/>
              </a:rPr>
              <a:t>8</a:t>
            </a:r>
          </a:p>
        </p:txBody>
      </p:sp>
      <p:sp>
        <p:nvSpPr>
          <p:cNvPr id="72" name="TextBox 71"/>
          <p:cNvSpPr txBox="1"/>
          <p:nvPr/>
        </p:nvSpPr>
        <p:spPr>
          <a:xfrm>
            <a:off x="10387584" y="2944368"/>
            <a:ext cx="1188720" cy="274320"/>
          </a:xfrm>
          <a:prstGeom prst="rect">
            <a:avLst/>
          </a:prstGeom>
          <a:noFill/>
        </p:spPr>
        <p:txBody>
          <a:bodyPr wrap="square" lIns="0" tIns="0" rIns="0" bIns="0" anchor="t">
            <a:spAutoFit/>
          </a:bodyPr>
          <a:lstStyle/>
          <a:p>
            <a:pPr algn="ctr">
              <a:lnSpc>
                <a:spcPct val="100000"/>
              </a:lnSpc>
            </a:pPr>
            <a:r>
              <a:rPr sz="1000" b="1">
                <a:solidFill>
                  <a:srgbClr val="24323F"/>
                </a:solidFill>
                <a:latin typeface="Segoe UI"/>
              </a:rPr>
              <a:t>dashboards</a:t>
            </a:r>
          </a:p>
        </p:txBody>
      </p:sp>
      <p:sp>
        <p:nvSpPr>
          <p:cNvPr id="73" name="TextBox 72"/>
          <p:cNvSpPr txBox="1"/>
          <p:nvPr/>
        </p:nvSpPr>
        <p:spPr>
          <a:xfrm>
            <a:off x="10415016" y="3383280"/>
            <a:ext cx="1133856" cy="1097280"/>
          </a:xfrm>
          <a:prstGeom prst="rect">
            <a:avLst/>
          </a:prstGeom>
          <a:noFill/>
        </p:spPr>
        <p:txBody>
          <a:bodyPr wrap="square" lIns="0" tIns="0" rIns="0" bIns="0" anchor="t">
            <a:spAutoFit/>
          </a:bodyPr>
          <a:lstStyle/>
          <a:p>
            <a:pPr algn="ctr">
              <a:lnSpc>
                <a:spcPct val="100000"/>
              </a:lnSpc>
            </a:pPr>
            <a:r>
              <a:rPr sz="1000" b="0">
                <a:solidFill>
                  <a:srgbClr val="6B7785"/>
                </a:solidFill>
                <a:latin typeface="Segoe UI"/>
              </a:rPr>
              <a:t>82 sheets
and a story</a:t>
            </a:r>
          </a:p>
        </p:txBody>
      </p:sp>
      <p:sp>
        <p:nvSpPr>
          <p:cNvPr id="74" name="Rounded Rectangle 73"/>
          <p:cNvSpPr/>
          <p:nvPr/>
        </p:nvSpPr>
        <p:spPr>
          <a:xfrm>
            <a:off x="10433304" y="4709160"/>
            <a:ext cx="1097280" cy="329184"/>
          </a:xfrm>
          <a:prstGeom prst="roundRect">
            <a:avLst>
              <a:gd name="adj" fmla="val 50000"/>
            </a:avLst>
          </a:prstGeom>
          <a:solidFill>
            <a:srgbClr val="EEF2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5" name="TextBox 74"/>
          <p:cNvSpPr txBox="1"/>
          <p:nvPr/>
        </p:nvSpPr>
        <p:spPr>
          <a:xfrm>
            <a:off x="10433304" y="4709160"/>
            <a:ext cx="1097280" cy="329184"/>
          </a:xfrm>
          <a:prstGeom prst="rect">
            <a:avLst/>
          </a:prstGeom>
          <a:noFill/>
        </p:spPr>
        <p:txBody>
          <a:bodyPr wrap="square" lIns="0" tIns="0" rIns="0" bIns="0" anchor="ctr">
            <a:spAutoFit/>
          </a:bodyPr>
          <a:lstStyle/>
          <a:p>
            <a:pPr algn="ctr">
              <a:lnSpc>
                <a:spcPct val="100000"/>
              </a:lnSpc>
            </a:pPr>
            <a:r>
              <a:rPr sz="900" b="1">
                <a:solidFill>
                  <a:srgbClr val="1F4E79"/>
                </a:solidFill>
                <a:latin typeface="Segoe UI"/>
              </a:rPr>
              <a:t>Tableau</a:t>
            </a:r>
          </a:p>
        </p:txBody>
      </p:sp>
      <p:sp>
        <p:nvSpPr>
          <p:cNvPr id="76" name="Rounded Rectangle 75"/>
          <p:cNvSpPr/>
          <p:nvPr/>
        </p:nvSpPr>
        <p:spPr>
          <a:xfrm>
            <a:off x="548640" y="5486400"/>
            <a:ext cx="11064240" cy="658368"/>
          </a:xfrm>
          <a:prstGeom prst="roundRect">
            <a:avLst>
              <a:gd name="adj" fmla="val 6000"/>
            </a:avLst>
          </a:prstGeom>
          <a:solidFill>
            <a:srgbClr val="1F4E7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7" name="TextBox 76"/>
          <p:cNvSpPr txBox="1"/>
          <p:nvPr/>
        </p:nvSpPr>
        <p:spPr>
          <a:xfrm>
            <a:off x="548640" y="5486400"/>
            <a:ext cx="11064240" cy="658368"/>
          </a:xfrm>
          <a:prstGeom prst="rect">
            <a:avLst/>
          </a:prstGeom>
          <a:noFill/>
        </p:spPr>
        <p:txBody>
          <a:bodyPr wrap="square" lIns="0" tIns="0" rIns="0" bIns="0" anchor="ctr">
            <a:spAutoFit/>
          </a:bodyPr>
          <a:lstStyle/>
          <a:p>
            <a:pPr algn="ctr">
              <a:lnSpc>
                <a:spcPct val="100000"/>
              </a:lnSpc>
            </a:pPr>
            <a:r>
              <a:rPr sz="1300" b="1">
                <a:solidFill>
                  <a:srgbClr val="F2A900"/>
                </a:solidFill>
                <a:latin typeface="Segoe UI"/>
              </a:rPr>
              <a:t>At every step  </a:t>
            </a:r>
            <a:r>
              <a:rPr sz="1300" b="0">
                <a:solidFill>
                  <a:srgbClr val="FFFFFF"/>
                </a:solidFill>
                <a:latin typeface="Segoe UI"/>
              </a:rPr>
              <a:t>every file fingerprinted  ·  every violation logged to the row  ·  every stage logged under one run ID  ·  nothing dropped silently</a:t>
            </a:r>
          </a:p>
        </p:txBody>
      </p:sp>
      <p:sp>
        <p:nvSpPr>
          <p:cNvPr id="78" name="TextBox 77"/>
          <p:cNvSpPr txBox="1"/>
          <p:nvPr/>
        </p:nvSpPr>
        <p:spPr>
          <a:xfrm>
            <a:off x="548640" y="6428232"/>
            <a:ext cx="5486400" cy="228600"/>
          </a:xfrm>
          <a:prstGeom prst="rect">
            <a:avLst/>
          </a:prstGeom>
          <a:noFill/>
        </p:spPr>
        <p:txBody>
          <a:bodyPr wrap="square" lIns="0" tIns="0" rIns="0" bIns="0" anchor="t">
            <a:spAutoFit/>
          </a:bodyPr>
          <a:lstStyle/>
          <a:p>
            <a:pPr algn="l">
              <a:lnSpc>
                <a:spcPct val="100000"/>
              </a:lnSpc>
            </a:pPr>
            <a:r>
              <a:rPr sz="1000" b="0">
                <a:solidFill>
                  <a:srgbClr val="6B7785"/>
                </a:solidFill>
                <a:latin typeface="Segoe UI"/>
              </a:rPr>
              <a:t>Cricket Analytics Platform</a:t>
            </a:r>
          </a:p>
        </p:txBody>
      </p:sp>
      <p:sp>
        <p:nvSpPr>
          <p:cNvPr id="79" name="TextBox 78"/>
          <p:cNvSpPr txBox="1"/>
          <p:nvPr/>
        </p:nvSpPr>
        <p:spPr>
          <a:xfrm>
            <a:off x="10725912" y="6428232"/>
            <a:ext cx="914400" cy="228600"/>
          </a:xfrm>
          <a:prstGeom prst="rect">
            <a:avLst/>
          </a:prstGeom>
          <a:noFill/>
        </p:spPr>
        <p:txBody>
          <a:bodyPr wrap="square" lIns="0" tIns="0" rIns="0" bIns="0" anchor="t">
            <a:spAutoFit/>
          </a:bodyPr>
          <a:lstStyle/>
          <a:p>
            <a:pPr algn="r">
              <a:lnSpc>
                <a:spcPct val="100000"/>
              </a:lnSpc>
            </a:pPr>
            <a:r>
              <a:rPr sz="1000" b="0">
                <a:solidFill>
                  <a:srgbClr val="6B7785"/>
                </a:solidFill>
                <a:latin typeface="Segoe UI"/>
              </a:rPr>
              <a:t>7</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EEF2F6"/>
        </a:solidFill>
        <a:effectLst/>
      </p:bgPr>
    </p:bg>
    <p:spTree>
      <p:nvGrpSpPr>
        <p:cNvPr id="1" name=""/>
        <p:cNvGrpSpPr/>
        <p:nvPr/>
      </p:nvGrpSpPr>
      <p:grpSpPr>
        <a:xfrm>
          <a:off x="0" y="0"/>
          <a:ext cx="0" cy="0"/>
          <a:chOff x="0" y="0"/>
          <a:chExt cx="0" cy="0"/>
        </a:xfrm>
      </p:grpSpPr>
      <p:sp>
        <p:nvSpPr>
          <p:cNvPr id="2" name="TextBox 1"/>
          <p:cNvSpPr txBox="1"/>
          <p:nvPr/>
        </p:nvSpPr>
        <p:spPr>
          <a:xfrm>
            <a:off x="548640" y="146304"/>
            <a:ext cx="10058400" cy="256032"/>
          </a:xfrm>
          <a:prstGeom prst="rect">
            <a:avLst/>
          </a:prstGeom>
          <a:noFill/>
        </p:spPr>
        <p:txBody>
          <a:bodyPr wrap="square" lIns="0" tIns="0" rIns="0" bIns="0" anchor="t">
            <a:spAutoFit/>
          </a:bodyPr>
          <a:lstStyle/>
          <a:p>
            <a:pPr algn="l">
              <a:lnSpc>
                <a:spcPct val="100000"/>
              </a:lnSpc>
            </a:pPr>
            <a:r>
              <a:rPr sz="1000" b="1">
                <a:solidFill>
                  <a:srgbClr val="F2A900"/>
                </a:solidFill>
                <a:latin typeface="Segoe UI"/>
              </a:rPr>
              <a:t>04  ·  SQL IMPLEMENTATION</a:t>
            </a:r>
            <a:r>
              <a:rPr sz="1000" b="0">
                <a:solidFill>
                  <a:srgbClr val="6B7785"/>
                </a:solidFill>
                <a:latin typeface="Segoe UI"/>
              </a:rPr>
              <a:t>     Brief §4–5</a:t>
            </a:r>
          </a:p>
        </p:txBody>
      </p:sp>
      <p:sp>
        <p:nvSpPr>
          <p:cNvPr id="3" name="TextBox 2"/>
          <p:cNvSpPr txBox="1"/>
          <p:nvPr/>
        </p:nvSpPr>
        <p:spPr>
          <a:xfrm>
            <a:off x="548640" y="411480"/>
            <a:ext cx="11064240" cy="640080"/>
          </a:xfrm>
          <a:prstGeom prst="rect">
            <a:avLst/>
          </a:prstGeom>
          <a:noFill/>
        </p:spPr>
        <p:txBody>
          <a:bodyPr wrap="square" lIns="0" tIns="0" rIns="0" bIns="0" anchor="t">
            <a:spAutoFit/>
          </a:bodyPr>
          <a:lstStyle/>
          <a:p>
            <a:pPr algn="l">
              <a:lnSpc>
                <a:spcPct val="100000"/>
              </a:lnSpc>
            </a:pPr>
            <a:r>
              <a:rPr sz="3200" b="0">
                <a:solidFill>
                  <a:srgbClr val="1F4E79"/>
                </a:solidFill>
                <a:latin typeface="Segoe UI Semibold"/>
              </a:rPr>
              <a:t>SQL implementation</a:t>
            </a:r>
          </a:p>
        </p:txBody>
      </p:sp>
      <p:sp>
        <p:nvSpPr>
          <p:cNvPr id="4" name="TextBox 3"/>
          <p:cNvSpPr txBox="1"/>
          <p:nvPr/>
        </p:nvSpPr>
        <p:spPr>
          <a:xfrm>
            <a:off x="548640" y="1024128"/>
            <a:ext cx="11064240" cy="411480"/>
          </a:xfrm>
          <a:prstGeom prst="rect">
            <a:avLst/>
          </a:prstGeom>
          <a:noFill/>
        </p:spPr>
        <p:txBody>
          <a:bodyPr wrap="square" lIns="0" tIns="0" rIns="0" bIns="0" anchor="t">
            <a:spAutoFit/>
          </a:bodyPr>
          <a:lstStyle/>
          <a:p>
            <a:pPr algn="l">
              <a:lnSpc>
                <a:spcPct val="100000"/>
              </a:lnSpc>
            </a:pPr>
            <a:r>
              <a:rPr sz="1500" b="0">
                <a:solidFill>
                  <a:srgbClr val="6B7785"/>
                </a:solidFill>
                <a:latin typeface="Segoe UI"/>
              </a:rPr>
              <a:t>Two databases, five schemas, all created by script</a:t>
            </a:r>
          </a:p>
        </p:txBody>
      </p:sp>
      <p:sp>
        <p:nvSpPr>
          <p:cNvPr id="5" name="Rounded Rectangle 4"/>
          <p:cNvSpPr/>
          <p:nvPr/>
        </p:nvSpPr>
        <p:spPr>
          <a:xfrm>
            <a:off x="548640" y="1645920"/>
            <a:ext cx="2103120" cy="4526280"/>
          </a:xfrm>
          <a:prstGeom prst="roundRect">
            <a:avLst>
              <a:gd name="adj" fmla="val 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Oval 5"/>
          <p:cNvSpPr/>
          <p:nvPr/>
        </p:nvSpPr>
        <p:spPr>
          <a:xfrm>
            <a:off x="1257300" y="1851660"/>
            <a:ext cx="685800" cy="685800"/>
          </a:xfrm>
          <a:prstGeom prst="ellipse">
            <a:avLst/>
          </a:prstGeom>
          <a:solidFill>
            <a:srgbClr val="1F4E7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Can 6"/>
          <p:cNvSpPr/>
          <p:nvPr/>
        </p:nvSpPr>
        <p:spPr>
          <a:xfrm>
            <a:off x="1449324" y="2016252"/>
            <a:ext cx="301752" cy="356616"/>
          </a:xfrm>
          <a:prstGeom prst="can">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548640" y="2651760"/>
            <a:ext cx="2103120" cy="320040"/>
          </a:xfrm>
          <a:prstGeom prst="rect">
            <a:avLst/>
          </a:prstGeom>
          <a:noFill/>
        </p:spPr>
        <p:txBody>
          <a:bodyPr wrap="square" lIns="0" tIns="0" rIns="0" bIns="0" anchor="t">
            <a:spAutoFit/>
          </a:bodyPr>
          <a:lstStyle/>
          <a:p>
            <a:pPr algn="ctr">
              <a:lnSpc>
                <a:spcPct val="100000"/>
              </a:lnSpc>
            </a:pPr>
            <a:r>
              <a:rPr sz="1400" b="0">
                <a:solidFill>
                  <a:srgbClr val="1F4E79"/>
                </a:solidFill>
                <a:latin typeface="Segoe UI Semibold"/>
              </a:rPr>
              <a:t>CricketSource</a:t>
            </a:r>
          </a:p>
        </p:txBody>
      </p:sp>
      <p:sp>
        <p:nvSpPr>
          <p:cNvPr id="9" name="TextBox 8"/>
          <p:cNvSpPr txBox="1"/>
          <p:nvPr/>
        </p:nvSpPr>
        <p:spPr>
          <a:xfrm>
            <a:off x="548640" y="2971800"/>
            <a:ext cx="2103120" cy="274320"/>
          </a:xfrm>
          <a:prstGeom prst="rect">
            <a:avLst/>
          </a:prstGeom>
          <a:noFill/>
        </p:spPr>
        <p:txBody>
          <a:bodyPr wrap="square" lIns="0" tIns="0" rIns="0" bIns="0" anchor="t">
            <a:spAutoFit/>
          </a:bodyPr>
          <a:lstStyle/>
          <a:p>
            <a:pPr algn="ctr">
              <a:lnSpc>
                <a:spcPct val="100000"/>
              </a:lnSpc>
            </a:pPr>
            <a:r>
              <a:rPr sz="1000" b="0">
                <a:solidFill>
                  <a:srgbClr val="6B7785"/>
                </a:solidFill>
                <a:latin typeface="Segoe UI"/>
              </a:rPr>
              <a:t>source system</a:t>
            </a:r>
          </a:p>
        </p:txBody>
      </p:sp>
      <p:sp>
        <p:nvSpPr>
          <p:cNvPr id="10" name="Rounded Rectangle 9"/>
          <p:cNvSpPr/>
          <p:nvPr/>
        </p:nvSpPr>
        <p:spPr>
          <a:xfrm>
            <a:off x="731520" y="3429000"/>
            <a:ext cx="1737360" cy="457200"/>
          </a:xfrm>
          <a:prstGeom prst="roundRect">
            <a:avLst>
              <a:gd name="adj" fmla="val 20000"/>
            </a:avLst>
          </a:prstGeom>
          <a:solidFill>
            <a:srgbClr val="EEF2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868680" y="3429000"/>
            <a:ext cx="1097280" cy="457200"/>
          </a:xfrm>
          <a:prstGeom prst="rect">
            <a:avLst/>
          </a:prstGeom>
          <a:noFill/>
        </p:spPr>
        <p:txBody>
          <a:bodyPr wrap="square" lIns="0" tIns="0" rIns="0" bIns="0" anchor="ctr">
            <a:spAutoFit/>
          </a:bodyPr>
          <a:lstStyle/>
          <a:p>
            <a:pPr algn="l">
              <a:lnSpc>
                <a:spcPct val="100000"/>
              </a:lnSpc>
            </a:pPr>
            <a:r>
              <a:rPr sz="1100" b="0">
                <a:solidFill>
                  <a:srgbClr val="24323F"/>
                </a:solidFill>
                <a:latin typeface="Segoe UI"/>
              </a:rPr>
              <a:t>dbo.Teams</a:t>
            </a:r>
          </a:p>
        </p:txBody>
      </p:sp>
      <p:sp>
        <p:nvSpPr>
          <p:cNvPr id="12" name="TextBox 11"/>
          <p:cNvSpPr txBox="1"/>
          <p:nvPr/>
        </p:nvSpPr>
        <p:spPr>
          <a:xfrm>
            <a:off x="1920240" y="3429000"/>
            <a:ext cx="457200" cy="457200"/>
          </a:xfrm>
          <a:prstGeom prst="rect">
            <a:avLst/>
          </a:prstGeom>
          <a:noFill/>
        </p:spPr>
        <p:txBody>
          <a:bodyPr wrap="square" lIns="0" tIns="0" rIns="0" bIns="0" anchor="ctr">
            <a:spAutoFit/>
          </a:bodyPr>
          <a:lstStyle/>
          <a:p>
            <a:pPr algn="r">
              <a:lnSpc>
                <a:spcPct val="100000"/>
              </a:lnSpc>
            </a:pPr>
            <a:r>
              <a:rPr sz="1100" b="1">
                <a:solidFill>
                  <a:srgbClr val="1F4E79"/>
                </a:solidFill>
                <a:latin typeface="Segoe UI"/>
              </a:rPr>
              <a:t>8</a:t>
            </a:r>
          </a:p>
        </p:txBody>
      </p:sp>
      <p:sp>
        <p:nvSpPr>
          <p:cNvPr id="13" name="Rounded Rectangle 12"/>
          <p:cNvSpPr/>
          <p:nvPr/>
        </p:nvSpPr>
        <p:spPr>
          <a:xfrm>
            <a:off x="731520" y="3995928"/>
            <a:ext cx="1737360" cy="457200"/>
          </a:xfrm>
          <a:prstGeom prst="roundRect">
            <a:avLst>
              <a:gd name="adj" fmla="val 20000"/>
            </a:avLst>
          </a:prstGeom>
          <a:solidFill>
            <a:srgbClr val="EEF2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868680" y="3995928"/>
            <a:ext cx="1097280" cy="457200"/>
          </a:xfrm>
          <a:prstGeom prst="rect">
            <a:avLst/>
          </a:prstGeom>
          <a:noFill/>
        </p:spPr>
        <p:txBody>
          <a:bodyPr wrap="square" lIns="0" tIns="0" rIns="0" bIns="0" anchor="ctr">
            <a:spAutoFit/>
          </a:bodyPr>
          <a:lstStyle/>
          <a:p>
            <a:pPr algn="l">
              <a:lnSpc>
                <a:spcPct val="100000"/>
              </a:lnSpc>
            </a:pPr>
            <a:r>
              <a:rPr sz="1100" b="0">
                <a:solidFill>
                  <a:srgbClr val="24323F"/>
                </a:solidFill>
                <a:latin typeface="Segoe UI"/>
              </a:rPr>
              <a:t>dbo.Players</a:t>
            </a:r>
          </a:p>
        </p:txBody>
      </p:sp>
      <p:sp>
        <p:nvSpPr>
          <p:cNvPr id="15" name="TextBox 14"/>
          <p:cNvSpPr txBox="1"/>
          <p:nvPr/>
        </p:nvSpPr>
        <p:spPr>
          <a:xfrm>
            <a:off x="1920240" y="3995928"/>
            <a:ext cx="457200" cy="457200"/>
          </a:xfrm>
          <a:prstGeom prst="rect">
            <a:avLst/>
          </a:prstGeom>
          <a:noFill/>
        </p:spPr>
        <p:txBody>
          <a:bodyPr wrap="square" lIns="0" tIns="0" rIns="0" bIns="0" anchor="ctr">
            <a:spAutoFit/>
          </a:bodyPr>
          <a:lstStyle/>
          <a:p>
            <a:pPr algn="r">
              <a:lnSpc>
                <a:spcPct val="100000"/>
              </a:lnSpc>
            </a:pPr>
            <a:r>
              <a:rPr sz="1100" b="1">
                <a:solidFill>
                  <a:srgbClr val="1F4E79"/>
                </a:solidFill>
                <a:latin typeface="Segoe UI"/>
              </a:rPr>
              <a:t>152</a:t>
            </a:r>
          </a:p>
        </p:txBody>
      </p:sp>
      <p:sp>
        <p:nvSpPr>
          <p:cNvPr id="16" name="Rounded Rectangle 15"/>
          <p:cNvSpPr/>
          <p:nvPr/>
        </p:nvSpPr>
        <p:spPr>
          <a:xfrm>
            <a:off x="731520" y="4562856"/>
            <a:ext cx="1737360" cy="457200"/>
          </a:xfrm>
          <a:prstGeom prst="roundRect">
            <a:avLst>
              <a:gd name="adj" fmla="val 20000"/>
            </a:avLst>
          </a:prstGeom>
          <a:solidFill>
            <a:srgbClr val="EEF2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868680" y="4562856"/>
            <a:ext cx="1097280" cy="457200"/>
          </a:xfrm>
          <a:prstGeom prst="rect">
            <a:avLst/>
          </a:prstGeom>
          <a:noFill/>
        </p:spPr>
        <p:txBody>
          <a:bodyPr wrap="square" lIns="0" tIns="0" rIns="0" bIns="0" anchor="ctr">
            <a:spAutoFit/>
          </a:bodyPr>
          <a:lstStyle/>
          <a:p>
            <a:pPr algn="l">
              <a:lnSpc>
                <a:spcPct val="100000"/>
              </a:lnSpc>
            </a:pPr>
            <a:r>
              <a:rPr sz="1100" b="0">
                <a:solidFill>
                  <a:srgbClr val="24323F"/>
                </a:solidFill>
                <a:latin typeface="Segoe UI"/>
              </a:rPr>
              <a:t>dbo.Venues</a:t>
            </a:r>
          </a:p>
        </p:txBody>
      </p:sp>
      <p:sp>
        <p:nvSpPr>
          <p:cNvPr id="18" name="TextBox 17"/>
          <p:cNvSpPr txBox="1"/>
          <p:nvPr/>
        </p:nvSpPr>
        <p:spPr>
          <a:xfrm>
            <a:off x="1920240" y="4562856"/>
            <a:ext cx="457200" cy="457200"/>
          </a:xfrm>
          <a:prstGeom prst="rect">
            <a:avLst/>
          </a:prstGeom>
          <a:noFill/>
        </p:spPr>
        <p:txBody>
          <a:bodyPr wrap="square" lIns="0" tIns="0" rIns="0" bIns="0" anchor="ctr">
            <a:spAutoFit/>
          </a:bodyPr>
          <a:lstStyle/>
          <a:p>
            <a:pPr algn="r">
              <a:lnSpc>
                <a:spcPct val="100000"/>
              </a:lnSpc>
            </a:pPr>
            <a:r>
              <a:rPr sz="1100" b="1">
                <a:solidFill>
                  <a:srgbClr val="1F4E79"/>
                </a:solidFill>
                <a:latin typeface="Segoe UI"/>
              </a:rPr>
              <a:t>8</a:t>
            </a:r>
          </a:p>
        </p:txBody>
      </p:sp>
      <p:sp>
        <p:nvSpPr>
          <p:cNvPr id="19" name="Rounded Rectangle 18"/>
          <p:cNvSpPr/>
          <p:nvPr/>
        </p:nvSpPr>
        <p:spPr>
          <a:xfrm>
            <a:off x="2834640" y="1645920"/>
            <a:ext cx="3840480" cy="4526280"/>
          </a:xfrm>
          <a:prstGeom prst="roundRect">
            <a:avLst>
              <a:gd name="adj" fmla="val 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Oval 19"/>
          <p:cNvSpPr/>
          <p:nvPr/>
        </p:nvSpPr>
        <p:spPr>
          <a:xfrm>
            <a:off x="4411980" y="1851660"/>
            <a:ext cx="685800" cy="685800"/>
          </a:xfrm>
          <a:prstGeom prst="ellipse">
            <a:avLst/>
          </a:prstGeom>
          <a:solidFill>
            <a:srgbClr val="F2A9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Can 20"/>
          <p:cNvSpPr/>
          <p:nvPr/>
        </p:nvSpPr>
        <p:spPr>
          <a:xfrm>
            <a:off x="4604004" y="2016252"/>
            <a:ext cx="301752" cy="356616"/>
          </a:xfrm>
          <a:prstGeom prst="can">
            <a:avLst/>
          </a:prstGeom>
          <a:solidFill>
            <a:srgbClr val="1F4E7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2834640" y="2651760"/>
            <a:ext cx="3840480" cy="320040"/>
          </a:xfrm>
          <a:prstGeom prst="rect">
            <a:avLst/>
          </a:prstGeom>
          <a:noFill/>
        </p:spPr>
        <p:txBody>
          <a:bodyPr wrap="square" lIns="0" tIns="0" rIns="0" bIns="0" anchor="t">
            <a:spAutoFit/>
          </a:bodyPr>
          <a:lstStyle/>
          <a:p>
            <a:pPr algn="ctr">
              <a:lnSpc>
                <a:spcPct val="100000"/>
              </a:lnSpc>
            </a:pPr>
            <a:r>
              <a:rPr sz="1400" b="0">
                <a:solidFill>
                  <a:srgbClr val="1F4E79"/>
                </a:solidFill>
                <a:latin typeface="Segoe UI Semibold"/>
              </a:rPr>
              <a:t>CricketDW</a:t>
            </a:r>
          </a:p>
        </p:txBody>
      </p:sp>
      <p:sp>
        <p:nvSpPr>
          <p:cNvPr id="23" name="TextBox 22"/>
          <p:cNvSpPr txBox="1"/>
          <p:nvPr/>
        </p:nvSpPr>
        <p:spPr>
          <a:xfrm>
            <a:off x="2834640" y="2971800"/>
            <a:ext cx="3840480" cy="274320"/>
          </a:xfrm>
          <a:prstGeom prst="rect">
            <a:avLst/>
          </a:prstGeom>
          <a:noFill/>
        </p:spPr>
        <p:txBody>
          <a:bodyPr wrap="square" lIns="0" tIns="0" rIns="0" bIns="0" anchor="t">
            <a:spAutoFit/>
          </a:bodyPr>
          <a:lstStyle/>
          <a:p>
            <a:pPr algn="ctr">
              <a:lnSpc>
                <a:spcPct val="100000"/>
              </a:lnSpc>
            </a:pPr>
            <a:r>
              <a:rPr sz="1000" b="0">
                <a:solidFill>
                  <a:srgbClr val="6B7785"/>
                </a:solidFill>
                <a:latin typeface="Segoe UI"/>
              </a:rPr>
              <a:t>everything this project builds</a:t>
            </a:r>
          </a:p>
        </p:txBody>
      </p:sp>
      <p:sp>
        <p:nvSpPr>
          <p:cNvPr id="24" name="Rounded Rectangle 23"/>
          <p:cNvSpPr/>
          <p:nvPr/>
        </p:nvSpPr>
        <p:spPr>
          <a:xfrm>
            <a:off x="3017520" y="3310128"/>
            <a:ext cx="777240" cy="457200"/>
          </a:xfrm>
          <a:prstGeom prst="roundRect">
            <a:avLst>
              <a:gd name="adj" fmla="val 20000"/>
            </a:avLst>
          </a:prstGeom>
          <a:solidFill>
            <a:srgbClr val="A9652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TextBox 24"/>
          <p:cNvSpPr txBox="1"/>
          <p:nvPr/>
        </p:nvSpPr>
        <p:spPr>
          <a:xfrm>
            <a:off x="3017520" y="3310128"/>
            <a:ext cx="777240" cy="457200"/>
          </a:xfrm>
          <a:prstGeom prst="rect">
            <a:avLst/>
          </a:prstGeom>
          <a:noFill/>
        </p:spPr>
        <p:txBody>
          <a:bodyPr wrap="square" lIns="0" tIns="0" rIns="0" bIns="0" anchor="ctr">
            <a:spAutoFit/>
          </a:bodyPr>
          <a:lstStyle/>
          <a:p>
            <a:pPr algn="ctr">
              <a:lnSpc>
                <a:spcPct val="100000"/>
              </a:lnSpc>
            </a:pPr>
            <a:r>
              <a:rPr sz="1100" b="1">
                <a:solidFill>
                  <a:srgbClr val="FFFFFF"/>
                </a:solidFill>
                <a:latin typeface="Segoe UI"/>
              </a:rPr>
              <a:t>stg</a:t>
            </a:r>
          </a:p>
        </p:txBody>
      </p:sp>
      <p:sp>
        <p:nvSpPr>
          <p:cNvPr id="26" name="TextBox 25"/>
          <p:cNvSpPr txBox="1"/>
          <p:nvPr/>
        </p:nvSpPr>
        <p:spPr>
          <a:xfrm>
            <a:off x="3886200" y="3310128"/>
            <a:ext cx="868680" cy="457200"/>
          </a:xfrm>
          <a:prstGeom prst="rect">
            <a:avLst/>
          </a:prstGeom>
          <a:noFill/>
        </p:spPr>
        <p:txBody>
          <a:bodyPr wrap="square" lIns="0" tIns="0" rIns="0" bIns="0" anchor="ctr">
            <a:spAutoFit/>
          </a:bodyPr>
          <a:lstStyle/>
          <a:p>
            <a:pPr algn="l">
              <a:lnSpc>
                <a:spcPct val="100000"/>
              </a:lnSpc>
            </a:pPr>
            <a:r>
              <a:rPr sz="1100" b="1">
                <a:solidFill>
                  <a:srgbClr val="24323F"/>
                </a:solidFill>
                <a:latin typeface="Segoe UI"/>
              </a:rPr>
              <a:t>32 tables</a:t>
            </a:r>
          </a:p>
        </p:txBody>
      </p:sp>
      <p:sp>
        <p:nvSpPr>
          <p:cNvPr id="27" name="TextBox 26"/>
          <p:cNvSpPr txBox="1"/>
          <p:nvPr/>
        </p:nvSpPr>
        <p:spPr>
          <a:xfrm>
            <a:off x="4754880" y="3310128"/>
            <a:ext cx="1874519" cy="457200"/>
          </a:xfrm>
          <a:prstGeom prst="rect">
            <a:avLst/>
          </a:prstGeom>
          <a:noFill/>
        </p:spPr>
        <p:txBody>
          <a:bodyPr wrap="square" lIns="0" tIns="0" rIns="0" bIns="0" anchor="ctr">
            <a:spAutoFit/>
          </a:bodyPr>
          <a:lstStyle/>
          <a:p>
            <a:pPr algn="l">
              <a:lnSpc>
                <a:spcPct val="100000"/>
              </a:lnSpc>
            </a:pPr>
            <a:r>
              <a:rPr sz="900" b="0">
                <a:solidFill>
                  <a:srgbClr val="6B7785"/>
                </a:solidFill>
                <a:latin typeface="Segoe UI"/>
              </a:rPr>
              <a:t>Bronze raw · Silver valid · load-ready</a:t>
            </a:r>
          </a:p>
        </p:txBody>
      </p:sp>
      <p:sp>
        <p:nvSpPr>
          <p:cNvPr id="28" name="Rounded Rectangle 27"/>
          <p:cNvSpPr/>
          <p:nvPr/>
        </p:nvSpPr>
        <p:spPr>
          <a:xfrm>
            <a:off x="3017520" y="3877056"/>
            <a:ext cx="777240" cy="457200"/>
          </a:xfrm>
          <a:prstGeom prst="roundRect">
            <a:avLst>
              <a:gd name="adj" fmla="val 20000"/>
            </a:avLst>
          </a:prstGeom>
          <a:solidFill>
            <a:srgbClr val="F2A9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TextBox 28"/>
          <p:cNvSpPr txBox="1"/>
          <p:nvPr/>
        </p:nvSpPr>
        <p:spPr>
          <a:xfrm>
            <a:off x="3017520" y="3877056"/>
            <a:ext cx="777240" cy="457200"/>
          </a:xfrm>
          <a:prstGeom prst="rect">
            <a:avLst/>
          </a:prstGeom>
          <a:noFill/>
        </p:spPr>
        <p:txBody>
          <a:bodyPr wrap="square" lIns="0" tIns="0" rIns="0" bIns="0" anchor="ctr">
            <a:spAutoFit/>
          </a:bodyPr>
          <a:lstStyle/>
          <a:p>
            <a:pPr algn="ctr">
              <a:lnSpc>
                <a:spcPct val="100000"/>
              </a:lnSpc>
            </a:pPr>
            <a:r>
              <a:rPr sz="1100" b="1">
                <a:solidFill>
                  <a:srgbClr val="1F4E79"/>
                </a:solidFill>
                <a:latin typeface="Segoe UI"/>
              </a:rPr>
              <a:t>dw</a:t>
            </a:r>
          </a:p>
        </p:txBody>
      </p:sp>
      <p:sp>
        <p:nvSpPr>
          <p:cNvPr id="30" name="TextBox 29"/>
          <p:cNvSpPr txBox="1"/>
          <p:nvPr/>
        </p:nvSpPr>
        <p:spPr>
          <a:xfrm>
            <a:off x="3886200" y="3877056"/>
            <a:ext cx="868680" cy="457200"/>
          </a:xfrm>
          <a:prstGeom prst="rect">
            <a:avLst/>
          </a:prstGeom>
          <a:noFill/>
        </p:spPr>
        <p:txBody>
          <a:bodyPr wrap="square" lIns="0" tIns="0" rIns="0" bIns="0" anchor="ctr">
            <a:spAutoFit/>
          </a:bodyPr>
          <a:lstStyle/>
          <a:p>
            <a:pPr algn="l">
              <a:lnSpc>
                <a:spcPct val="100000"/>
              </a:lnSpc>
            </a:pPr>
            <a:r>
              <a:rPr sz="1100" b="1">
                <a:solidFill>
                  <a:srgbClr val="24323F"/>
                </a:solidFill>
                <a:latin typeface="Segoe UI"/>
              </a:rPr>
              <a:t>16 tables</a:t>
            </a:r>
          </a:p>
        </p:txBody>
      </p:sp>
      <p:sp>
        <p:nvSpPr>
          <p:cNvPr id="31" name="TextBox 30"/>
          <p:cNvSpPr txBox="1"/>
          <p:nvPr/>
        </p:nvSpPr>
        <p:spPr>
          <a:xfrm>
            <a:off x="4754880" y="3877056"/>
            <a:ext cx="1874519" cy="457200"/>
          </a:xfrm>
          <a:prstGeom prst="rect">
            <a:avLst/>
          </a:prstGeom>
          <a:noFill/>
        </p:spPr>
        <p:txBody>
          <a:bodyPr wrap="square" lIns="0" tIns="0" rIns="0" bIns="0" anchor="ctr">
            <a:spAutoFit/>
          </a:bodyPr>
          <a:lstStyle/>
          <a:p>
            <a:pPr algn="l">
              <a:lnSpc>
                <a:spcPct val="100000"/>
              </a:lnSpc>
            </a:pPr>
            <a:r>
              <a:rPr sz="900" b="0">
                <a:solidFill>
                  <a:srgbClr val="6B7785"/>
                </a:solidFill>
                <a:latin typeface="Segoe UI"/>
              </a:rPr>
              <a:t>star schema: facts, dims, bridge</a:t>
            </a:r>
          </a:p>
        </p:txBody>
      </p:sp>
      <p:sp>
        <p:nvSpPr>
          <p:cNvPr id="32" name="Rounded Rectangle 31"/>
          <p:cNvSpPr/>
          <p:nvPr/>
        </p:nvSpPr>
        <p:spPr>
          <a:xfrm>
            <a:off x="3017520" y="4443984"/>
            <a:ext cx="777240" cy="457200"/>
          </a:xfrm>
          <a:prstGeom prst="roundRect">
            <a:avLst>
              <a:gd name="adj" fmla="val 20000"/>
            </a:avLst>
          </a:prstGeom>
          <a:solidFill>
            <a:srgbClr val="1F4E7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TextBox 32"/>
          <p:cNvSpPr txBox="1"/>
          <p:nvPr/>
        </p:nvSpPr>
        <p:spPr>
          <a:xfrm>
            <a:off x="3017520" y="4443984"/>
            <a:ext cx="777240" cy="457200"/>
          </a:xfrm>
          <a:prstGeom prst="rect">
            <a:avLst/>
          </a:prstGeom>
          <a:noFill/>
        </p:spPr>
        <p:txBody>
          <a:bodyPr wrap="square" lIns="0" tIns="0" rIns="0" bIns="0" anchor="ctr">
            <a:spAutoFit/>
          </a:bodyPr>
          <a:lstStyle/>
          <a:p>
            <a:pPr algn="ctr">
              <a:lnSpc>
                <a:spcPct val="100000"/>
              </a:lnSpc>
            </a:pPr>
            <a:r>
              <a:rPr sz="1100" b="1">
                <a:solidFill>
                  <a:srgbClr val="FFFFFF"/>
                </a:solidFill>
                <a:latin typeface="Segoe UI"/>
              </a:rPr>
              <a:t>rpt</a:t>
            </a:r>
          </a:p>
        </p:txBody>
      </p:sp>
      <p:sp>
        <p:nvSpPr>
          <p:cNvPr id="34" name="TextBox 33"/>
          <p:cNvSpPr txBox="1"/>
          <p:nvPr/>
        </p:nvSpPr>
        <p:spPr>
          <a:xfrm>
            <a:off x="3886200" y="4443984"/>
            <a:ext cx="868680" cy="457200"/>
          </a:xfrm>
          <a:prstGeom prst="rect">
            <a:avLst/>
          </a:prstGeom>
          <a:noFill/>
        </p:spPr>
        <p:txBody>
          <a:bodyPr wrap="square" lIns="0" tIns="0" rIns="0" bIns="0" anchor="ctr">
            <a:spAutoFit/>
          </a:bodyPr>
          <a:lstStyle/>
          <a:p>
            <a:pPr algn="l">
              <a:lnSpc>
                <a:spcPct val="100000"/>
              </a:lnSpc>
            </a:pPr>
            <a:r>
              <a:rPr sz="1100" b="1">
                <a:solidFill>
                  <a:srgbClr val="24323F"/>
                </a:solidFill>
                <a:latin typeface="Segoe UI"/>
              </a:rPr>
              <a:t>22 views</a:t>
            </a:r>
          </a:p>
        </p:txBody>
      </p:sp>
      <p:sp>
        <p:nvSpPr>
          <p:cNvPr id="35" name="TextBox 34"/>
          <p:cNvSpPr txBox="1"/>
          <p:nvPr/>
        </p:nvSpPr>
        <p:spPr>
          <a:xfrm>
            <a:off x="4754880" y="4443984"/>
            <a:ext cx="1874519" cy="457200"/>
          </a:xfrm>
          <a:prstGeom prst="rect">
            <a:avLst/>
          </a:prstGeom>
          <a:noFill/>
        </p:spPr>
        <p:txBody>
          <a:bodyPr wrap="square" lIns="0" tIns="0" rIns="0" bIns="0" anchor="ctr">
            <a:spAutoFit/>
          </a:bodyPr>
          <a:lstStyle/>
          <a:p>
            <a:pPr algn="l">
              <a:lnSpc>
                <a:spcPct val="100000"/>
              </a:lnSpc>
            </a:pPr>
            <a:r>
              <a:rPr sz="900" b="0">
                <a:solidFill>
                  <a:srgbClr val="6B7785"/>
                </a:solidFill>
                <a:latin typeface="Segoe UI"/>
              </a:rPr>
              <a:t>+ 10 business-rule functions</a:t>
            </a:r>
          </a:p>
        </p:txBody>
      </p:sp>
      <p:sp>
        <p:nvSpPr>
          <p:cNvPr id="36" name="Rounded Rectangle 35"/>
          <p:cNvSpPr/>
          <p:nvPr/>
        </p:nvSpPr>
        <p:spPr>
          <a:xfrm>
            <a:off x="3017520" y="5010912"/>
            <a:ext cx="777240" cy="457200"/>
          </a:xfrm>
          <a:prstGeom prst="roundRect">
            <a:avLst>
              <a:gd name="adj" fmla="val 20000"/>
            </a:avLst>
          </a:prstGeom>
          <a:solidFill>
            <a:srgbClr val="7C8A9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7" name="TextBox 36"/>
          <p:cNvSpPr txBox="1"/>
          <p:nvPr/>
        </p:nvSpPr>
        <p:spPr>
          <a:xfrm>
            <a:off x="3017520" y="5010912"/>
            <a:ext cx="777240" cy="457200"/>
          </a:xfrm>
          <a:prstGeom prst="rect">
            <a:avLst/>
          </a:prstGeom>
          <a:noFill/>
        </p:spPr>
        <p:txBody>
          <a:bodyPr wrap="square" lIns="0" tIns="0" rIns="0" bIns="0" anchor="ctr">
            <a:spAutoFit/>
          </a:bodyPr>
          <a:lstStyle/>
          <a:p>
            <a:pPr algn="ctr">
              <a:lnSpc>
                <a:spcPct val="100000"/>
              </a:lnSpc>
            </a:pPr>
            <a:r>
              <a:rPr sz="1100" b="1">
                <a:solidFill>
                  <a:srgbClr val="FFFFFF"/>
                </a:solidFill>
                <a:latin typeface="Segoe UI"/>
              </a:rPr>
              <a:t>audit</a:t>
            </a:r>
          </a:p>
        </p:txBody>
      </p:sp>
      <p:sp>
        <p:nvSpPr>
          <p:cNvPr id="38" name="TextBox 37"/>
          <p:cNvSpPr txBox="1"/>
          <p:nvPr/>
        </p:nvSpPr>
        <p:spPr>
          <a:xfrm>
            <a:off x="3886200" y="5010912"/>
            <a:ext cx="868680" cy="457200"/>
          </a:xfrm>
          <a:prstGeom prst="rect">
            <a:avLst/>
          </a:prstGeom>
          <a:noFill/>
        </p:spPr>
        <p:txBody>
          <a:bodyPr wrap="square" lIns="0" tIns="0" rIns="0" bIns="0" anchor="ctr">
            <a:spAutoFit/>
          </a:bodyPr>
          <a:lstStyle/>
          <a:p>
            <a:pPr algn="l">
              <a:lnSpc>
                <a:spcPct val="100000"/>
              </a:lnSpc>
            </a:pPr>
            <a:r>
              <a:rPr sz="1100" b="1">
                <a:solidFill>
                  <a:srgbClr val="24323F"/>
                </a:solidFill>
                <a:latin typeface="Segoe UI"/>
              </a:rPr>
              <a:t>6 tables</a:t>
            </a:r>
          </a:p>
        </p:txBody>
      </p:sp>
      <p:sp>
        <p:nvSpPr>
          <p:cNvPr id="39" name="TextBox 38"/>
          <p:cNvSpPr txBox="1"/>
          <p:nvPr/>
        </p:nvSpPr>
        <p:spPr>
          <a:xfrm>
            <a:off x="4754880" y="5010912"/>
            <a:ext cx="1874519" cy="457200"/>
          </a:xfrm>
          <a:prstGeom prst="rect">
            <a:avLst/>
          </a:prstGeom>
          <a:noFill/>
        </p:spPr>
        <p:txBody>
          <a:bodyPr wrap="square" lIns="0" tIns="0" rIns="0" bIns="0" anchor="ctr">
            <a:spAutoFit/>
          </a:bodyPr>
          <a:lstStyle/>
          <a:p>
            <a:pPr algn="l">
              <a:lnSpc>
                <a:spcPct val="100000"/>
              </a:lnSpc>
            </a:pPr>
            <a:r>
              <a:rPr sz="900" b="0">
                <a:solidFill>
                  <a:srgbClr val="6B7785"/>
                </a:solidFill>
                <a:latin typeface="Segoe UI"/>
              </a:rPr>
              <a:t>files, exceptions, runs, scores</a:t>
            </a:r>
          </a:p>
        </p:txBody>
      </p:sp>
      <p:sp>
        <p:nvSpPr>
          <p:cNvPr id="40" name="Rounded Rectangle 39"/>
          <p:cNvSpPr/>
          <p:nvPr/>
        </p:nvSpPr>
        <p:spPr>
          <a:xfrm>
            <a:off x="3017520" y="5577840"/>
            <a:ext cx="777240" cy="457200"/>
          </a:xfrm>
          <a:prstGeom prst="roundRect">
            <a:avLst>
              <a:gd name="adj" fmla="val 20000"/>
            </a:avLst>
          </a:prstGeom>
          <a:solidFill>
            <a:srgbClr val="4A90A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1" name="TextBox 40"/>
          <p:cNvSpPr txBox="1"/>
          <p:nvPr/>
        </p:nvSpPr>
        <p:spPr>
          <a:xfrm>
            <a:off x="3017520" y="5577840"/>
            <a:ext cx="777240" cy="457200"/>
          </a:xfrm>
          <a:prstGeom prst="rect">
            <a:avLst/>
          </a:prstGeom>
          <a:noFill/>
        </p:spPr>
        <p:txBody>
          <a:bodyPr wrap="square" lIns="0" tIns="0" rIns="0" bIns="0" anchor="ctr">
            <a:spAutoFit/>
          </a:bodyPr>
          <a:lstStyle/>
          <a:p>
            <a:pPr algn="ctr">
              <a:lnSpc>
                <a:spcPct val="100000"/>
              </a:lnSpc>
            </a:pPr>
            <a:r>
              <a:rPr sz="1100" b="1">
                <a:solidFill>
                  <a:srgbClr val="FFFFFF"/>
                </a:solidFill>
                <a:latin typeface="Segoe UI"/>
              </a:rPr>
              <a:t>config</a:t>
            </a:r>
          </a:p>
        </p:txBody>
      </p:sp>
      <p:sp>
        <p:nvSpPr>
          <p:cNvPr id="42" name="TextBox 41"/>
          <p:cNvSpPr txBox="1"/>
          <p:nvPr/>
        </p:nvSpPr>
        <p:spPr>
          <a:xfrm>
            <a:off x="3886200" y="5577840"/>
            <a:ext cx="868680" cy="457200"/>
          </a:xfrm>
          <a:prstGeom prst="rect">
            <a:avLst/>
          </a:prstGeom>
          <a:noFill/>
        </p:spPr>
        <p:txBody>
          <a:bodyPr wrap="square" lIns="0" tIns="0" rIns="0" bIns="0" anchor="ctr">
            <a:spAutoFit/>
          </a:bodyPr>
          <a:lstStyle/>
          <a:p>
            <a:pPr algn="l">
              <a:lnSpc>
                <a:spcPct val="100000"/>
              </a:lnSpc>
            </a:pPr>
            <a:r>
              <a:rPr sz="1100" b="1">
                <a:solidFill>
                  <a:srgbClr val="24323F"/>
                </a:solidFill>
                <a:latin typeface="Segoe UI"/>
              </a:rPr>
              <a:t>3 tables</a:t>
            </a:r>
          </a:p>
        </p:txBody>
      </p:sp>
      <p:sp>
        <p:nvSpPr>
          <p:cNvPr id="43" name="TextBox 42"/>
          <p:cNvSpPr txBox="1"/>
          <p:nvPr/>
        </p:nvSpPr>
        <p:spPr>
          <a:xfrm>
            <a:off x="4754880" y="5577840"/>
            <a:ext cx="1874519" cy="457200"/>
          </a:xfrm>
          <a:prstGeom prst="rect">
            <a:avLst/>
          </a:prstGeom>
          <a:noFill/>
        </p:spPr>
        <p:txBody>
          <a:bodyPr wrap="square" lIns="0" tIns="0" rIns="0" bIns="0" anchor="ctr">
            <a:spAutoFit/>
          </a:bodyPr>
          <a:lstStyle/>
          <a:p>
            <a:pPr algn="l">
              <a:lnSpc>
                <a:spcPct val="100000"/>
              </a:lnSpc>
            </a:pPr>
            <a:r>
              <a:rPr sz="900" b="0">
                <a:solidFill>
                  <a:srgbClr val="6B7785"/>
                </a:solidFill>
                <a:latin typeface="Segoe UI"/>
              </a:rPr>
              <a:t>DQ rules, entities, parameters</a:t>
            </a:r>
          </a:p>
        </p:txBody>
      </p:sp>
      <p:sp>
        <p:nvSpPr>
          <p:cNvPr id="44" name="Rounded Rectangle 43"/>
          <p:cNvSpPr/>
          <p:nvPr/>
        </p:nvSpPr>
        <p:spPr>
          <a:xfrm>
            <a:off x="6858000" y="1645920"/>
            <a:ext cx="4754880" cy="566928"/>
          </a:xfrm>
          <a:prstGeom prst="roundRect">
            <a:avLst>
              <a:gd name="adj" fmla="val 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5" name="TextBox 44"/>
          <p:cNvSpPr txBox="1"/>
          <p:nvPr/>
        </p:nvSpPr>
        <p:spPr>
          <a:xfrm>
            <a:off x="7040880" y="1645920"/>
            <a:ext cx="2103120" cy="566928"/>
          </a:xfrm>
          <a:prstGeom prst="rect">
            <a:avLst/>
          </a:prstGeom>
          <a:noFill/>
        </p:spPr>
        <p:txBody>
          <a:bodyPr wrap="square" lIns="0" tIns="0" rIns="0" bIns="0" anchor="ctr">
            <a:spAutoFit/>
          </a:bodyPr>
          <a:lstStyle/>
          <a:p>
            <a:pPr algn="l">
              <a:lnSpc>
                <a:spcPct val="100000"/>
              </a:lnSpc>
            </a:pPr>
            <a:r>
              <a:rPr sz="1200" b="0">
                <a:solidFill>
                  <a:srgbClr val="1F4E79"/>
                </a:solidFill>
                <a:latin typeface="Segoe UI Semibold"/>
              </a:rPr>
              <a:t>Scripted, idempotent DDL</a:t>
            </a:r>
          </a:p>
        </p:txBody>
      </p:sp>
      <p:sp>
        <p:nvSpPr>
          <p:cNvPr id="46" name="TextBox 45"/>
          <p:cNvSpPr txBox="1"/>
          <p:nvPr/>
        </p:nvSpPr>
        <p:spPr>
          <a:xfrm>
            <a:off x="9144000" y="1645920"/>
            <a:ext cx="2377440" cy="566928"/>
          </a:xfrm>
          <a:prstGeom prst="rect">
            <a:avLst/>
          </a:prstGeom>
          <a:noFill/>
        </p:spPr>
        <p:txBody>
          <a:bodyPr wrap="square" lIns="0" tIns="0" rIns="0" bIns="0" anchor="ctr">
            <a:spAutoFit/>
          </a:bodyPr>
          <a:lstStyle/>
          <a:p>
            <a:pPr algn="l">
              <a:lnSpc>
                <a:spcPct val="100000"/>
              </a:lnSpc>
            </a:pPr>
            <a:r>
              <a:rPr sz="1000" b="0">
                <a:solidFill>
                  <a:srgbClr val="6B7785"/>
                </a:solidFill>
                <a:latin typeface="Segoe UI"/>
              </a:rPr>
              <a:t>11 scripts, one batch file, re-runnable</a:t>
            </a:r>
          </a:p>
        </p:txBody>
      </p:sp>
      <p:sp>
        <p:nvSpPr>
          <p:cNvPr id="47" name="Rounded Rectangle 46"/>
          <p:cNvSpPr/>
          <p:nvPr/>
        </p:nvSpPr>
        <p:spPr>
          <a:xfrm>
            <a:off x="6858000" y="2295144"/>
            <a:ext cx="4754880" cy="566928"/>
          </a:xfrm>
          <a:prstGeom prst="roundRect">
            <a:avLst>
              <a:gd name="adj" fmla="val 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8" name="TextBox 47"/>
          <p:cNvSpPr txBox="1"/>
          <p:nvPr/>
        </p:nvSpPr>
        <p:spPr>
          <a:xfrm>
            <a:off x="7040880" y="2295144"/>
            <a:ext cx="2103120" cy="566928"/>
          </a:xfrm>
          <a:prstGeom prst="rect">
            <a:avLst/>
          </a:prstGeom>
          <a:noFill/>
        </p:spPr>
        <p:txBody>
          <a:bodyPr wrap="square" lIns="0" tIns="0" rIns="0" bIns="0" anchor="ctr">
            <a:spAutoFit/>
          </a:bodyPr>
          <a:lstStyle/>
          <a:p>
            <a:pPr algn="l">
              <a:lnSpc>
                <a:spcPct val="100000"/>
              </a:lnSpc>
            </a:pPr>
            <a:r>
              <a:rPr sz="1200" b="0">
                <a:solidFill>
                  <a:srgbClr val="1F4E79"/>
                </a:solidFill>
                <a:latin typeface="Segoe UI Semibold"/>
              </a:rPr>
              <a:t>Type-2 team history</a:t>
            </a:r>
          </a:p>
        </p:txBody>
      </p:sp>
      <p:sp>
        <p:nvSpPr>
          <p:cNvPr id="49" name="TextBox 48"/>
          <p:cNvSpPr txBox="1"/>
          <p:nvPr/>
        </p:nvSpPr>
        <p:spPr>
          <a:xfrm>
            <a:off x="9144000" y="2295144"/>
            <a:ext cx="2377440" cy="566928"/>
          </a:xfrm>
          <a:prstGeom prst="rect">
            <a:avLst/>
          </a:prstGeom>
          <a:noFill/>
        </p:spPr>
        <p:txBody>
          <a:bodyPr wrap="square" lIns="0" tIns="0" rIns="0" bIns="0" anchor="ctr">
            <a:spAutoFit/>
          </a:bodyPr>
          <a:lstStyle/>
          <a:p>
            <a:pPr algn="l">
              <a:lnSpc>
                <a:spcPct val="100000"/>
              </a:lnSpc>
            </a:pPr>
            <a:r>
              <a:rPr sz="1000" b="0">
                <a:solidFill>
                  <a:srgbClr val="6B7785"/>
                </a:solidFill>
                <a:latin typeface="Segoe UI"/>
              </a:rPr>
              <a:t>Dim_Team versions; keys stay stable</a:t>
            </a:r>
          </a:p>
        </p:txBody>
      </p:sp>
      <p:sp>
        <p:nvSpPr>
          <p:cNvPr id="50" name="Rounded Rectangle 49"/>
          <p:cNvSpPr/>
          <p:nvPr/>
        </p:nvSpPr>
        <p:spPr>
          <a:xfrm>
            <a:off x="6858000" y="2944368"/>
            <a:ext cx="4754880" cy="566928"/>
          </a:xfrm>
          <a:prstGeom prst="roundRect">
            <a:avLst>
              <a:gd name="adj" fmla="val 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1" name="TextBox 50"/>
          <p:cNvSpPr txBox="1"/>
          <p:nvPr/>
        </p:nvSpPr>
        <p:spPr>
          <a:xfrm>
            <a:off x="7040880" y="2944368"/>
            <a:ext cx="2103120" cy="566928"/>
          </a:xfrm>
          <a:prstGeom prst="rect">
            <a:avLst/>
          </a:prstGeom>
          <a:noFill/>
        </p:spPr>
        <p:txBody>
          <a:bodyPr wrap="square" lIns="0" tIns="0" rIns="0" bIns="0" anchor="ctr">
            <a:spAutoFit/>
          </a:bodyPr>
          <a:lstStyle/>
          <a:p>
            <a:pPr algn="l">
              <a:lnSpc>
                <a:spcPct val="100000"/>
              </a:lnSpc>
            </a:pPr>
            <a:r>
              <a:rPr sz="1200" b="0">
                <a:solidFill>
                  <a:srgbClr val="1F4E79"/>
                </a:solidFill>
                <a:latin typeface="Segoe UI Semibold"/>
              </a:rPr>
              <a:t>One-transaction publish</a:t>
            </a:r>
          </a:p>
        </p:txBody>
      </p:sp>
      <p:sp>
        <p:nvSpPr>
          <p:cNvPr id="52" name="TextBox 51"/>
          <p:cNvSpPr txBox="1"/>
          <p:nvPr/>
        </p:nvSpPr>
        <p:spPr>
          <a:xfrm>
            <a:off x="9144000" y="2944368"/>
            <a:ext cx="2377440" cy="566928"/>
          </a:xfrm>
          <a:prstGeom prst="rect">
            <a:avLst/>
          </a:prstGeom>
          <a:noFill/>
        </p:spPr>
        <p:txBody>
          <a:bodyPr wrap="square" lIns="0" tIns="0" rIns="0" bIns="0" anchor="ctr">
            <a:spAutoFit/>
          </a:bodyPr>
          <a:lstStyle/>
          <a:p>
            <a:pPr algn="l">
              <a:lnSpc>
                <a:spcPct val="100000"/>
              </a:lnSpc>
            </a:pPr>
            <a:r>
              <a:rPr sz="1000" b="0">
                <a:solidFill>
                  <a:srgbClr val="6B7785"/>
                </a:solidFill>
                <a:latin typeface="Segoe UI"/>
              </a:rPr>
              <a:t>dw.usp_PublishWarehouse: all or nothing</a:t>
            </a:r>
          </a:p>
        </p:txBody>
      </p:sp>
      <p:sp>
        <p:nvSpPr>
          <p:cNvPr id="53" name="Rounded Rectangle 52"/>
          <p:cNvSpPr/>
          <p:nvPr/>
        </p:nvSpPr>
        <p:spPr>
          <a:xfrm>
            <a:off x="6858000" y="3593591"/>
            <a:ext cx="4754880" cy="566928"/>
          </a:xfrm>
          <a:prstGeom prst="roundRect">
            <a:avLst>
              <a:gd name="adj" fmla="val 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4" name="TextBox 53"/>
          <p:cNvSpPr txBox="1"/>
          <p:nvPr/>
        </p:nvSpPr>
        <p:spPr>
          <a:xfrm>
            <a:off x="7040880" y="3593591"/>
            <a:ext cx="2103120" cy="566928"/>
          </a:xfrm>
          <a:prstGeom prst="rect">
            <a:avLst/>
          </a:prstGeom>
          <a:noFill/>
        </p:spPr>
        <p:txBody>
          <a:bodyPr wrap="square" lIns="0" tIns="0" rIns="0" bIns="0" anchor="ctr">
            <a:spAutoFit/>
          </a:bodyPr>
          <a:lstStyle/>
          <a:p>
            <a:pPr algn="l">
              <a:lnSpc>
                <a:spcPct val="100000"/>
              </a:lnSpc>
            </a:pPr>
            <a:r>
              <a:rPr sz="1200" b="0">
                <a:solidFill>
                  <a:srgbClr val="1F4E79"/>
                </a:solidFill>
                <a:latin typeface="Segoe UI Semibold"/>
              </a:rPr>
              <a:t>Rules stored as data</a:t>
            </a:r>
          </a:p>
        </p:txBody>
      </p:sp>
      <p:sp>
        <p:nvSpPr>
          <p:cNvPr id="55" name="TextBox 54"/>
          <p:cNvSpPr txBox="1"/>
          <p:nvPr/>
        </p:nvSpPr>
        <p:spPr>
          <a:xfrm>
            <a:off x="9144000" y="3593591"/>
            <a:ext cx="2377440" cy="566928"/>
          </a:xfrm>
          <a:prstGeom prst="rect">
            <a:avLst/>
          </a:prstGeom>
          <a:noFill/>
        </p:spPr>
        <p:txBody>
          <a:bodyPr wrap="square" lIns="0" tIns="0" rIns="0" bIns="0" anchor="ctr">
            <a:spAutoFit/>
          </a:bodyPr>
          <a:lstStyle/>
          <a:p>
            <a:pPr algn="l">
              <a:lnSpc>
                <a:spcPct val="100000"/>
              </a:lnSpc>
            </a:pPr>
            <a:r>
              <a:rPr sz="1000" b="0">
                <a:solidFill>
                  <a:srgbClr val="6B7785"/>
                </a:solidFill>
                <a:latin typeface="Segoe UI"/>
              </a:rPr>
              <a:t>config.DQRule: 43 rules, set-based</a:t>
            </a:r>
          </a:p>
        </p:txBody>
      </p:sp>
      <p:sp>
        <p:nvSpPr>
          <p:cNvPr id="56" name="Rounded Rectangle 55"/>
          <p:cNvSpPr/>
          <p:nvPr/>
        </p:nvSpPr>
        <p:spPr>
          <a:xfrm>
            <a:off x="6858000" y="4242816"/>
            <a:ext cx="4754880" cy="566928"/>
          </a:xfrm>
          <a:prstGeom prst="roundRect">
            <a:avLst>
              <a:gd name="adj" fmla="val 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7" name="TextBox 56"/>
          <p:cNvSpPr txBox="1"/>
          <p:nvPr/>
        </p:nvSpPr>
        <p:spPr>
          <a:xfrm>
            <a:off x="7040880" y="4242816"/>
            <a:ext cx="2103120" cy="566928"/>
          </a:xfrm>
          <a:prstGeom prst="rect">
            <a:avLst/>
          </a:prstGeom>
          <a:noFill/>
        </p:spPr>
        <p:txBody>
          <a:bodyPr wrap="square" lIns="0" tIns="0" rIns="0" bIns="0" anchor="ctr">
            <a:spAutoFit/>
          </a:bodyPr>
          <a:lstStyle/>
          <a:p>
            <a:pPr algn="l">
              <a:lnSpc>
                <a:spcPct val="100000"/>
              </a:lnSpc>
            </a:pPr>
            <a:r>
              <a:rPr sz="1200" b="0">
                <a:solidFill>
                  <a:srgbClr val="1F4E79"/>
                </a:solidFill>
                <a:latin typeface="Segoe UI Semibold"/>
              </a:rPr>
              <a:t>Business rules as functions</a:t>
            </a:r>
          </a:p>
        </p:txBody>
      </p:sp>
      <p:sp>
        <p:nvSpPr>
          <p:cNvPr id="58" name="TextBox 57"/>
          <p:cNvSpPr txBox="1"/>
          <p:nvPr/>
        </p:nvSpPr>
        <p:spPr>
          <a:xfrm>
            <a:off x="9144000" y="4242816"/>
            <a:ext cx="2377440" cy="566928"/>
          </a:xfrm>
          <a:prstGeom prst="rect">
            <a:avLst/>
          </a:prstGeom>
          <a:noFill/>
        </p:spPr>
        <p:txBody>
          <a:bodyPr wrap="square" lIns="0" tIns="0" rIns="0" bIns="0" anchor="ctr">
            <a:spAutoFit/>
          </a:bodyPr>
          <a:lstStyle/>
          <a:p>
            <a:pPr algn="l">
              <a:lnSpc>
                <a:spcPct val="100000"/>
              </a:lnSpc>
            </a:pPr>
            <a:r>
              <a:rPr sz="1000" b="0">
                <a:solidFill>
                  <a:srgbClr val="6B7785"/>
                </a:solidFill>
                <a:latin typeface="Segoe UI"/>
              </a:rPr>
              <a:t>rpt.fn_StrikeRate, fn_Economy, fn_WinPct</a:t>
            </a:r>
          </a:p>
        </p:txBody>
      </p:sp>
      <p:sp>
        <p:nvSpPr>
          <p:cNvPr id="59" name="Rounded Rectangle 58"/>
          <p:cNvSpPr/>
          <p:nvPr/>
        </p:nvSpPr>
        <p:spPr>
          <a:xfrm>
            <a:off x="6858000" y="4892040"/>
            <a:ext cx="4754880" cy="566928"/>
          </a:xfrm>
          <a:prstGeom prst="roundRect">
            <a:avLst>
              <a:gd name="adj" fmla="val 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0" name="TextBox 59"/>
          <p:cNvSpPr txBox="1"/>
          <p:nvPr/>
        </p:nvSpPr>
        <p:spPr>
          <a:xfrm>
            <a:off x="7040880" y="4892040"/>
            <a:ext cx="2103120" cy="566928"/>
          </a:xfrm>
          <a:prstGeom prst="rect">
            <a:avLst/>
          </a:prstGeom>
          <a:noFill/>
        </p:spPr>
        <p:txBody>
          <a:bodyPr wrap="square" lIns="0" tIns="0" rIns="0" bIns="0" anchor="ctr">
            <a:spAutoFit/>
          </a:bodyPr>
          <a:lstStyle/>
          <a:p>
            <a:pPr algn="l">
              <a:lnSpc>
                <a:spcPct val="100000"/>
              </a:lnSpc>
            </a:pPr>
            <a:r>
              <a:rPr sz="1200" b="0">
                <a:solidFill>
                  <a:srgbClr val="1F4E79"/>
                </a:solidFill>
                <a:latin typeface="Segoe UI Semibold"/>
              </a:rPr>
              <a:t>Integrity and speed</a:t>
            </a:r>
          </a:p>
        </p:txBody>
      </p:sp>
      <p:sp>
        <p:nvSpPr>
          <p:cNvPr id="61" name="TextBox 60"/>
          <p:cNvSpPr txBox="1"/>
          <p:nvPr/>
        </p:nvSpPr>
        <p:spPr>
          <a:xfrm>
            <a:off x="9144000" y="4892040"/>
            <a:ext cx="2377440" cy="566928"/>
          </a:xfrm>
          <a:prstGeom prst="rect">
            <a:avLst/>
          </a:prstGeom>
          <a:noFill/>
        </p:spPr>
        <p:txBody>
          <a:bodyPr wrap="square" lIns="0" tIns="0" rIns="0" bIns="0" anchor="ctr">
            <a:spAutoFit/>
          </a:bodyPr>
          <a:lstStyle/>
          <a:p>
            <a:pPr algn="l">
              <a:lnSpc>
                <a:spcPct val="100000"/>
              </a:lnSpc>
            </a:pPr>
            <a:r>
              <a:rPr sz="1000" b="0">
                <a:solidFill>
                  <a:srgbClr val="6B7785"/>
                </a:solidFill>
                <a:latin typeface="Segoe UI"/>
              </a:rPr>
              <a:t>36 FKs · 50 indexes · over summary</a:t>
            </a:r>
          </a:p>
        </p:txBody>
      </p:sp>
      <p:sp>
        <p:nvSpPr>
          <p:cNvPr id="62" name="Rounded Rectangle 61"/>
          <p:cNvSpPr/>
          <p:nvPr/>
        </p:nvSpPr>
        <p:spPr>
          <a:xfrm>
            <a:off x="6858000" y="5541264"/>
            <a:ext cx="4754880" cy="566928"/>
          </a:xfrm>
          <a:prstGeom prst="roundRect">
            <a:avLst>
              <a:gd name="adj" fmla="val 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3" name="TextBox 62"/>
          <p:cNvSpPr txBox="1"/>
          <p:nvPr/>
        </p:nvSpPr>
        <p:spPr>
          <a:xfrm>
            <a:off x="7040880" y="5541264"/>
            <a:ext cx="2103120" cy="566928"/>
          </a:xfrm>
          <a:prstGeom prst="rect">
            <a:avLst/>
          </a:prstGeom>
          <a:noFill/>
        </p:spPr>
        <p:txBody>
          <a:bodyPr wrap="square" lIns="0" tIns="0" rIns="0" bIns="0" anchor="ctr">
            <a:spAutoFit/>
          </a:bodyPr>
          <a:lstStyle/>
          <a:p>
            <a:pPr algn="l">
              <a:lnSpc>
                <a:spcPct val="100000"/>
              </a:lnSpc>
            </a:pPr>
            <a:r>
              <a:rPr sz="1200" b="0">
                <a:solidFill>
                  <a:srgbClr val="1F4E79"/>
                </a:solidFill>
                <a:latin typeface="Segoe UI Semibold"/>
              </a:rPr>
              <a:t>Fail-safe orchestration</a:t>
            </a:r>
          </a:p>
        </p:txBody>
      </p:sp>
      <p:sp>
        <p:nvSpPr>
          <p:cNvPr id="64" name="TextBox 63"/>
          <p:cNvSpPr txBox="1"/>
          <p:nvPr/>
        </p:nvSpPr>
        <p:spPr>
          <a:xfrm>
            <a:off x="9144000" y="5541264"/>
            <a:ext cx="2377440" cy="566928"/>
          </a:xfrm>
          <a:prstGeom prst="rect">
            <a:avLst/>
          </a:prstGeom>
          <a:noFill/>
        </p:spPr>
        <p:txBody>
          <a:bodyPr wrap="square" lIns="0" tIns="0" rIns="0" bIns="0" anchor="ctr">
            <a:spAutoFit/>
          </a:bodyPr>
          <a:lstStyle/>
          <a:p>
            <a:pPr algn="l">
              <a:lnSpc>
                <a:spcPct val="100000"/>
              </a:lnSpc>
            </a:pPr>
            <a:r>
              <a:rPr sz="1000" b="0">
                <a:solidFill>
                  <a:srgbClr val="6B7785"/>
                </a:solidFill>
                <a:latin typeface="Segoe UI"/>
              </a:rPr>
              <a:t>audit.vw_StuckRun blocks unsafe reruns</a:t>
            </a:r>
          </a:p>
        </p:txBody>
      </p:sp>
      <p:sp>
        <p:nvSpPr>
          <p:cNvPr id="65" name="TextBox 64"/>
          <p:cNvSpPr txBox="1"/>
          <p:nvPr/>
        </p:nvSpPr>
        <p:spPr>
          <a:xfrm>
            <a:off x="548640" y="6428232"/>
            <a:ext cx="5486400" cy="228600"/>
          </a:xfrm>
          <a:prstGeom prst="rect">
            <a:avLst/>
          </a:prstGeom>
          <a:noFill/>
        </p:spPr>
        <p:txBody>
          <a:bodyPr wrap="square" lIns="0" tIns="0" rIns="0" bIns="0" anchor="t">
            <a:spAutoFit/>
          </a:bodyPr>
          <a:lstStyle/>
          <a:p>
            <a:pPr algn="l">
              <a:lnSpc>
                <a:spcPct val="100000"/>
              </a:lnSpc>
            </a:pPr>
            <a:r>
              <a:rPr sz="1000" b="0">
                <a:solidFill>
                  <a:srgbClr val="6B7785"/>
                </a:solidFill>
                <a:latin typeface="Segoe UI"/>
              </a:rPr>
              <a:t>Cricket Analytics Platform</a:t>
            </a:r>
          </a:p>
        </p:txBody>
      </p:sp>
      <p:sp>
        <p:nvSpPr>
          <p:cNvPr id="66" name="TextBox 65"/>
          <p:cNvSpPr txBox="1"/>
          <p:nvPr/>
        </p:nvSpPr>
        <p:spPr>
          <a:xfrm>
            <a:off x="10725912" y="6428232"/>
            <a:ext cx="914400" cy="228600"/>
          </a:xfrm>
          <a:prstGeom prst="rect">
            <a:avLst/>
          </a:prstGeom>
          <a:noFill/>
        </p:spPr>
        <p:txBody>
          <a:bodyPr wrap="square" lIns="0" tIns="0" rIns="0" bIns="0" anchor="t">
            <a:spAutoFit/>
          </a:bodyPr>
          <a:lstStyle/>
          <a:p>
            <a:pPr algn="r">
              <a:lnSpc>
                <a:spcPct val="100000"/>
              </a:lnSpc>
            </a:pPr>
            <a:r>
              <a:rPr sz="1000" b="0">
                <a:solidFill>
                  <a:srgbClr val="6B7785"/>
                </a:solidFill>
                <a:latin typeface="Segoe UI"/>
              </a:rPr>
              <a:t>8</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EEF2F6"/>
        </a:solidFill>
        <a:effectLst/>
      </p:bgPr>
    </p:bg>
    <p:spTree>
      <p:nvGrpSpPr>
        <p:cNvPr id="1" name=""/>
        <p:cNvGrpSpPr/>
        <p:nvPr/>
      </p:nvGrpSpPr>
      <p:grpSpPr>
        <a:xfrm>
          <a:off x="0" y="0"/>
          <a:ext cx="0" cy="0"/>
          <a:chOff x="0" y="0"/>
          <a:chExt cx="0" cy="0"/>
        </a:xfrm>
      </p:grpSpPr>
      <p:sp>
        <p:nvSpPr>
          <p:cNvPr id="2" name="TextBox 1"/>
          <p:cNvSpPr txBox="1"/>
          <p:nvPr/>
        </p:nvSpPr>
        <p:spPr>
          <a:xfrm>
            <a:off x="548640" y="146304"/>
            <a:ext cx="10058400" cy="256032"/>
          </a:xfrm>
          <a:prstGeom prst="rect">
            <a:avLst/>
          </a:prstGeom>
          <a:noFill/>
        </p:spPr>
        <p:txBody>
          <a:bodyPr wrap="square" lIns="0" tIns="0" rIns="0" bIns="0" anchor="t">
            <a:spAutoFit/>
          </a:bodyPr>
          <a:lstStyle/>
          <a:p>
            <a:pPr algn="l">
              <a:lnSpc>
                <a:spcPct val="100000"/>
              </a:lnSpc>
            </a:pPr>
            <a:r>
              <a:rPr sz="1000" b="1">
                <a:solidFill>
                  <a:srgbClr val="F2A900"/>
                </a:solidFill>
                <a:latin typeface="Segoe UI"/>
              </a:rPr>
              <a:t>04  ·  SQL IMPLEMENTATION</a:t>
            </a:r>
            <a:r>
              <a:rPr sz="1000" b="0">
                <a:solidFill>
                  <a:srgbClr val="6B7785"/>
                </a:solidFill>
                <a:latin typeface="Segoe UI"/>
              </a:rPr>
              <a:t>     Brief §5</a:t>
            </a:r>
          </a:p>
        </p:txBody>
      </p:sp>
      <p:sp>
        <p:nvSpPr>
          <p:cNvPr id="3" name="TextBox 2"/>
          <p:cNvSpPr txBox="1"/>
          <p:nvPr/>
        </p:nvSpPr>
        <p:spPr>
          <a:xfrm>
            <a:off x="548640" y="411480"/>
            <a:ext cx="11064240" cy="640080"/>
          </a:xfrm>
          <a:prstGeom prst="rect">
            <a:avLst/>
          </a:prstGeom>
          <a:noFill/>
        </p:spPr>
        <p:txBody>
          <a:bodyPr wrap="square" lIns="0" tIns="0" rIns="0" bIns="0" anchor="t">
            <a:spAutoFit/>
          </a:bodyPr>
          <a:lstStyle/>
          <a:p>
            <a:pPr algn="l">
              <a:lnSpc>
                <a:spcPct val="100000"/>
              </a:lnSpc>
            </a:pPr>
            <a:r>
              <a:rPr sz="3200" b="0">
                <a:solidFill>
                  <a:srgbClr val="1F4E79"/>
                </a:solidFill>
                <a:latin typeface="Segoe UI Semibold"/>
              </a:rPr>
              <a:t>SQL: the star schema</a:t>
            </a:r>
          </a:p>
        </p:txBody>
      </p:sp>
      <p:sp>
        <p:nvSpPr>
          <p:cNvPr id="4" name="TextBox 3"/>
          <p:cNvSpPr txBox="1"/>
          <p:nvPr/>
        </p:nvSpPr>
        <p:spPr>
          <a:xfrm>
            <a:off x="548640" y="1024128"/>
            <a:ext cx="11064240" cy="411480"/>
          </a:xfrm>
          <a:prstGeom prst="rect">
            <a:avLst/>
          </a:prstGeom>
          <a:noFill/>
        </p:spPr>
        <p:txBody>
          <a:bodyPr wrap="square" lIns="0" tIns="0" rIns="0" bIns="0" anchor="t">
            <a:spAutoFit/>
          </a:bodyPr>
          <a:lstStyle/>
          <a:p>
            <a:pPr algn="l">
              <a:lnSpc>
                <a:spcPct val="100000"/>
              </a:lnSpc>
            </a:pPr>
            <a:r>
              <a:rPr sz="1500" b="0">
                <a:solidFill>
                  <a:srgbClr val="6B7785"/>
                </a:solidFill>
                <a:latin typeface="Segoe UI"/>
              </a:rPr>
              <a:t>Facts at declared grains, conformed dimensions, 36 enforced foreign keys</a:t>
            </a:r>
          </a:p>
        </p:txBody>
      </p:sp>
      <p:cxnSp>
        <p:nvCxnSpPr>
          <p:cNvPr id="5" name="Connector 4"/>
          <p:cNvCxnSpPr/>
          <p:nvPr/>
        </p:nvCxnSpPr>
        <p:spPr>
          <a:xfrm>
            <a:off x="2651760" y="1929384"/>
            <a:ext cx="2331720" cy="0"/>
          </a:xfrm>
          <a:prstGeom prst="line">
            <a:avLst/>
          </a:prstGeom>
          <a:ln w="19050">
            <a:solidFill>
              <a:srgbClr val="C3CBD4"/>
            </a:solidFill>
          </a:ln>
        </p:spPr>
        <p:style>
          <a:lnRef idx="2">
            <a:schemeClr val="accent1"/>
          </a:lnRef>
          <a:fillRef idx="0">
            <a:schemeClr val="accent1"/>
          </a:fillRef>
          <a:effectRef idx="1">
            <a:schemeClr val="accent1"/>
          </a:effectRef>
          <a:fontRef idx="minor">
            <a:schemeClr val="tx1"/>
          </a:fontRef>
        </p:style>
      </p:cxnSp>
      <p:cxnSp>
        <p:nvCxnSpPr>
          <p:cNvPr id="6" name="Connector 5"/>
          <p:cNvCxnSpPr/>
          <p:nvPr/>
        </p:nvCxnSpPr>
        <p:spPr>
          <a:xfrm flipV="1">
            <a:off x="2651760" y="1929384"/>
            <a:ext cx="2331720" cy="777240"/>
          </a:xfrm>
          <a:prstGeom prst="line">
            <a:avLst/>
          </a:prstGeom>
          <a:ln w="19050">
            <a:solidFill>
              <a:srgbClr val="C3CBD4"/>
            </a:solidFill>
          </a:ln>
        </p:spPr>
        <p:style>
          <a:lnRef idx="2">
            <a:schemeClr val="accent1"/>
          </a:lnRef>
          <a:fillRef idx="0">
            <a:schemeClr val="accent1"/>
          </a:fillRef>
          <a:effectRef idx="1">
            <a:schemeClr val="accent1"/>
          </a:effectRef>
          <a:fontRef idx="minor">
            <a:schemeClr val="tx1"/>
          </a:fontRef>
        </p:style>
      </p:cxnSp>
      <p:cxnSp>
        <p:nvCxnSpPr>
          <p:cNvPr id="7" name="Connector 6"/>
          <p:cNvCxnSpPr/>
          <p:nvPr/>
        </p:nvCxnSpPr>
        <p:spPr>
          <a:xfrm flipV="1">
            <a:off x="2651760" y="1929384"/>
            <a:ext cx="2331720" cy="1554479"/>
          </a:xfrm>
          <a:prstGeom prst="line">
            <a:avLst/>
          </a:prstGeom>
          <a:ln w="19050">
            <a:solidFill>
              <a:srgbClr val="C3CBD4"/>
            </a:solidFill>
          </a:ln>
        </p:spPr>
        <p:style>
          <a:lnRef idx="2">
            <a:schemeClr val="accent1"/>
          </a:lnRef>
          <a:fillRef idx="0">
            <a:schemeClr val="accent1"/>
          </a:fillRef>
          <a:effectRef idx="1">
            <a:schemeClr val="accent1"/>
          </a:effectRef>
          <a:fontRef idx="minor">
            <a:schemeClr val="tx1"/>
          </a:fontRef>
        </p:style>
      </p:cxnSp>
      <p:cxnSp>
        <p:nvCxnSpPr>
          <p:cNvPr id="8" name="Connector 7"/>
          <p:cNvCxnSpPr/>
          <p:nvPr/>
        </p:nvCxnSpPr>
        <p:spPr>
          <a:xfrm>
            <a:off x="7178040" y="1929384"/>
            <a:ext cx="2331720" cy="0"/>
          </a:xfrm>
          <a:prstGeom prst="line">
            <a:avLst/>
          </a:prstGeom>
          <a:ln w="19050">
            <a:solidFill>
              <a:srgbClr val="C3CBD4"/>
            </a:solidFill>
          </a:ln>
        </p:spPr>
        <p:style>
          <a:lnRef idx="2">
            <a:schemeClr val="accent1"/>
          </a:lnRef>
          <a:fillRef idx="0">
            <a:schemeClr val="accent1"/>
          </a:fillRef>
          <a:effectRef idx="1">
            <a:schemeClr val="accent1"/>
          </a:effectRef>
          <a:fontRef idx="minor">
            <a:schemeClr val="tx1"/>
          </a:fontRef>
        </p:style>
      </p:cxnSp>
      <p:cxnSp>
        <p:nvCxnSpPr>
          <p:cNvPr id="9" name="Connector 8"/>
          <p:cNvCxnSpPr/>
          <p:nvPr/>
        </p:nvCxnSpPr>
        <p:spPr>
          <a:xfrm>
            <a:off x="10561320" y="2212848"/>
            <a:ext cx="0" cy="210312"/>
          </a:xfrm>
          <a:prstGeom prst="line">
            <a:avLst/>
          </a:prstGeom>
          <a:ln w="19050">
            <a:solidFill>
              <a:srgbClr val="C3CBD4"/>
            </a:solidFill>
          </a:ln>
        </p:spPr>
        <p:style>
          <a:lnRef idx="2">
            <a:schemeClr val="accent1"/>
          </a:lnRef>
          <a:fillRef idx="0">
            <a:schemeClr val="accent1"/>
          </a:fillRef>
          <a:effectRef idx="1">
            <a:schemeClr val="accent1"/>
          </a:effectRef>
          <a:fontRef idx="minor">
            <a:schemeClr val="tx1"/>
          </a:fontRef>
        </p:style>
      </p:cxnSp>
      <p:cxnSp>
        <p:nvCxnSpPr>
          <p:cNvPr id="10" name="Connector 9"/>
          <p:cNvCxnSpPr/>
          <p:nvPr/>
        </p:nvCxnSpPr>
        <p:spPr>
          <a:xfrm>
            <a:off x="10561320" y="2990088"/>
            <a:ext cx="0" cy="210312"/>
          </a:xfrm>
          <a:prstGeom prst="line">
            <a:avLst/>
          </a:prstGeom>
          <a:ln w="19050">
            <a:solidFill>
              <a:srgbClr val="C3CBD4"/>
            </a:solidFill>
          </a:ln>
        </p:spPr>
        <p:style>
          <a:lnRef idx="2">
            <a:schemeClr val="accent1"/>
          </a:lnRef>
          <a:fillRef idx="0">
            <a:schemeClr val="accent1"/>
          </a:fillRef>
          <a:effectRef idx="1">
            <a:schemeClr val="accent1"/>
          </a:effectRef>
          <a:fontRef idx="minor">
            <a:schemeClr val="tx1"/>
          </a:fontRef>
        </p:style>
      </p:cxnSp>
      <p:cxnSp>
        <p:nvCxnSpPr>
          <p:cNvPr id="11" name="Connector 10"/>
          <p:cNvCxnSpPr/>
          <p:nvPr/>
        </p:nvCxnSpPr>
        <p:spPr>
          <a:xfrm>
            <a:off x="6080760" y="2212848"/>
            <a:ext cx="0" cy="438912"/>
          </a:xfrm>
          <a:prstGeom prst="line">
            <a:avLst/>
          </a:prstGeom>
          <a:ln w="19050">
            <a:solidFill>
              <a:srgbClr val="C3CBD4"/>
            </a:solidFill>
          </a:ln>
        </p:spPr>
        <p:style>
          <a:lnRef idx="2">
            <a:schemeClr val="accent1"/>
          </a:lnRef>
          <a:fillRef idx="0">
            <a:schemeClr val="accent1"/>
          </a:fillRef>
          <a:effectRef idx="1">
            <a:schemeClr val="accent1"/>
          </a:effectRef>
          <a:fontRef idx="minor">
            <a:schemeClr val="tx1"/>
          </a:fontRef>
        </p:style>
      </p:cxnSp>
      <p:cxnSp>
        <p:nvCxnSpPr>
          <p:cNvPr id="12" name="Connector 11"/>
          <p:cNvCxnSpPr/>
          <p:nvPr/>
        </p:nvCxnSpPr>
        <p:spPr>
          <a:xfrm>
            <a:off x="6080760" y="3218688"/>
            <a:ext cx="0" cy="393192"/>
          </a:xfrm>
          <a:prstGeom prst="line">
            <a:avLst/>
          </a:prstGeom>
          <a:ln w="19050">
            <a:solidFill>
              <a:srgbClr val="C3CBD4"/>
            </a:solidFill>
          </a:ln>
        </p:spPr>
        <p:style>
          <a:lnRef idx="2">
            <a:schemeClr val="accent1"/>
          </a:lnRef>
          <a:fillRef idx="0">
            <a:schemeClr val="accent1"/>
          </a:fillRef>
          <a:effectRef idx="1">
            <a:schemeClr val="accent1"/>
          </a:effectRef>
          <a:fontRef idx="minor">
            <a:schemeClr val="tx1"/>
          </a:fontRef>
        </p:style>
      </p:cxnSp>
      <p:cxnSp>
        <p:nvCxnSpPr>
          <p:cNvPr id="13" name="Connector 12"/>
          <p:cNvCxnSpPr/>
          <p:nvPr/>
        </p:nvCxnSpPr>
        <p:spPr>
          <a:xfrm flipH="1">
            <a:off x="1600200" y="4178808"/>
            <a:ext cx="4480560" cy="530352"/>
          </a:xfrm>
          <a:prstGeom prst="line">
            <a:avLst/>
          </a:prstGeom>
          <a:ln w="19050">
            <a:solidFill>
              <a:srgbClr val="C3CBD4"/>
            </a:solidFill>
          </a:ln>
        </p:spPr>
        <p:style>
          <a:lnRef idx="2">
            <a:schemeClr val="accent1"/>
          </a:lnRef>
          <a:fillRef idx="0">
            <a:schemeClr val="accent1"/>
          </a:fillRef>
          <a:effectRef idx="1">
            <a:schemeClr val="accent1"/>
          </a:effectRef>
          <a:fontRef idx="minor">
            <a:schemeClr val="tx1"/>
          </a:fontRef>
        </p:style>
      </p:cxnSp>
      <p:cxnSp>
        <p:nvCxnSpPr>
          <p:cNvPr id="14" name="Connector 13"/>
          <p:cNvCxnSpPr/>
          <p:nvPr/>
        </p:nvCxnSpPr>
        <p:spPr>
          <a:xfrm flipH="1">
            <a:off x="3858768" y="4178808"/>
            <a:ext cx="2221992" cy="530352"/>
          </a:xfrm>
          <a:prstGeom prst="line">
            <a:avLst/>
          </a:prstGeom>
          <a:ln w="19050">
            <a:solidFill>
              <a:srgbClr val="C3CBD4"/>
            </a:solidFill>
          </a:ln>
        </p:spPr>
        <p:style>
          <a:lnRef idx="2">
            <a:schemeClr val="accent1"/>
          </a:lnRef>
          <a:fillRef idx="0">
            <a:schemeClr val="accent1"/>
          </a:fillRef>
          <a:effectRef idx="1">
            <a:schemeClr val="accent1"/>
          </a:effectRef>
          <a:fontRef idx="minor">
            <a:schemeClr val="tx1"/>
          </a:fontRef>
        </p:style>
      </p:cxnSp>
      <p:cxnSp>
        <p:nvCxnSpPr>
          <p:cNvPr id="15" name="Connector 14"/>
          <p:cNvCxnSpPr/>
          <p:nvPr/>
        </p:nvCxnSpPr>
        <p:spPr>
          <a:xfrm>
            <a:off x="6080760" y="4178808"/>
            <a:ext cx="36576" cy="530352"/>
          </a:xfrm>
          <a:prstGeom prst="line">
            <a:avLst/>
          </a:prstGeom>
          <a:ln w="19050">
            <a:solidFill>
              <a:srgbClr val="C3CBD4"/>
            </a:solidFill>
          </a:ln>
        </p:spPr>
        <p:style>
          <a:lnRef idx="2">
            <a:schemeClr val="accent1"/>
          </a:lnRef>
          <a:fillRef idx="0">
            <a:schemeClr val="accent1"/>
          </a:fillRef>
          <a:effectRef idx="1">
            <a:schemeClr val="accent1"/>
          </a:effectRef>
          <a:fontRef idx="minor">
            <a:schemeClr val="tx1"/>
          </a:fontRef>
        </p:style>
      </p:cxnSp>
      <p:cxnSp>
        <p:nvCxnSpPr>
          <p:cNvPr id="16" name="Connector 15"/>
          <p:cNvCxnSpPr/>
          <p:nvPr/>
        </p:nvCxnSpPr>
        <p:spPr>
          <a:xfrm>
            <a:off x="6080760" y="4178808"/>
            <a:ext cx="2295144" cy="530352"/>
          </a:xfrm>
          <a:prstGeom prst="line">
            <a:avLst/>
          </a:prstGeom>
          <a:ln w="19050">
            <a:solidFill>
              <a:srgbClr val="C3CBD4"/>
            </a:solidFill>
          </a:ln>
        </p:spPr>
        <p:style>
          <a:lnRef idx="2">
            <a:schemeClr val="accent1"/>
          </a:lnRef>
          <a:fillRef idx="0">
            <a:schemeClr val="accent1"/>
          </a:fillRef>
          <a:effectRef idx="1">
            <a:schemeClr val="accent1"/>
          </a:effectRef>
          <a:fontRef idx="minor">
            <a:schemeClr val="tx1"/>
          </a:fontRef>
        </p:style>
      </p:cxnSp>
      <p:cxnSp>
        <p:nvCxnSpPr>
          <p:cNvPr id="17" name="Connector 16"/>
          <p:cNvCxnSpPr/>
          <p:nvPr/>
        </p:nvCxnSpPr>
        <p:spPr>
          <a:xfrm>
            <a:off x="6080760" y="4178808"/>
            <a:ext cx="4553712" cy="530352"/>
          </a:xfrm>
          <a:prstGeom prst="line">
            <a:avLst/>
          </a:prstGeom>
          <a:ln w="19050">
            <a:solidFill>
              <a:srgbClr val="C3CBD4"/>
            </a:solidFill>
          </a:ln>
        </p:spPr>
        <p:style>
          <a:lnRef idx="2">
            <a:schemeClr val="accent1"/>
          </a:lnRef>
          <a:fillRef idx="0">
            <a:schemeClr val="accent1"/>
          </a:fillRef>
          <a:effectRef idx="1">
            <a:schemeClr val="accent1"/>
          </a:effectRef>
          <a:fontRef idx="minor">
            <a:schemeClr val="tx1"/>
          </a:fontRef>
        </p:style>
      </p:cxnSp>
      <p:sp>
        <p:nvSpPr>
          <p:cNvPr id="18" name="Rounded Rectangle 17"/>
          <p:cNvSpPr/>
          <p:nvPr/>
        </p:nvSpPr>
        <p:spPr>
          <a:xfrm>
            <a:off x="548640" y="1645920"/>
            <a:ext cx="2103120" cy="566928"/>
          </a:xfrm>
          <a:prstGeom prst="roundRect">
            <a:avLst>
              <a:gd name="adj" fmla="val 12000"/>
            </a:avLst>
          </a:prstGeom>
          <a:solidFill>
            <a:srgbClr val="FFFFFF"/>
          </a:solidFill>
          <a:ln w="15875">
            <a:solidFill>
              <a:srgbClr val="1F4E7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548640" y="1682496"/>
            <a:ext cx="2103120" cy="274320"/>
          </a:xfrm>
          <a:prstGeom prst="rect">
            <a:avLst/>
          </a:prstGeom>
          <a:noFill/>
        </p:spPr>
        <p:txBody>
          <a:bodyPr wrap="square" lIns="0" tIns="0" rIns="0" bIns="0" anchor="t">
            <a:spAutoFit/>
          </a:bodyPr>
          <a:lstStyle/>
          <a:p>
            <a:pPr algn="ctr">
              <a:lnSpc>
                <a:spcPct val="100000"/>
              </a:lnSpc>
            </a:pPr>
            <a:r>
              <a:rPr sz="1100" b="1">
                <a:solidFill>
                  <a:srgbClr val="1F4E79"/>
                </a:solidFill>
                <a:latin typeface="Segoe UI"/>
              </a:rPr>
              <a:t>Dim_Date</a:t>
            </a:r>
          </a:p>
        </p:txBody>
      </p:sp>
      <p:sp>
        <p:nvSpPr>
          <p:cNvPr id="20" name="TextBox 19"/>
          <p:cNvSpPr txBox="1"/>
          <p:nvPr/>
        </p:nvSpPr>
        <p:spPr>
          <a:xfrm>
            <a:off x="548640" y="1929384"/>
            <a:ext cx="2103120" cy="246888"/>
          </a:xfrm>
          <a:prstGeom prst="rect">
            <a:avLst/>
          </a:prstGeom>
          <a:noFill/>
        </p:spPr>
        <p:txBody>
          <a:bodyPr wrap="square" lIns="0" tIns="0" rIns="0" bIns="0" anchor="t">
            <a:spAutoFit/>
          </a:bodyPr>
          <a:lstStyle/>
          <a:p>
            <a:pPr algn="ctr">
              <a:lnSpc>
                <a:spcPct val="100000"/>
              </a:lnSpc>
            </a:pPr>
            <a:r>
              <a:rPr sz="900" b="0">
                <a:solidFill>
                  <a:srgbClr val="6B7785"/>
                </a:solidFill>
                <a:latin typeface="Segoe UI"/>
              </a:rPr>
              <a:t>day</a:t>
            </a:r>
          </a:p>
        </p:txBody>
      </p:sp>
      <p:sp>
        <p:nvSpPr>
          <p:cNvPr id="21" name="Rounded Rectangle 20"/>
          <p:cNvSpPr/>
          <p:nvPr/>
        </p:nvSpPr>
        <p:spPr>
          <a:xfrm>
            <a:off x="548640" y="2423160"/>
            <a:ext cx="2103120" cy="566928"/>
          </a:xfrm>
          <a:prstGeom prst="roundRect">
            <a:avLst>
              <a:gd name="adj" fmla="val 12000"/>
            </a:avLst>
          </a:prstGeom>
          <a:solidFill>
            <a:srgbClr val="FFFFFF"/>
          </a:solidFill>
          <a:ln w="15875">
            <a:solidFill>
              <a:srgbClr val="1F4E7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548640" y="2459736"/>
            <a:ext cx="2103120" cy="274320"/>
          </a:xfrm>
          <a:prstGeom prst="rect">
            <a:avLst/>
          </a:prstGeom>
          <a:noFill/>
        </p:spPr>
        <p:txBody>
          <a:bodyPr wrap="square" lIns="0" tIns="0" rIns="0" bIns="0" anchor="t">
            <a:spAutoFit/>
          </a:bodyPr>
          <a:lstStyle/>
          <a:p>
            <a:pPr algn="ctr">
              <a:lnSpc>
                <a:spcPct val="100000"/>
              </a:lnSpc>
            </a:pPr>
            <a:r>
              <a:rPr sz="1100" b="1">
                <a:solidFill>
                  <a:srgbClr val="1F4E79"/>
                </a:solidFill>
                <a:latin typeface="Segoe UI"/>
              </a:rPr>
              <a:t>Dim_Venue</a:t>
            </a:r>
          </a:p>
        </p:txBody>
      </p:sp>
      <p:sp>
        <p:nvSpPr>
          <p:cNvPr id="23" name="TextBox 22"/>
          <p:cNvSpPr txBox="1"/>
          <p:nvPr/>
        </p:nvSpPr>
        <p:spPr>
          <a:xfrm>
            <a:off x="548640" y="2706624"/>
            <a:ext cx="2103120" cy="246888"/>
          </a:xfrm>
          <a:prstGeom prst="rect">
            <a:avLst/>
          </a:prstGeom>
          <a:noFill/>
        </p:spPr>
        <p:txBody>
          <a:bodyPr wrap="square" lIns="0" tIns="0" rIns="0" bIns="0" anchor="t">
            <a:spAutoFit/>
          </a:bodyPr>
          <a:lstStyle/>
          <a:p>
            <a:pPr algn="ctr">
              <a:lnSpc>
                <a:spcPct val="100000"/>
              </a:lnSpc>
            </a:pPr>
            <a:r>
              <a:rPr sz="900" b="0">
                <a:solidFill>
                  <a:srgbClr val="6B7785"/>
                </a:solidFill>
                <a:latin typeface="Segoe UI"/>
              </a:rPr>
              <a:t>venue</a:t>
            </a:r>
          </a:p>
        </p:txBody>
      </p:sp>
      <p:sp>
        <p:nvSpPr>
          <p:cNvPr id="24" name="Rounded Rectangle 23"/>
          <p:cNvSpPr/>
          <p:nvPr/>
        </p:nvSpPr>
        <p:spPr>
          <a:xfrm>
            <a:off x="548640" y="3200400"/>
            <a:ext cx="2103120" cy="566928"/>
          </a:xfrm>
          <a:prstGeom prst="roundRect">
            <a:avLst>
              <a:gd name="adj" fmla="val 12000"/>
            </a:avLst>
          </a:prstGeom>
          <a:solidFill>
            <a:srgbClr val="FFFFFF"/>
          </a:solidFill>
          <a:ln w="15875">
            <a:solidFill>
              <a:srgbClr val="1F4E7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TextBox 24"/>
          <p:cNvSpPr txBox="1"/>
          <p:nvPr/>
        </p:nvSpPr>
        <p:spPr>
          <a:xfrm>
            <a:off x="548640" y="3236976"/>
            <a:ext cx="2103120" cy="274320"/>
          </a:xfrm>
          <a:prstGeom prst="rect">
            <a:avLst/>
          </a:prstGeom>
          <a:noFill/>
        </p:spPr>
        <p:txBody>
          <a:bodyPr wrap="square" lIns="0" tIns="0" rIns="0" bIns="0" anchor="t">
            <a:spAutoFit/>
          </a:bodyPr>
          <a:lstStyle/>
          <a:p>
            <a:pPr algn="ctr">
              <a:lnSpc>
                <a:spcPct val="100000"/>
              </a:lnSpc>
            </a:pPr>
            <a:r>
              <a:rPr sz="1100" b="1">
                <a:solidFill>
                  <a:srgbClr val="1F4E79"/>
                </a:solidFill>
                <a:latin typeface="Segoe UI"/>
              </a:rPr>
              <a:t>Dim_MatchFormat</a:t>
            </a:r>
          </a:p>
        </p:txBody>
      </p:sp>
      <p:sp>
        <p:nvSpPr>
          <p:cNvPr id="26" name="TextBox 25"/>
          <p:cNvSpPr txBox="1"/>
          <p:nvPr/>
        </p:nvSpPr>
        <p:spPr>
          <a:xfrm>
            <a:off x="548640" y="3483864"/>
            <a:ext cx="2103120" cy="246888"/>
          </a:xfrm>
          <a:prstGeom prst="rect">
            <a:avLst/>
          </a:prstGeom>
          <a:noFill/>
        </p:spPr>
        <p:txBody>
          <a:bodyPr wrap="square" lIns="0" tIns="0" rIns="0" bIns="0" anchor="t">
            <a:spAutoFit/>
          </a:bodyPr>
          <a:lstStyle/>
          <a:p>
            <a:pPr algn="ctr">
              <a:lnSpc>
                <a:spcPct val="100000"/>
              </a:lnSpc>
            </a:pPr>
            <a:r>
              <a:rPr sz="900" b="0">
                <a:solidFill>
                  <a:srgbClr val="6B7785"/>
                </a:solidFill>
                <a:latin typeface="Segoe UI"/>
              </a:rPr>
              <a:t>format</a:t>
            </a:r>
          </a:p>
        </p:txBody>
      </p:sp>
      <p:sp>
        <p:nvSpPr>
          <p:cNvPr id="27" name="Rounded Rectangle 26"/>
          <p:cNvSpPr/>
          <p:nvPr/>
        </p:nvSpPr>
        <p:spPr>
          <a:xfrm>
            <a:off x="9509760" y="1645920"/>
            <a:ext cx="2103120" cy="566928"/>
          </a:xfrm>
          <a:prstGeom prst="roundRect">
            <a:avLst>
              <a:gd name="adj" fmla="val 12000"/>
            </a:avLst>
          </a:prstGeom>
          <a:solidFill>
            <a:srgbClr val="FFFFFF"/>
          </a:solidFill>
          <a:ln w="15875">
            <a:solidFill>
              <a:srgbClr val="1F4E7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TextBox 27"/>
          <p:cNvSpPr txBox="1"/>
          <p:nvPr/>
        </p:nvSpPr>
        <p:spPr>
          <a:xfrm>
            <a:off x="9509760" y="1682496"/>
            <a:ext cx="2103120" cy="274320"/>
          </a:xfrm>
          <a:prstGeom prst="rect">
            <a:avLst/>
          </a:prstGeom>
          <a:noFill/>
        </p:spPr>
        <p:txBody>
          <a:bodyPr wrap="square" lIns="0" tIns="0" rIns="0" bIns="0" anchor="t">
            <a:spAutoFit/>
          </a:bodyPr>
          <a:lstStyle/>
          <a:p>
            <a:pPr algn="ctr">
              <a:lnSpc>
                <a:spcPct val="100000"/>
              </a:lnSpc>
            </a:pPr>
            <a:r>
              <a:rPr sz="1100" b="1">
                <a:solidFill>
                  <a:srgbClr val="1F4E79"/>
                </a:solidFill>
                <a:latin typeface="Segoe UI"/>
              </a:rPr>
              <a:t>Dim_Team</a:t>
            </a:r>
          </a:p>
        </p:txBody>
      </p:sp>
      <p:sp>
        <p:nvSpPr>
          <p:cNvPr id="29" name="TextBox 28"/>
          <p:cNvSpPr txBox="1"/>
          <p:nvPr/>
        </p:nvSpPr>
        <p:spPr>
          <a:xfrm>
            <a:off x="9509760" y="1929384"/>
            <a:ext cx="2103120" cy="246888"/>
          </a:xfrm>
          <a:prstGeom prst="rect">
            <a:avLst/>
          </a:prstGeom>
          <a:noFill/>
        </p:spPr>
        <p:txBody>
          <a:bodyPr wrap="square" lIns="0" tIns="0" rIns="0" bIns="0" anchor="t">
            <a:spAutoFit/>
          </a:bodyPr>
          <a:lstStyle/>
          <a:p>
            <a:pPr algn="ctr">
              <a:lnSpc>
                <a:spcPct val="100000"/>
              </a:lnSpc>
            </a:pPr>
            <a:r>
              <a:rPr sz="900" b="0">
                <a:solidFill>
                  <a:srgbClr val="6B7785"/>
                </a:solidFill>
                <a:latin typeface="Segoe UI"/>
              </a:rPr>
              <a:t>team version (Type-2)</a:t>
            </a:r>
          </a:p>
        </p:txBody>
      </p:sp>
      <p:sp>
        <p:nvSpPr>
          <p:cNvPr id="30" name="Rounded Rectangle 29"/>
          <p:cNvSpPr/>
          <p:nvPr/>
        </p:nvSpPr>
        <p:spPr>
          <a:xfrm>
            <a:off x="9509760" y="2423160"/>
            <a:ext cx="2103120" cy="566928"/>
          </a:xfrm>
          <a:prstGeom prst="roundRect">
            <a:avLst>
              <a:gd name="adj" fmla="val 12000"/>
            </a:avLst>
          </a:prstGeom>
          <a:solidFill>
            <a:srgbClr val="FFFFFF"/>
          </a:solidFill>
          <a:ln w="15875">
            <a:solidFill>
              <a:srgbClr val="1F4E7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TextBox 30"/>
          <p:cNvSpPr txBox="1"/>
          <p:nvPr/>
        </p:nvSpPr>
        <p:spPr>
          <a:xfrm>
            <a:off x="9509760" y="2459736"/>
            <a:ext cx="2103120" cy="274320"/>
          </a:xfrm>
          <a:prstGeom prst="rect">
            <a:avLst/>
          </a:prstGeom>
          <a:noFill/>
        </p:spPr>
        <p:txBody>
          <a:bodyPr wrap="square" lIns="0" tIns="0" rIns="0" bIns="0" anchor="t">
            <a:spAutoFit/>
          </a:bodyPr>
          <a:lstStyle/>
          <a:p>
            <a:pPr algn="ctr">
              <a:lnSpc>
                <a:spcPct val="100000"/>
              </a:lnSpc>
            </a:pPr>
            <a:r>
              <a:rPr sz="1100" b="1">
                <a:solidFill>
                  <a:srgbClr val="1F4E79"/>
                </a:solidFill>
                <a:latin typeface="Segoe UI"/>
              </a:rPr>
              <a:t>Dim_Player</a:t>
            </a:r>
          </a:p>
        </p:txBody>
      </p:sp>
      <p:sp>
        <p:nvSpPr>
          <p:cNvPr id="32" name="TextBox 31"/>
          <p:cNvSpPr txBox="1"/>
          <p:nvPr/>
        </p:nvSpPr>
        <p:spPr>
          <a:xfrm>
            <a:off x="9509760" y="2706624"/>
            <a:ext cx="2103120" cy="246888"/>
          </a:xfrm>
          <a:prstGeom prst="rect">
            <a:avLst/>
          </a:prstGeom>
          <a:noFill/>
        </p:spPr>
        <p:txBody>
          <a:bodyPr wrap="square" lIns="0" tIns="0" rIns="0" bIns="0" anchor="t">
            <a:spAutoFit/>
          </a:bodyPr>
          <a:lstStyle/>
          <a:p>
            <a:pPr algn="ctr">
              <a:lnSpc>
                <a:spcPct val="100000"/>
              </a:lnSpc>
            </a:pPr>
            <a:r>
              <a:rPr sz="900" b="0">
                <a:solidFill>
                  <a:srgbClr val="6B7785"/>
                </a:solidFill>
                <a:latin typeface="Segoe UI"/>
              </a:rPr>
              <a:t>player</a:t>
            </a:r>
          </a:p>
        </p:txBody>
      </p:sp>
      <p:sp>
        <p:nvSpPr>
          <p:cNvPr id="33" name="Rounded Rectangle 32"/>
          <p:cNvSpPr/>
          <p:nvPr/>
        </p:nvSpPr>
        <p:spPr>
          <a:xfrm>
            <a:off x="9509760" y="3200400"/>
            <a:ext cx="2103120" cy="566928"/>
          </a:xfrm>
          <a:prstGeom prst="roundRect">
            <a:avLst>
              <a:gd name="adj" fmla="val 12000"/>
            </a:avLst>
          </a:prstGeom>
          <a:solidFill>
            <a:srgbClr val="4A90A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 name="TextBox 33"/>
          <p:cNvSpPr txBox="1"/>
          <p:nvPr/>
        </p:nvSpPr>
        <p:spPr>
          <a:xfrm>
            <a:off x="9509760" y="3236976"/>
            <a:ext cx="2103120" cy="274320"/>
          </a:xfrm>
          <a:prstGeom prst="rect">
            <a:avLst/>
          </a:prstGeom>
          <a:noFill/>
        </p:spPr>
        <p:txBody>
          <a:bodyPr wrap="square" lIns="0" tIns="0" rIns="0" bIns="0" anchor="t">
            <a:spAutoFit/>
          </a:bodyPr>
          <a:lstStyle/>
          <a:p>
            <a:pPr algn="ctr">
              <a:lnSpc>
                <a:spcPct val="100000"/>
              </a:lnSpc>
            </a:pPr>
            <a:r>
              <a:rPr sz="1100" b="1">
                <a:solidFill>
                  <a:srgbClr val="FFFFFF"/>
                </a:solidFill>
                <a:latin typeface="Segoe UI"/>
              </a:rPr>
              <a:t>Bridge_PlayerTeamSeason</a:t>
            </a:r>
          </a:p>
        </p:txBody>
      </p:sp>
      <p:sp>
        <p:nvSpPr>
          <p:cNvPr id="35" name="TextBox 34"/>
          <p:cNvSpPr txBox="1"/>
          <p:nvPr/>
        </p:nvSpPr>
        <p:spPr>
          <a:xfrm>
            <a:off x="9509760" y="3483864"/>
            <a:ext cx="2103120" cy="246888"/>
          </a:xfrm>
          <a:prstGeom prst="rect">
            <a:avLst/>
          </a:prstGeom>
          <a:noFill/>
        </p:spPr>
        <p:txBody>
          <a:bodyPr wrap="square" lIns="0" tIns="0" rIns="0" bIns="0" anchor="t">
            <a:spAutoFit/>
          </a:bodyPr>
          <a:lstStyle/>
          <a:p>
            <a:pPr algn="ctr">
              <a:lnSpc>
                <a:spcPct val="100000"/>
              </a:lnSpc>
            </a:pPr>
            <a:r>
              <a:rPr sz="900" b="0">
                <a:solidFill>
                  <a:srgbClr val="FFFFFF"/>
                </a:solidFill>
                <a:latin typeface="Segoe UI"/>
              </a:rPr>
              <a:t>player × team × season</a:t>
            </a:r>
          </a:p>
        </p:txBody>
      </p:sp>
      <p:sp>
        <p:nvSpPr>
          <p:cNvPr id="36" name="Rounded Rectangle 35"/>
          <p:cNvSpPr/>
          <p:nvPr/>
        </p:nvSpPr>
        <p:spPr>
          <a:xfrm>
            <a:off x="4983480" y="1645920"/>
            <a:ext cx="2194560" cy="566928"/>
          </a:xfrm>
          <a:prstGeom prst="roundRect">
            <a:avLst>
              <a:gd name="adj" fmla="val 12000"/>
            </a:avLst>
          </a:prstGeom>
          <a:solidFill>
            <a:srgbClr val="1F4E7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7" name="TextBox 36"/>
          <p:cNvSpPr txBox="1"/>
          <p:nvPr/>
        </p:nvSpPr>
        <p:spPr>
          <a:xfrm>
            <a:off x="4983480" y="1682496"/>
            <a:ext cx="2194560" cy="274320"/>
          </a:xfrm>
          <a:prstGeom prst="rect">
            <a:avLst/>
          </a:prstGeom>
          <a:noFill/>
        </p:spPr>
        <p:txBody>
          <a:bodyPr wrap="square" lIns="0" tIns="0" rIns="0" bIns="0" anchor="t">
            <a:spAutoFit/>
          </a:bodyPr>
          <a:lstStyle/>
          <a:p>
            <a:pPr algn="ctr">
              <a:lnSpc>
                <a:spcPct val="100000"/>
              </a:lnSpc>
            </a:pPr>
            <a:r>
              <a:rPr sz="1100" b="1">
                <a:solidFill>
                  <a:srgbClr val="FFFFFF"/>
                </a:solidFill>
                <a:latin typeface="Segoe UI"/>
              </a:rPr>
              <a:t>Fact_MatchResult</a:t>
            </a:r>
          </a:p>
        </p:txBody>
      </p:sp>
      <p:sp>
        <p:nvSpPr>
          <p:cNvPr id="38" name="TextBox 37"/>
          <p:cNvSpPr txBox="1"/>
          <p:nvPr/>
        </p:nvSpPr>
        <p:spPr>
          <a:xfrm>
            <a:off x="4983480" y="1929384"/>
            <a:ext cx="2194560" cy="246888"/>
          </a:xfrm>
          <a:prstGeom prst="rect">
            <a:avLst/>
          </a:prstGeom>
          <a:noFill/>
        </p:spPr>
        <p:txBody>
          <a:bodyPr wrap="square" lIns="0" tIns="0" rIns="0" bIns="0" anchor="t">
            <a:spAutoFit/>
          </a:bodyPr>
          <a:lstStyle/>
          <a:p>
            <a:pPr algn="ctr">
              <a:lnSpc>
                <a:spcPct val="100000"/>
              </a:lnSpc>
            </a:pPr>
            <a:r>
              <a:rPr sz="900" b="0">
                <a:solidFill>
                  <a:srgbClr val="FFFFFF"/>
                </a:solidFill>
                <a:latin typeface="Segoe UI"/>
              </a:rPr>
              <a:t>one row per match</a:t>
            </a:r>
          </a:p>
        </p:txBody>
      </p:sp>
      <p:sp>
        <p:nvSpPr>
          <p:cNvPr id="39" name="Rounded Rectangle 38"/>
          <p:cNvSpPr/>
          <p:nvPr/>
        </p:nvSpPr>
        <p:spPr>
          <a:xfrm>
            <a:off x="4983480" y="2651760"/>
            <a:ext cx="2194560" cy="566928"/>
          </a:xfrm>
          <a:prstGeom prst="roundRect">
            <a:avLst>
              <a:gd name="adj" fmla="val 12000"/>
            </a:avLst>
          </a:prstGeom>
          <a:solidFill>
            <a:srgbClr val="1F4E7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0" name="TextBox 39"/>
          <p:cNvSpPr txBox="1"/>
          <p:nvPr/>
        </p:nvSpPr>
        <p:spPr>
          <a:xfrm>
            <a:off x="4983480" y="2688336"/>
            <a:ext cx="2194560" cy="274320"/>
          </a:xfrm>
          <a:prstGeom prst="rect">
            <a:avLst/>
          </a:prstGeom>
          <a:noFill/>
        </p:spPr>
        <p:txBody>
          <a:bodyPr wrap="square" lIns="0" tIns="0" rIns="0" bIns="0" anchor="t">
            <a:spAutoFit/>
          </a:bodyPr>
          <a:lstStyle/>
          <a:p>
            <a:pPr algn="ctr">
              <a:lnSpc>
                <a:spcPct val="100000"/>
              </a:lnSpc>
            </a:pPr>
            <a:r>
              <a:rPr sz="1100" b="1">
                <a:solidFill>
                  <a:srgbClr val="FFFFFF"/>
                </a:solidFill>
                <a:latin typeface="Segoe UI"/>
              </a:rPr>
              <a:t>Fact_Innings</a:t>
            </a:r>
          </a:p>
        </p:txBody>
      </p:sp>
      <p:sp>
        <p:nvSpPr>
          <p:cNvPr id="41" name="TextBox 40"/>
          <p:cNvSpPr txBox="1"/>
          <p:nvPr/>
        </p:nvSpPr>
        <p:spPr>
          <a:xfrm>
            <a:off x="4983480" y="2935224"/>
            <a:ext cx="2194560" cy="246888"/>
          </a:xfrm>
          <a:prstGeom prst="rect">
            <a:avLst/>
          </a:prstGeom>
          <a:noFill/>
        </p:spPr>
        <p:txBody>
          <a:bodyPr wrap="square" lIns="0" tIns="0" rIns="0" bIns="0" anchor="t">
            <a:spAutoFit/>
          </a:bodyPr>
          <a:lstStyle/>
          <a:p>
            <a:pPr algn="ctr">
              <a:lnSpc>
                <a:spcPct val="100000"/>
              </a:lnSpc>
            </a:pPr>
            <a:r>
              <a:rPr sz="900" b="0">
                <a:solidFill>
                  <a:srgbClr val="FFFFFF"/>
                </a:solidFill>
                <a:latin typeface="Segoe UI"/>
              </a:rPr>
              <a:t>team innings</a:t>
            </a:r>
          </a:p>
        </p:txBody>
      </p:sp>
      <p:sp>
        <p:nvSpPr>
          <p:cNvPr id="42" name="Rounded Rectangle 41"/>
          <p:cNvSpPr/>
          <p:nvPr/>
        </p:nvSpPr>
        <p:spPr>
          <a:xfrm>
            <a:off x="4983480" y="3611880"/>
            <a:ext cx="2194560" cy="566928"/>
          </a:xfrm>
          <a:prstGeom prst="roundRect">
            <a:avLst>
              <a:gd name="adj" fmla="val 12000"/>
            </a:avLst>
          </a:prstGeom>
          <a:solidFill>
            <a:srgbClr val="1F4E7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3" name="TextBox 42"/>
          <p:cNvSpPr txBox="1"/>
          <p:nvPr/>
        </p:nvSpPr>
        <p:spPr>
          <a:xfrm>
            <a:off x="4983480" y="3648456"/>
            <a:ext cx="2194560" cy="274320"/>
          </a:xfrm>
          <a:prstGeom prst="rect">
            <a:avLst/>
          </a:prstGeom>
          <a:noFill/>
        </p:spPr>
        <p:txBody>
          <a:bodyPr wrap="square" lIns="0" tIns="0" rIns="0" bIns="0" anchor="t">
            <a:spAutoFit/>
          </a:bodyPr>
          <a:lstStyle/>
          <a:p>
            <a:pPr algn="ctr">
              <a:lnSpc>
                <a:spcPct val="100000"/>
              </a:lnSpc>
            </a:pPr>
            <a:r>
              <a:rPr sz="1100" b="1">
                <a:solidFill>
                  <a:srgbClr val="FFFFFF"/>
                </a:solidFill>
                <a:latin typeface="Segoe UI"/>
              </a:rPr>
              <a:t>Fact_BallByBall</a:t>
            </a:r>
          </a:p>
        </p:txBody>
      </p:sp>
      <p:sp>
        <p:nvSpPr>
          <p:cNvPr id="44" name="TextBox 43"/>
          <p:cNvSpPr txBox="1"/>
          <p:nvPr/>
        </p:nvSpPr>
        <p:spPr>
          <a:xfrm>
            <a:off x="4983480" y="3895344"/>
            <a:ext cx="2194560" cy="246888"/>
          </a:xfrm>
          <a:prstGeom prst="rect">
            <a:avLst/>
          </a:prstGeom>
          <a:noFill/>
        </p:spPr>
        <p:txBody>
          <a:bodyPr wrap="square" lIns="0" tIns="0" rIns="0" bIns="0" anchor="t">
            <a:spAutoFit/>
          </a:bodyPr>
          <a:lstStyle/>
          <a:p>
            <a:pPr algn="ctr">
              <a:lnSpc>
                <a:spcPct val="100000"/>
              </a:lnSpc>
            </a:pPr>
            <a:r>
              <a:rPr sz="900" b="0">
                <a:solidFill>
                  <a:srgbClr val="FFFFFF"/>
                </a:solidFill>
                <a:latin typeface="Segoe UI"/>
              </a:rPr>
              <a:t>one row per delivery</a:t>
            </a:r>
          </a:p>
        </p:txBody>
      </p:sp>
      <p:sp>
        <p:nvSpPr>
          <p:cNvPr id="45" name="Rounded Rectangle 44"/>
          <p:cNvSpPr/>
          <p:nvPr/>
        </p:nvSpPr>
        <p:spPr>
          <a:xfrm>
            <a:off x="548640" y="4709160"/>
            <a:ext cx="2103120" cy="566928"/>
          </a:xfrm>
          <a:prstGeom prst="roundRect">
            <a:avLst>
              <a:gd name="adj" fmla="val 12000"/>
            </a:avLst>
          </a:prstGeom>
          <a:solidFill>
            <a:srgbClr val="1F4E7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6" name="TextBox 45"/>
          <p:cNvSpPr txBox="1"/>
          <p:nvPr/>
        </p:nvSpPr>
        <p:spPr>
          <a:xfrm>
            <a:off x="548640" y="4745736"/>
            <a:ext cx="2103120" cy="274320"/>
          </a:xfrm>
          <a:prstGeom prst="rect">
            <a:avLst/>
          </a:prstGeom>
          <a:noFill/>
        </p:spPr>
        <p:txBody>
          <a:bodyPr wrap="square" lIns="0" tIns="0" rIns="0" bIns="0" anchor="t">
            <a:spAutoFit/>
          </a:bodyPr>
          <a:lstStyle/>
          <a:p>
            <a:pPr algn="ctr">
              <a:lnSpc>
                <a:spcPct val="100000"/>
              </a:lnSpc>
            </a:pPr>
            <a:r>
              <a:rPr sz="1100" b="1">
                <a:solidFill>
                  <a:srgbClr val="FFFFFF"/>
                </a:solidFill>
                <a:latin typeface="Segoe UI"/>
              </a:rPr>
              <a:t>Fact_BattingPerformance</a:t>
            </a:r>
          </a:p>
        </p:txBody>
      </p:sp>
      <p:sp>
        <p:nvSpPr>
          <p:cNvPr id="47" name="TextBox 46"/>
          <p:cNvSpPr txBox="1"/>
          <p:nvPr/>
        </p:nvSpPr>
        <p:spPr>
          <a:xfrm>
            <a:off x="548640" y="4992624"/>
            <a:ext cx="2103120" cy="246888"/>
          </a:xfrm>
          <a:prstGeom prst="rect">
            <a:avLst/>
          </a:prstGeom>
          <a:noFill/>
        </p:spPr>
        <p:txBody>
          <a:bodyPr wrap="square" lIns="0" tIns="0" rIns="0" bIns="0" anchor="t">
            <a:spAutoFit/>
          </a:bodyPr>
          <a:lstStyle/>
          <a:p>
            <a:pPr algn="ctr">
              <a:lnSpc>
                <a:spcPct val="100000"/>
              </a:lnSpc>
            </a:pPr>
            <a:r>
              <a:rPr sz="900" b="0">
                <a:solidFill>
                  <a:srgbClr val="FFFFFF"/>
                </a:solidFill>
                <a:latin typeface="Segoe UI"/>
              </a:rPr>
              <a:t>player × innings</a:t>
            </a:r>
          </a:p>
        </p:txBody>
      </p:sp>
      <p:sp>
        <p:nvSpPr>
          <p:cNvPr id="48" name="Rounded Rectangle 47"/>
          <p:cNvSpPr/>
          <p:nvPr/>
        </p:nvSpPr>
        <p:spPr>
          <a:xfrm>
            <a:off x="2807208" y="4709160"/>
            <a:ext cx="2103120" cy="566928"/>
          </a:xfrm>
          <a:prstGeom prst="roundRect">
            <a:avLst>
              <a:gd name="adj" fmla="val 12000"/>
            </a:avLst>
          </a:prstGeom>
          <a:solidFill>
            <a:srgbClr val="1F4E7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9" name="TextBox 48"/>
          <p:cNvSpPr txBox="1"/>
          <p:nvPr/>
        </p:nvSpPr>
        <p:spPr>
          <a:xfrm>
            <a:off x="2807208" y="4745736"/>
            <a:ext cx="2103120" cy="274320"/>
          </a:xfrm>
          <a:prstGeom prst="rect">
            <a:avLst/>
          </a:prstGeom>
          <a:noFill/>
        </p:spPr>
        <p:txBody>
          <a:bodyPr wrap="square" lIns="0" tIns="0" rIns="0" bIns="0" anchor="t">
            <a:spAutoFit/>
          </a:bodyPr>
          <a:lstStyle/>
          <a:p>
            <a:pPr algn="ctr">
              <a:lnSpc>
                <a:spcPct val="100000"/>
              </a:lnSpc>
            </a:pPr>
            <a:r>
              <a:rPr sz="1100" b="1">
                <a:solidFill>
                  <a:srgbClr val="FFFFFF"/>
                </a:solidFill>
                <a:latin typeface="Segoe UI"/>
              </a:rPr>
              <a:t>Fact_BowlingPerformance</a:t>
            </a:r>
          </a:p>
        </p:txBody>
      </p:sp>
      <p:sp>
        <p:nvSpPr>
          <p:cNvPr id="50" name="TextBox 49"/>
          <p:cNvSpPr txBox="1"/>
          <p:nvPr/>
        </p:nvSpPr>
        <p:spPr>
          <a:xfrm>
            <a:off x="2807208" y="4992624"/>
            <a:ext cx="2103120" cy="246888"/>
          </a:xfrm>
          <a:prstGeom prst="rect">
            <a:avLst/>
          </a:prstGeom>
          <a:noFill/>
        </p:spPr>
        <p:txBody>
          <a:bodyPr wrap="square" lIns="0" tIns="0" rIns="0" bIns="0" anchor="t">
            <a:spAutoFit/>
          </a:bodyPr>
          <a:lstStyle/>
          <a:p>
            <a:pPr algn="ctr">
              <a:lnSpc>
                <a:spcPct val="100000"/>
              </a:lnSpc>
            </a:pPr>
            <a:r>
              <a:rPr sz="900" b="0">
                <a:solidFill>
                  <a:srgbClr val="FFFFFF"/>
                </a:solidFill>
                <a:latin typeface="Segoe UI"/>
              </a:rPr>
              <a:t>player × innings</a:t>
            </a:r>
          </a:p>
        </p:txBody>
      </p:sp>
      <p:sp>
        <p:nvSpPr>
          <p:cNvPr id="51" name="Rounded Rectangle 50"/>
          <p:cNvSpPr/>
          <p:nvPr/>
        </p:nvSpPr>
        <p:spPr>
          <a:xfrm>
            <a:off x="5065776" y="4709160"/>
            <a:ext cx="2103120" cy="566928"/>
          </a:xfrm>
          <a:prstGeom prst="roundRect">
            <a:avLst>
              <a:gd name="adj" fmla="val 12000"/>
            </a:avLst>
          </a:prstGeom>
          <a:solidFill>
            <a:srgbClr val="1F4E7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2" name="TextBox 51"/>
          <p:cNvSpPr txBox="1"/>
          <p:nvPr/>
        </p:nvSpPr>
        <p:spPr>
          <a:xfrm>
            <a:off x="5065776" y="4745736"/>
            <a:ext cx="2103120" cy="274320"/>
          </a:xfrm>
          <a:prstGeom prst="rect">
            <a:avLst/>
          </a:prstGeom>
          <a:noFill/>
        </p:spPr>
        <p:txBody>
          <a:bodyPr wrap="square" lIns="0" tIns="0" rIns="0" bIns="0" anchor="t">
            <a:spAutoFit/>
          </a:bodyPr>
          <a:lstStyle/>
          <a:p>
            <a:pPr algn="ctr">
              <a:lnSpc>
                <a:spcPct val="100000"/>
              </a:lnSpc>
            </a:pPr>
            <a:r>
              <a:rPr sz="1100" b="1">
                <a:solidFill>
                  <a:srgbClr val="FFFFFF"/>
                </a:solidFill>
                <a:latin typeface="Segoe UI"/>
              </a:rPr>
              <a:t>Fact_Partnership</a:t>
            </a:r>
          </a:p>
        </p:txBody>
      </p:sp>
      <p:sp>
        <p:nvSpPr>
          <p:cNvPr id="53" name="TextBox 52"/>
          <p:cNvSpPr txBox="1"/>
          <p:nvPr/>
        </p:nvSpPr>
        <p:spPr>
          <a:xfrm>
            <a:off x="5065776" y="4992624"/>
            <a:ext cx="2103120" cy="246888"/>
          </a:xfrm>
          <a:prstGeom prst="rect">
            <a:avLst/>
          </a:prstGeom>
          <a:noFill/>
        </p:spPr>
        <p:txBody>
          <a:bodyPr wrap="square" lIns="0" tIns="0" rIns="0" bIns="0" anchor="t">
            <a:spAutoFit/>
          </a:bodyPr>
          <a:lstStyle/>
          <a:p>
            <a:pPr algn="ctr">
              <a:lnSpc>
                <a:spcPct val="100000"/>
              </a:lnSpc>
            </a:pPr>
            <a:r>
              <a:rPr sz="900" b="0">
                <a:solidFill>
                  <a:srgbClr val="FFFFFF"/>
                </a:solidFill>
                <a:latin typeface="Segoe UI"/>
              </a:rPr>
              <a:t>partnership</a:t>
            </a:r>
          </a:p>
        </p:txBody>
      </p:sp>
      <p:sp>
        <p:nvSpPr>
          <p:cNvPr id="54" name="Rounded Rectangle 53"/>
          <p:cNvSpPr/>
          <p:nvPr/>
        </p:nvSpPr>
        <p:spPr>
          <a:xfrm>
            <a:off x="7324344" y="4709160"/>
            <a:ext cx="2103120" cy="566928"/>
          </a:xfrm>
          <a:prstGeom prst="roundRect">
            <a:avLst>
              <a:gd name="adj" fmla="val 12000"/>
            </a:avLst>
          </a:prstGeom>
          <a:solidFill>
            <a:srgbClr val="1F4E7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5" name="TextBox 54"/>
          <p:cNvSpPr txBox="1"/>
          <p:nvPr/>
        </p:nvSpPr>
        <p:spPr>
          <a:xfrm>
            <a:off x="7324344" y="4745736"/>
            <a:ext cx="2103120" cy="274320"/>
          </a:xfrm>
          <a:prstGeom prst="rect">
            <a:avLst/>
          </a:prstGeom>
          <a:noFill/>
        </p:spPr>
        <p:txBody>
          <a:bodyPr wrap="square" lIns="0" tIns="0" rIns="0" bIns="0" anchor="t">
            <a:spAutoFit/>
          </a:bodyPr>
          <a:lstStyle/>
          <a:p>
            <a:pPr algn="ctr">
              <a:lnSpc>
                <a:spcPct val="100000"/>
              </a:lnSpc>
            </a:pPr>
            <a:r>
              <a:rPr sz="1100" b="1">
                <a:solidFill>
                  <a:srgbClr val="FFFFFF"/>
                </a:solidFill>
                <a:latin typeface="Segoe UI"/>
              </a:rPr>
              <a:t>Fact_FallOfWicket</a:t>
            </a:r>
          </a:p>
        </p:txBody>
      </p:sp>
      <p:sp>
        <p:nvSpPr>
          <p:cNvPr id="56" name="TextBox 55"/>
          <p:cNvSpPr txBox="1"/>
          <p:nvPr/>
        </p:nvSpPr>
        <p:spPr>
          <a:xfrm>
            <a:off x="7324344" y="4992624"/>
            <a:ext cx="2103120" cy="246888"/>
          </a:xfrm>
          <a:prstGeom prst="rect">
            <a:avLst/>
          </a:prstGeom>
          <a:noFill/>
        </p:spPr>
        <p:txBody>
          <a:bodyPr wrap="square" lIns="0" tIns="0" rIns="0" bIns="0" anchor="t">
            <a:spAutoFit/>
          </a:bodyPr>
          <a:lstStyle/>
          <a:p>
            <a:pPr algn="ctr">
              <a:lnSpc>
                <a:spcPct val="100000"/>
              </a:lnSpc>
            </a:pPr>
            <a:r>
              <a:rPr sz="900" b="0">
                <a:solidFill>
                  <a:srgbClr val="FFFFFF"/>
                </a:solidFill>
                <a:latin typeface="Segoe UI"/>
              </a:rPr>
              <a:t>wicket</a:t>
            </a:r>
          </a:p>
        </p:txBody>
      </p:sp>
      <p:sp>
        <p:nvSpPr>
          <p:cNvPr id="57" name="Rounded Rectangle 56"/>
          <p:cNvSpPr/>
          <p:nvPr/>
        </p:nvSpPr>
        <p:spPr>
          <a:xfrm>
            <a:off x="9582912" y="4709160"/>
            <a:ext cx="2103120" cy="566928"/>
          </a:xfrm>
          <a:prstGeom prst="roundRect">
            <a:avLst>
              <a:gd name="adj" fmla="val 12000"/>
            </a:avLst>
          </a:prstGeom>
          <a:solidFill>
            <a:srgbClr val="F2A9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8" name="TextBox 57"/>
          <p:cNvSpPr txBox="1"/>
          <p:nvPr/>
        </p:nvSpPr>
        <p:spPr>
          <a:xfrm>
            <a:off x="9582912" y="4745736"/>
            <a:ext cx="2103120" cy="274320"/>
          </a:xfrm>
          <a:prstGeom prst="rect">
            <a:avLst/>
          </a:prstGeom>
          <a:noFill/>
        </p:spPr>
        <p:txBody>
          <a:bodyPr wrap="square" lIns="0" tIns="0" rIns="0" bIns="0" anchor="t">
            <a:spAutoFit/>
          </a:bodyPr>
          <a:lstStyle/>
          <a:p>
            <a:pPr algn="ctr">
              <a:lnSpc>
                <a:spcPct val="100000"/>
              </a:lnSpc>
            </a:pPr>
            <a:r>
              <a:rPr sz="1100" b="1">
                <a:solidFill>
                  <a:srgbClr val="1F4E79"/>
                </a:solidFill>
                <a:latin typeface="Segoe UI"/>
              </a:rPr>
              <a:t>Agg_OverSummary</a:t>
            </a:r>
          </a:p>
        </p:txBody>
      </p:sp>
      <p:sp>
        <p:nvSpPr>
          <p:cNvPr id="59" name="TextBox 58"/>
          <p:cNvSpPr txBox="1"/>
          <p:nvPr/>
        </p:nvSpPr>
        <p:spPr>
          <a:xfrm>
            <a:off x="9582912" y="4992624"/>
            <a:ext cx="2103120" cy="246888"/>
          </a:xfrm>
          <a:prstGeom prst="rect">
            <a:avLst/>
          </a:prstGeom>
          <a:noFill/>
        </p:spPr>
        <p:txBody>
          <a:bodyPr wrap="square" lIns="0" tIns="0" rIns="0" bIns="0" anchor="t">
            <a:spAutoFit/>
          </a:bodyPr>
          <a:lstStyle/>
          <a:p>
            <a:pPr algn="ctr">
              <a:lnSpc>
                <a:spcPct val="100000"/>
              </a:lnSpc>
            </a:pPr>
            <a:r>
              <a:rPr sz="900" b="0">
                <a:solidFill>
                  <a:srgbClr val="1F4E79"/>
                </a:solidFill>
                <a:latin typeface="Segoe UI"/>
              </a:rPr>
              <a:t>over (pre-aggregated)</a:t>
            </a:r>
          </a:p>
        </p:txBody>
      </p:sp>
      <p:sp>
        <p:nvSpPr>
          <p:cNvPr id="60" name="TextBox 59"/>
          <p:cNvSpPr txBox="1"/>
          <p:nvPr/>
        </p:nvSpPr>
        <p:spPr>
          <a:xfrm>
            <a:off x="9098280" y="3886200"/>
            <a:ext cx="2514600" cy="457200"/>
          </a:xfrm>
          <a:prstGeom prst="rect">
            <a:avLst/>
          </a:prstGeom>
          <a:noFill/>
        </p:spPr>
        <p:txBody>
          <a:bodyPr wrap="square" lIns="0" tIns="0" rIns="0" bIns="0" anchor="t">
            <a:spAutoFit/>
          </a:bodyPr>
          <a:lstStyle/>
          <a:p>
            <a:pPr algn="r">
              <a:lnSpc>
                <a:spcPct val="100000"/>
              </a:lnSpc>
            </a:pPr>
            <a:r>
              <a:rPr sz="900" b="0">
                <a:solidFill>
                  <a:srgbClr val="6B7785"/>
                </a:solidFill>
                <a:latin typeface="Segoe UI"/>
              </a:rPr>
              <a:t>+ Fact_PlayerRanking, Fact_PlayerSeasonStats
(player × date / season)</a:t>
            </a:r>
          </a:p>
        </p:txBody>
      </p:sp>
      <p:sp>
        <p:nvSpPr>
          <p:cNvPr id="61" name="Rounded Rectangle 60"/>
          <p:cNvSpPr/>
          <p:nvPr/>
        </p:nvSpPr>
        <p:spPr>
          <a:xfrm>
            <a:off x="548640" y="5532120"/>
            <a:ext cx="11064240" cy="566928"/>
          </a:xfrm>
          <a:prstGeom prst="roundRect">
            <a:avLst>
              <a:gd name="adj" fmla="val 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2" name="TextBox 61"/>
          <p:cNvSpPr txBox="1"/>
          <p:nvPr/>
        </p:nvSpPr>
        <p:spPr>
          <a:xfrm>
            <a:off x="548640" y="5532120"/>
            <a:ext cx="11064240" cy="566928"/>
          </a:xfrm>
          <a:prstGeom prst="rect">
            <a:avLst/>
          </a:prstGeom>
          <a:noFill/>
        </p:spPr>
        <p:txBody>
          <a:bodyPr wrap="square" lIns="0" tIns="0" rIns="0" bIns="0" anchor="ctr">
            <a:spAutoFit/>
          </a:bodyPr>
          <a:lstStyle/>
          <a:p>
            <a:pPr algn="ctr">
              <a:lnSpc>
                <a:spcPct val="100000"/>
              </a:lnSpc>
            </a:pPr>
            <a:r>
              <a:rPr sz="1200" b="1">
                <a:solidFill>
                  <a:srgbClr val="1F4E79"/>
                </a:solidFill>
                <a:latin typeface="Segoe UI"/>
              </a:rPr>
              <a:t>Derived, not loaded twice  </a:t>
            </a:r>
            <a:r>
              <a:rPr sz="1200" b="0">
                <a:solidFill>
                  <a:srgbClr val="6B7785"/>
                </a:solidFill>
                <a:latin typeface="Segoe UI"/>
              </a:rPr>
              <a:t>the five tables in the bottom row are computed from 28,069 deliveries, so they always reconcile (tested)</a:t>
            </a:r>
          </a:p>
        </p:txBody>
      </p:sp>
      <p:sp>
        <p:nvSpPr>
          <p:cNvPr id="63" name="TextBox 62"/>
          <p:cNvSpPr txBox="1"/>
          <p:nvPr/>
        </p:nvSpPr>
        <p:spPr>
          <a:xfrm>
            <a:off x="548640" y="6428232"/>
            <a:ext cx="5486400" cy="228600"/>
          </a:xfrm>
          <a:prstGeom prst="rect">
            <a:avLst/>
          </a:prstGeom>
          <a:noFill/>
        </p:spPr>
        <p:txBody>
          <a:bodyPr wrap="square" lIns="0" tIns="0" rIns="0" bIns="0" anchor="t">
            <a:spAutoFit/>
          </a:bodyPr>
          <a:lstStyle/>
          <a:p>
            <a:pPr algn="l">
              <a:lnSpc>
                <a:spcPct val="100000"/>
              </a:lnSpc>
            </a:pPr>
            <a:r>
              <a:rPr sz="1000" b="0">
                <a:solidFill>
                  <a:srgbClr val="6B7785"/>
                </a:solidFill>
                <a:latin typeface="Segoe UI"/>
              </a:rPr>
              <a:t>Cricket Analytics Platform</a:t>
            </a:r>
          </a:p>
        </p:txBody>
      </p:sp>
      <p:sp>
        <p:nvSpPr>
          <p:cNvPr id="64" name="TextBox 63"/>
          <p:cNvSpPr txBox="1"/>
          <p:nvPr/>
        </p:nvSpPr>
        <p:spPr>
          <a:xfrm>
            <a:off x="10725912" y="6428232"/>
            <a:ext cx="914400" cy="228600"/>
          </a:xfrm>
          <a:prstGeom prst="rect">
            <a:avLst/>
          </a:prstGeom>
          <a:noFill/>
        </p:spPr>
        <p:txBody>
          <a:bodyPr wrap="square" lIns="0" tIns="0" rIns="0" bIns="0" anchor="t">
            <a:spAutoFit/>
          </a:bodyPr>
          <a:lstStyle/>
          <a:p>
            <a:pPr algn="r">
              <a:lnSpc>
                <a:spcPct val="100000"/>
              </a:lnSpc>
            </a:pPr>
            <a:r>
              <a:rPr sz="1000" b="0">
                <a:solidFill>
                  <a:srgbClr val="6B7785"/>
                </a:solidFill>
                <a:latin typeface="Segoe UI"/>
              </a:rPr>
              <a:t>9</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EEF2F6"/>
        </a:solidFill>
        <a:effectLst/>
      </p:bgPr>
    </p:bg>
    <p:spTree>
      <p:nvGrpSpPr>
        <p:cNvPr id="1" name=""/>
        <p:cNvGrpSpPr/>
        <p:nvPr/>
      </p:nvGrpSpPr>
      <p:grpSpPr>
        <a:xfrm>
          <a:off x="0" y="0"/>
          <a:ext cx="0" cy="0"/>
          <a:chOff x="0" y="0"/>
          <a:chExt cx="0" cy="0"/>
        </a:xfrm>
      </p:grpSpPr>
      <p:sp>
        <p:nvSpPr>
          <p:cNvPr id="2" name="TextBox 1"/>
          <p:cNvSpPr txBox="1"/>
          <p:nvPr/>
        </p:nvSpPr>
        <p:spPr>
          <a:xfrm>
            <a:off x="548640" y="146304"/>
            <a:ext cx="10058400" cy="256032"/>
          </a:xfrm>
          <a:prstGeom prst="rect">
            <a:avLst/>
          </a:prstGeom>
          <a:noFill/>
        </p:spPr>
        <p:txBody>
          <a:bodyPr wrap="square" lIns="0" tIns="0" rIns="0" bIns="0" anchor="t">
            <a:spAutoFit/>
          </a:bodyPr>
          <a:lstStyle/>
          <a:p>
            <a:pPr algn="l">
              <a:lnSpc>
                <a:spcPct val="100000"/>
              </a:lnSpc>
            </a:pPr>
            <a:r>
              <a:rPr sz="1000" b="1">
                <a:solidFill>
                  <a:srgbClr val="F2A900"/>
                </a:solidFill>
                <a:latin typeface="Segoe UI"/>
              </a:rPr>
              <a:t>05  ·  ALTERYX IMPLEMENTATION</a:t>
            </a:r>
            <a:r>
              <a:rPr sz="1000" b="0">
                <a:solidFill>
                  <a:srgbClr val="6B7785"/>
                </a:solidFill>
                <a:latin typeface="Segoe UI"/>
              </a:rPr>
              <a:t>     Brief §4–5</a:t>
            </a:r>
          </a:p>
        </p:txBody>
      </p:sp>
      <p:sp>
        <p:nvSpPr>
          <p:cNvPr id="3" name="TextBox 2"/>
          <p:cNvSpPr txBox="1"/>
          <p:nvPr/>
        </p:nvSpPr>
        <p:spPr>
          <a:xfrm>
            <a:off x="548640" y="411480"/>
            <a:ext cx="11064240" cy="640080"/>
          </a:xfrm>
          <a:prstGeom prst="rect">
            <a:avLst/>
          </a:prstGeom>
          <a:noFill/>
        </p:spPr>
        <p:txBody>
          <a:bodyPr wrap="square" lIns="0" tIns="0" rIns="0" bIns="0" anchor="t">
            <a:spAutoFit/>
          </a:bodyPr>
          <a:lstStyle/>
          <a:p>
            <a:pPr algn="l">
              <a:lnSpc>
                <a:spcPct val="100000"/>
              </a:lnSpc>
            </a:pPr>
            <a:r>
              <a:rPr sz="3200" b="0">
                <a:solidFill>
                  <a:srgbClr val="1F4E79"/>
                </a:solidFill>
                <a:latin typeface="Segoe UI Semibold"/>
              </a:rPr>
              <a:t>Alteryx ETL pipeline</a:t>
            </a:r>
          </a:p>
        </p:txBody>
      </p:sp>
      <p:sp>
        <p:nvSpPr>
          <p:cNvPr id="4" name="TextBox 3"/>
          <p:cNvSpPr txBox="1"/>
          <p:nvPr/>
        </p:nvSpPr>
        <p:spPr>
          <a:xfrm>
            <a:off x="548640" y="1024128"/>
            <a:ext cx="11064240" cy="411480"/>
          </a:xfrm>
          <a:prstGeom prst="rect">
            <a:avLst/>
          </a:prstGeom>
          <a:noFill/>
        </p:spPr>
        <p:txBody>
          <a:bodyPr wrap="square" lIns="0" tIns="0" rIns="0" bIns="0" anchor="t">
            <a:spAutoFit/>
          </a:bodyPr>
          <a:lstStyle/>
          <a:p>
            <a:pPr algn="l">
              <a:lnSpc>
                <a:spcPct val="100000"/>
              </a:lnSpc>
            </a:pPr>
            <a:r>
              <a:rPr sz="1500" b="0">
                <a:solidFill>
                  <a:srgbClr val="6B7785"/>
                </a:solidFill>
                <a:latin typeface="Segoe UI"/>
              </a:rPr>
              <a:t>One orchestrator runs seven stages; each starts only if the last succeeded</a:t>
            </a:r>
          </a:p>
        </p:txBody>
      </p:sp>
      <p:sp>
        <p:nvSpPr>
          <p:cNvPr id="5" name="Rounded Rectangle 4"/>
          <p:cNvSpPr/>
          <p:nvPr/>
        </p:nvSpPr>
        <p:spPr>
          <a:xfrm>
            <a:off x="548640" y="1600200"/>
            <a:ext cx="11064240" cy="3017520"/>
          </a:xfrm>
          <a:prstGeom prst="roundRect">
            <a:avLst>
              <a:gd name="adj" fmla="val 4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6" name="Picture 5" descr="alteryx_00_orchestrator.png"/>
          <p:cNvPicPr>
            <a:picLocks noChangeAspect="1"/>
          </p:cNvPicPr>
          <p:nvPr/>
        </p:nvPicPr>
        <p:blipFill>
          <a:blip r:embed="rId3"/>
          <a:stretch>
            <a:fillRect/>
          </a:stretch>
        </p:blipFill>
        <p:spPr>
          <a:xfrm>
            <a:off x="630025" y="1673352"/>
            <a:ext cx="10901469" cy="2871215"/>
          </a:xfrm>
          <a:prstGeom prst="rect">
            <a:avLst/>
          </a:prstGeom>
        </p:spPr>
      </p:pic>
      <p:sp>
        <p:nvSpPr>
          <p:cNvPr id="7" name="Rounded Rectangle 6"/>
          <p:cNvSpPr/>
          <p:nvPr/>
        </p:nvSpPr>
        <p:spPr>
          <a:xfrm>
            <a:off x="548640" y="4800600"/>
            <a:ext cx="1463040" cy="1371600"/>
          </a:xfrm>
          <a:prstGeom prst="roundRect">
            <a:avLst>
              <a:gd name="adj" fmla="val 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Oval 7"/>
          <p:cNvSpPr/>
          <p:nvPr/>
        </p:nvSpPr>
        <p:spPr>
          <a:xfrm>
            <a:off x="658368" y="4910328"/>
            <a:ext cx="384048" cy="384048"/>
          </a:xfrm>
          <a:prstGeom prst="ellipse">
            <a:avLst/>
          </a:prstGeom>
          <a:solidFill>
            <a:srgbClr val="1F4E7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658368" y="4910328"/>
            <a:ext cx="384048" cy="384048"/>
          </a:xfrm>
          <a:prstGeom prst="rect">
            <a:avLst/>
          </a:prstGeom>
          <a:noFill/>
        </p:spPr>
        <p:txBody>
          <a:bodyPr wrap="square" lIns="0" tIns="0" rIns="0" bIns="0" anchor="ctr">
            <a:spAutoFit/>
          </a:bodyPr>
          <a:lstStyle/>
          <a:p>
            <a:pPr algn="ctr">
              <a:lnSpc>
                <a:spcPct val="100000"/>
              </a:lnSpc>
            </a:pPr>
            <a:r>
              <a:rPr sz="1000" b="1">
                <a:solidFill>
                  <a:srgbClr val="FFFFFF"/>
                </a:solidFill>
                <a:latin typeface="Segoe UI"/>
              </a:rPr>
              <a:t>01</a:t>
            </a:r>
          </a:p>
        </p:txBody>
      </p:sp>
      <p:sp>
        <p:nvSpPr>
          <p:cNvPr id="10" name="TextBox 9"/>
          <p:cNvSpPr txBox="1"/>
          <p:nvPr/>
        </p:nvSpPr>
        <p:spPr>
          <a:xfrm>
            <a:off x="1097280" y="4910328"/>
            <a:ext cx="868680" cy="384048"/>
          </a:xfrm>
          <a:prstGeom prst="rect">
            <a:avLst/>
          </a:prstGeom>
          <a:noFill/>
        </p:spPr>
        <p:txBody>
          <a:bodyPr wrap="square" lIns="0" tIns="0" rIns="0" bIns="0" anchor="ctr">
            <a:spAutoFit/>
          </a:bodyPr>
          <a:lstStyle/>
          <a:p>
            <a:pPr algn="l">
              <a:lnSpc>
                <a:spcPct val="100000"/>
              </a:lnSpc>
            </a:pPr>
            <a:r>
              <a:rPr sz="1100" b="0">
                <a:solidFill>
                  <a:srgbClr val="24323F"/>
                </a:solidFill>
                <a:latin typeface="Segoe UI Semibold"/>
              </a:rPr>
              <a:t>SQL master</a:t>
            </a:r>
          </a:p>
        </p:txBody>
      </p:sp>
      <p:sp>
        <p:nvSpPr>
          <p:cNvPr id="11" name="TextBox 10"/>
          <p:cNvSpPr txBox="1"/>
          <p:nvPr/>
        </p:nvSpPr>
        <p:spPr>
          <a:xfrm>
            <a:off x="658368" y="5394960"/>
            <a:ext cx="1298448" cy="685800"/>
          </a:xfrm>
          <a:prstGeom prst="rect">
            <a:avLst/>
          </a:prstGeom>
          <a:noFill/>
        </p:spPr>
        <p:txBody>
          <a:bodyPr wrap="square" lIns="0" tIns="0" rIns="0" bIns="0" anchor="t">
            <a:spAutoFit/>
          </a:bodyPr>
          <a:lstStyle/>
          <a:p>
            <a:pPr algn="l">
              <a:lnSpc>
                <a:spcPct val="100000"/>
              </a:lnSpc>
            </a:pPr>
            <a:r>
              <a:rPr sz="1000" b="0">
                <a:solidFill>
                  <a:srgbClr val="6B7785"/>
                </a:solidFill>
                <a:latin typeface="Segoe UI"/>
              </a:rPr>
              <a:t>Live query of
CricketSource</a:t>
            </a:r>
          </a:p>
        </p:txBody>
      </p:sp>
      <p:sp>
        <p:nvSpPr>
          <p:cNvPr id="12" name="Rounded Rectangle 11"/>
          <p:cNvSpPr/>
          <p:nvPr/>
        </p:nvSpPr>
        <p:spPr>
          <a:xfrm>
            <a:off x="2144268" y="4800600"/>
            <a:ext cx="1463040" cy="1371600"/>
          </a:xfrm>
          <a:prstGeom prst="roundRect">
            <a:avLst>
              <a:gd name="adj" fmla="val 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Oval 12"/>
          <p:cNvSpPr/>
          <p:nvPr/>
        </p:nvSpPr>
        <p:spPr>
          <a:xfrm>
            <a:off x="2253996" y="4910328"/>
            <a:ext cx="384048" cy="384048"/>
          </a:xfrm>
          <a:prstGeom prst="ellipse">
            <a:avLst/>
          </a:prstGeom>
          <a:solidFill>
            <a:srgbClr val="1F4E7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2253996" y="4910328"/>
            <a:ext cx="384048" cy="384048"/>
          </a:xfrm>
          <a:prstGeom prst="rect">
            <a:avLst/>
          </a:prstGeom>
          <a:noFill/>
        </p:spPr>
        <p:txBody>
          <a:bodyPr wrap="square" lIns="0" tIns="0" rIns="0" bIns="0" anchor="ctr">
            <a:spAutoFit/>
          </a:bodyPr>
          <a:lstStyle/>
          <a:p>
            <a:pPr algn="ctr">
              <a:lnSpc>
                <a:spcPct val="100000"/>
              </a:lnSpc>
            </a:pPr>
            <a:r>
              <a:rPr sz="1000" b="1">
                <a:solidFill>
                  <a:srgbClr val="FFFFFF"/>
                </a:solidFill>
                <a:latin typeface="Segoe UI"/>
              </a:rPr>
              <a:t>02</a:t>
            </a:r>
          </a:p>
        </p:txBody>
      </p:sp>
      <p:sp>
        <p:nvSpPr>
          <p:cNvPr id="15" name="TextBox 14"/>
          <p:cNvSpPr txBox="1"/>
          <p:nvPr/>
        </p:nvSpPr>
        <p:spPr>
          <a:xfrm>
            <a:off x="2692908" y="4910328"/>
            <a:ext cx="868680" cy="384048"/>
          </a:xfrm>
          <a:prstGeom prst="rect">
            <a:avLst/>
          </a:prstGeom>
          <a:noFill/>
        </p:spPr>
        <p:txBody>
          <a:bodyPr wrap="square" lIns="0" tIns="0" rIns="0" bIns="0" anchor="ctr">
            <a:spAutoFit/>
          </a:bodyPr>
          <a:lstStyle/>
          <a:p>
            <a:pPr algn="l">
              <a:lnSpc>
                <a:spcPct val="100000"/>
              </a:lnSpc>
            </a:pPr>
            <a:r>
              <a:rPr sz="1100" b="0">
                <a:solidFill>
                  <a:srgbClr val="24323F"/>
                </a:solidFill>
                <a:latin typeface="Segoe UI Semibold"/>
              </a:rPr>
              <a:t>JSON</a:t>
            </a:r>
          </a:p>
        </p:txBody>
      </p:sp>
      <p:sp>
        <p:nvSpPr>
          <p:cNvPr id="16" name="TextBox 15"/>
          <p:cNvSpPr txBox="1"/>
          <p:nvPr/>
        </p:nvSpPr>
        <p:spPr>
          <a:xfrm>
            <a:off x="2253996" y="5394960"/>
            <a:ext cx="1298448" cy="685800"/>
          </a:xfrm>
          <a:prstGeom prst="rect">
            <a:avLst/>
          </a:prstGeom>
          <a:noFill/>
        </p:spPr>
        <p:txBody>
          <a:bodyPr wrap="square" lIns="0" tIns="0" rIns="0" bIns="0" anchor="t">
            <a:spAutoFit/>
          </a:bodyPr>
          <a:lstStyle/>
          <a:p>
            <a:pPr algn="l">
              <a:lnSpc>
                <a:spcPct val="100000"/>
              </a:lnSpc>
            </a:pPr>
            <a:r>
              <a:rPr sz="1000" b="0">
                <a:solidFill>
                  <a:srgbClr val="6B7785"/>
                </a:solidFill>
                <a:latin typeface="Segoe UI"/>
              </a:rPr>
              <a:t>MD5 fingerprint,
parse nested JSON</a:t>
            </a:r>
          </a:p>
        </p:txBody>
      </p:sp>
      <p:sp>
        <p:nvSpPr>
          <p:cNvPr id="17" name="Rounded Rectangle 16"/>
          <p:cNvSpPr/>
          <p:nvPr/>
        </p:nvSpPr>
        <p:spPr>
          <a:xfrm>
            <a:off x="3739896" y="4800600"/>
            <a:ext cx="1463040" cy="1371600"/>
          </a:xfrm>
          <a:prstGeom prst="roundRect">
            <a:avLst>
              <a:gd name="adj" fmla="val 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Oval 17"/>
          <p:cNvSpPr/>
          <p:nvPr/>
        </p:nvSpPr>
        <p:spPr>
          <a:xfrm>
            <a:off x="3849624" y="4910328"/>
            <a:ext cx="384048" cy="384048"/>
          </a:xfrm>
          <a:prstGeom prst="ellipse">
            <a:avLst/>
          </a:prstGeom>
          <a:solidFill>
            <a:srgbClr val="1F4E7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3849624" y="4910328"/>
            <a:ext cx="384048" cy="384048"/>
          </a:xfrm>
          <a:prstGeom prst="rect">
            <a:avLst/>
          </a:prstGeom>
          <a:noFill/>
        </p:spPr>
        <p:txBody>
          <a:bodyPr wrap="square" lIns="0" tIns="0" rIns="0" bIns="0" anchor="ctr">
            <a:spAutoFit/>
          </a:bodyPr>
          <a:lstStyle/>
          <a:p>
            <a:pPr algn="ctr">
              <a:lnSpc>
                <a:spcPct val="100000"/>
              </a:lnSpc>
            </a:pPr>
            <a:r>
              <a:rPr sz="1000" b="1">
                <a:solidFill>
                  <a:srgbClr val="FFFFFF"/>
                </a:solidFill>
                <a:latin typeface="Segoe UI"/>
              </a:rPr>
              <a:t>03</a:t>
            </a:r>
          </a:p>
        </p:txBody>
      </p:sp>
      <p:sp>
        <p:nvSpPr>
          <p:cNvPr id="20" name="TextBox 19"/>
          <p:cNvSpPr txBox="1"/>
          <p:nvPr/>
        </p:nvSpPr>
        <p:spPr>
          <a:xfrm>
            <a:off x="4288536" y="4910328"/>
            <a:ext cx="868680" cy="384048"/>
          </a:xfrm>
          <a:prstGeom prst="rect">
            <a:avLst/>
          </a:prstGeom>
          <a:noFill/>
        </p:spPr>
        <p:txBody>
          <a:bodyPr wrap="square" lIns="0" tIns="0" rIns="0" bIns="0" anchor="ctr">
            <a:spAutoFit/>
          </a:bodyPr>
          <a:lstStyle/>
          <a:p>
            <a:pPr algn="l">
              <a:lnSpc>
                <a:spcPct val="100000"/>
              </a:lnSpc>
            </a:pPr>
            <a:r>
              <a:rPr sz="1100" b="0">
                <a:solidFill>
                  <a:srgbClr val="24323F"/>
                </a:solidFill>
                <a:latin typeface="Segoe UI Semibold"/>
              </a:rPr>
              <a:t>CSV</a:t>
            </a:r>
          </a:p>
        </p:txBody>
      </p:sp>
      <p:sp>
        <p:nvSpPr>
          <p:cNvPr id="21" name="TextBox 20"/>
          <p:cNvSpPr txBox="1"/>
          <p:nvPr/>
        </p:nvSpPr>
        <p:spPr>
          <a:xfrm>
            <a:off x="3849624" y="5394960"/>
            <a:ext cx="1298448" cy="685800"/>
          </a:xfrm>
          <a:prstGeom prst="rect">
            <a:avLst/>
          </a:prstGeom>
          <a:noFill/>
        </p:spPr>
        <p:txBody>
          <a:bodyPr wrap="square" lIns="0" tIns="0" rIns="0" bIns="0" anchor="t">
            <a:spAutoFit/>
          </a:bodyPr>
          <a:lstStyle/>
          <a:p>
            <a:pPr algn="l">
              <a:lnSpc>
                <a:spcPct val="100000"/>
              </a:lnSpc>
            </a:pPr>
            <a:r>
              <a:rPr sz="1000" b="0">
                <a:solidFill>
                  <a:srgbClr val="6B7785"/>
                </a:solidFill>
                <a:latin typeface="Segoe UI"/>
              </a:rPr>
              <a:t>Route by name,
batch macro per file</a:t>
            </a:r>
          </a:p>
        </p:txBody>
      </p:sp>
      <p:sp>
        <p:nvSpPr>
          <p:cNvPr id="22" name="Rounded Rectangle 21"/>
          <p:cNvSpPr/>
          <p:nvPr/>
        </p:nvSpPr>
        <p:spPr>
          <a:xfrm>
            <a:off x="5335524" y="4800600"/>
            <a:ext cx="1463040" cy="1371600"/>
          </a:xfrm>
          <a:prstGeom prst="roundRect">
            <a:avLst>
              <a:gd name="adj" fmla="val 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Oval 22"/>
          <p:cNvSpPr/>
          <p:nvPr/>
        </p:nvSpPr>
        <p:spPr>
          <a:xfrm>
            <a:off x="5445252" y="4910328"/>
            <a:ext cx="384048" cy="384048"/>
          </a:xfrm>
          <a:prstGeom prst="ellipse">
            <a:avLst/>
          </a:prstGeom>
          <a:solidFill>
            <a:srgbClr val="F2A9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TextBox 23"/>
          <p:cNvSpPr txBox="1"/>
          <p:nvPr/>
        </p:nvSpPr>
        <p:spPr>
          <a:xfrm>
            <a:off x="5445252" y="4910328"/>
            <a:ext cx="384048" cy="384048"/>
          </a:xfrm>
          <a:prstGeom prst="rect">
            <a:avLst/>
          </a:prstGeom>
          <a:noFill/>
        </p:spPr>
        <p:txBody>
          <a:bodyPr wrap="square" lIns="0" tIns="0" rIns="0" bIns="0" anchor="ctr">
            <a:spAutoFit/>
          </a:bodyPr>
          <a:lstStyle/>
          <a:p>
            <a:pPr algn="ctr">
              <a:lnSpc>
                <a:spcPct val="100000"/>
              </a:lnSpc>
            </a:pPr>
            <a:r>
              <a:rPr sz="1000" b="1">
                <a:solidFill>
                  <a:srgbClr val="1F4E79"/>
                </a:solidFill>
                <a:latin typeface="Segoe UI"/>
              </a:rPr>
              <a:t>04</a:t>
            </a:r>
          </a:p>
        </p:txBody>
      </p:sp>
      <p:sp>
        <p:nvSpPr>
          <p:cNvPr id="25" name="TextBox 24"/>
          <p:cNvSpPr txBox="1"/>
          <p:nvPr/>
        </p:nvSpPr>
        <p:spPr>
          <a:xfrm>
            <a:off x="5884164" y="4910328"/>
            <a:ext cx="868680" cy="384048"/>
          </a:xfrm>
          <a:prstGeom prst="rect">
            <a:avLst/>
          </a:prstGeom>
          <a:noFill/>
        </p:spPr>
        <p:txBody>
          <a:bodyPr wrap="square" lIns="0" tIns="0" rIns="0" bIns="0" anchor="ctr">
            <a:spAutoFit/>
          </a:bodyPr>
          <a:lstStyle/>
          <a:p>
            <a:pPr algn="l">
              <a:lnSpc>
                <a:spcPct val="100000"/>
              </a:lnSpc>
            </a:pPr>
            <a:r>
              <a:rPr sz="1100" b="0">
                <a:solidFill>
                  <a:srgbClr val="24323F"/>
                </a:solidFill>
                <a:latin typeface="Segoe UI Semibold"/>
              </a:rPr>
              <a:t>Quality gate</a:t>
            </a:r>
          </a:p>
        </p:txBody>
      </p:sp>
      <p:sp>
        <p:nvSpPr>
          <p:cNvPr id="26" name="TextBox 25"/>
          <p:cNvSpPr txBox="1"/>
          <p:nvPr/>
        </p:nvSpPr>
        <p:spPr>
          <a:xfrm>
            <a:off x="5445252" y="5394960"/>
            <a:ext cx="1298448" cy="685800"/>
          </a:xfrm>
          <a:prstGeom prst="rect">
            <a:avLst/>
          </a:prstGeom>
          <a:noFill/>
        </p:spPr>
        <p:txBody>
          <a:bodyPr wrap="square" lIns="0" tIns="0" rIns="0" bIns="0" anchor="t">
            <a:spAutoFit/>
          </a:bodyPr>
          <a:lstStyle/>
          <a:p>
            <a:pPr algn="l">
              <a:lnSpc>
                <a:spcPct val="100000"/>
              </a:lnSpc>
            </a:pPr>
            <a:r>
              <a:rPr sz="1000" b="0">
                <a:solidFill>
                  <a:srgbClr val="6B7785"/>
                </a:solidFill>
                <a:latin typeface="Segoe UI"/>
              </a:rPr>
              <a:t>43 SQL rules,
new files only</a:t>
            </a:r>
          </a:p>
        </p:txBody>
      </p:sp>
      <p:sp>
        <p:nvSpPr>
          <p:cNvPr id="27" name="Rounded Rectangle 26"/>
          <p:cNvSpPr/>
          <p:nvPr/>
        </p:nvSpPr>
        <p:spPr>
          <a:xfrm>
            <a:off x="6931152" y="4800600"/>
            <a:ext cx="1463040" cy="1371600"/>
          </a:xfrm>
          <a:prstGeom prst="roundRect">
            <a:avLst>
              <a:gd name="adj" fmla="val 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Oval 27"/>
          <p:cNvSpPr/>
          <p:nvPr/>
        </p:nvSpPr>
        <p:spPr>
          <a:xfrm>
            <a:off x="7040880" y="4910328"/>
            <a:ext cx="384048" cy="384048"/>
          </a:xfrm>
          <a:prstGeom prst="ellipse">
            <a:avLst/>
          </a:prstGeom>
          <a:solidFill>
            <a:srgbClr val="1F4E7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TextBox 28"/>
          <p:cNvSpPr txBox="1"/>
          <p:nvPr/>
        </p:nvSpPr>
        <p:spPr>
          <a:xfrm>
            <a:off x="7040880" y="4910328"/>
            <a:ext cx="384048" cy="384048"/>
          </a:xfrm>
          <a:prstGeom prst="rect">
            <a:avLst/>
          </a:prstGeom>
          <a:noFill/>
        </p:spPr>
        <p:txBody>
          <a:bodyPr wrap="square" lIns="0" tIns="0" rIns="0" bIns="0" anchor="ctr">
            <a:spAutoFit/>
          </a:bodyPr>
          <a:lstStyle/>
          <a:p>
            <a:pPr algn="ctr">
              <a:lnSpc>
                <a:spcPct val="100000"/>
              </a:lnSpc>
            </a:pPr>
            <a:r>
              <a:rPr sz="1000" b="1">
                <a:solidFill>
                  <a:srgbClr val="FFFFFF"/>
                </a:solidFill>
                <a:latin typeface="Segoe UI"/>
              </a:rPr>
              <a:t>04b</a:t>
            </a:r>
          </a:p>
        </p:txBody>
      </p:sp>
      <p:sp>
        <p:nvSpPr>
          <p:cNvPr id="30" name="TextBox 29"/>
          <p:cNvSpPr txBox="1"/>
          <p:nvPr/>
        </p:nvSpPr>
        <p:spPr>
          <a:xfrm>
            <a:off x="7479792" y="4910328"/>
            <a:ext cx="868680" cy="384048"/>
          </a:xfrm>
          <a:prstGeom prst="rect">
            <a:avLst/>
          </a:prstGeom>
          <a:noFill/>
        </p:spPr>
        <p:txBody>
          <a:bodyPr wrap="square" lIns="0" tIns="0" rIns="0" bIns="0" anchor="ctr">
            <a:spAutoFit/>
          </a:bodyPr>
          <a:lstStyle/>
          <a:p>
            <a:pPr algn="l">
              <a:lnSpc>
                <a:spcPct val="100000"/>
              </a:lnSpc>
            </a:pPr>
            <a:r>
              <a:rPr sz="1100" b="0">
                <a:solidFill>
                  <a:srgbClr val="24323F"/>
                </a:solidFill>
                <a:latin typeface="Segoe UI Semibold"/>
              </a:rPr>
              <a:t>DQ feedback</a:t>
            </a:r>
          </a:p>
        </p:txBody>
      </p:sp>
      <p:sp>
        <p:nvSpPr>
          <p:cNvPr id="31" name="TextBox 30"/>
          <p:cNvSpPr txBox="1"/>
          <p:nvPr/>
        </p:nvSpPr>
        <p:spPr>
          <a:xfrm>
            <a:off x="7040880" y="5394960"/>
            <a:ext cx="1298448" cy="685800"/>
          </a:xfrm>
          <a:prstGeom prst="rect">
            <a:avLst/>
          </a:prstGeom>
          <a:noFill/>
        </p:spPr>
        <p:txBody>
          <a:bodyPr wrap="square" lIns="0" tIns="0" rIns="0" bIns="0" anchor="t">
            <a:spAutoFit/>
          </a:bodyPr>
          <a:lstStyle/>
          <a:p>
            <a:pPr algn="l">
              <a:lnSpc>
                <a:spcPct val="100000"/>
              </a:lnSpc>
            </a:pPr>
            <a:r>
              <a:rPr sz="1000" b="0">
                <a:solidFill>
                  <a:srgbClr val="6B7785"/>
                </a:solidFill>
                <a:latin typeface="Segoe UI"/>
              </a:rPr>
              <a:t>Scores and
owner reports</a:t>
            </a:r>
          </a:p>
        </p:txBody>
      </p:sp>
      <p:sp>
        <p:nvSpPr>
          <p:cNvPr id="32" name="Rounded Rectangle 31"/>
          <p:cNvSpPr/>
          <p:nvPr/>
        </p:nvSpPr>
        <p:spPr>
          <a:xfrm>
            <a:off x="8526780" y="4800600"/>
            <a:ext cx="1463040" cy="1371600"/>
          </a:xfrm>
          <a:prstGeom prst="roundRect">
            <a:avLst>
              <a:gd name="adj" fmla="val 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Oval 32"/>
          <p:cNvSpPr/>
          <p:nvPr/>
        </p:nvSpPr>
        <p:spPr>
          <a:xfrm>
            <a:off x="8636508" y="4910328"/>
            <a:ext cx="384048" cy="384048"/>
          </a:xfrm>
          <a:prstGeom prst="ellipse">
            <a:avLst/>
          </a:prstGeom>
          <a:solidFill>
            <a:srgbClr val="1F4E7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 name="TextBox 33"/>
          <p:cNvSpPr txBox="1"/>
          <p:nvPr/>
        </p:nvSpPr>
        <p:spPr>
          <a:xfrm>
            <a:off x="8636508" y="4910328"/>
            <a:ext cx="384048" cy="384048"/>
          </a:xfrm>
          <a:prstGeom prst="rect">
            <a:avLst/>
          </a:prstGeom>
          <a:noFill/>
        </p:spPr>
        <p:txBody>
          <a:bodyPr wrap="square" lIns="0" tIns="0" rIns="0" bIns="0" anchor="ctr">
            <a:spAutoFit/>
          </a:bodyPr>
          <a:lstStyle/>
          <a:p>
            <a:pPr algn="ctr">
              <a:lnSpc>
                <a:spcPct val="100000"/>
              </a:lnSpc>
            </a:pPr>
            <a:r>
              <a:rPr sz="1000" b="1">
                <a:solidFill>
                  <a:srgbClr val="FFFFFF"/>
                </a:solidFill>
                <a:latin typeface="Segoe UI"/>
              </a:rPr>
              <a:t>05</a:t>
            </a:r>
          </a:p>
        </p:txBody>
      </p:sp>
      <p:sp>
        <p:nvSpPr>
          <p:cNvPr id="35" name="TextBox 34"/>
          <p:cNvSpPr txBox="1"/>
          <p:nvPr/>
        </p:nvSpPr>
        <p:spPr>
          <a:xfrm>
            <a:off x="9075420" y="4910328"/>
            <a:ext cx="868680" cy="384048"/>
          </a:xfrm>
          <a:prstGeom prst="rect">
            <a:avLst/>
          </a:prstGeom>
          <a:noFill/>
        </p:spPr>
        <p:txBody>
          <a:bodyPr wrap="square" lIns="0" tIns="0" rIns="0" bIns="0" anchor="ctr">
            <a:spAutoFit/>
          </a:bodyPr>
          <a:lstStyle/>
          <a:p>
            <a:pPr algn="l">
              <a:lnSpc>
                <a:spcPct val="100000"/>
              </a:lnSpc>
            </a:pPr>
            <a:r>
              <a:rPr sz="1100" b="0">
                <a:solidFill>
                  <a:srgbClr val="24323F"/>
                </a:solidFill>
                <a:latin typeface="Segoe UI Semibold"/>
              </a:rPr>
              <a:t>Load</a:t>
            </a:r>
          </a:p>
        </p:txBody>
      </p:sp>
      <p:sp>
        <p:nvSpPr>
          <p:cNvPr id="36" name="TextBox 35"/>
          <p:cNvSpPr txBox="1"/>
          <p:nvPr/>
        </p:nvSpPr>
        <p:spPr>
          <a:xfrm>
            <a:off x="8636508" y="5394960"/>
            <a:ext cx="1298448" cy="685800"/>
          </a:xfrm>
          <a:prstGeom prst="rect">
            <a:avLst/>
          </a:prstGeom>
          <a:noFill/>
        </p:spPr>
        <p:txBody>
          <a:bodyPr wrap="square" lIns="0" tIns="0" rIns="0" bIns="0" anchor="t">
            <a:spAutoFit/>
          </a:bodyPr>
          <a:lstStyle/>
          <a:p>
            <a:pPr algn="l">
              <a:lnSpc>
                <a:spcPct val="100000"/>
              </a:lnSpc>
            </a:pPr>
            <a:r>
              <a:rPr sz="1000" b="0">
                <a:solidFill>
                  <a:srgbClr val="6B7785"/>
                </a:solidFill>
                <a:latin typeface="Segoe UI"/>
              </a:rPr>
              <a:t>Type-2, derived
facts, one commit</a:t>
            </a:r>
          </a:p>
        </p:txBody>
      </p:sp>
      <p:sp>
        <p:nvSpPr>
          <p:cNvPr id="37" name="Rounded Rectangle 36"/>
          <p:cNvSpPr/>
          <p:nvPr/>
        </p:nvSpPr>
        <p:spPr>
          <a:xfrm>
            <a:off x="10122408" y="4800600"/>
            <a:ext cx="1463040" cy="1371600"/>
          </a:xfrm>
          <a:prstGeom prst="roundRect">
            <a:avLst>
              <a:gd name="adj" fmla="val 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8" name="Oval 37"/>
          <p:cNvSpPr/>
          <p:nvPr/>
        </p:nvSpPr>
        <p:spPr>
          <a:xfrm>
            <a:off x="10232136" y="4910328"/>
            <a:ext cx="384048" cy="384048"/>
          </a:xfrm>
          <a:prstGeom prst="ellipse">
            <a:avLst/>
          </a:prstGeom>
          <a:solidFill>
            <a:srgbClr val="1F4E7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9" name="TextBox 38"/>
          <p:cNvSpPr txBox="1"/>
          <p:nvPr/>
        </p:nvSpPr>
        <p:spPr>
          <a:xfrm>
            <a:off x="10232136" y="4910328"/>
            <a:ext cx="384048" cy="384048"/>
          </a:xfrm>
          <a:prstGeom prst="rect">
            <a:avLst/>
          </a:prstGeom>
          <a:noFill/>
        </p:spPr>
        <p:txBody>
          <a:bodyPr wrap="square" lIns="0" tIns="0" rIns="0" bIns="0" anchor="ctr">
            <a:spAutoFit/>
          </a:bodyPr>
          <a:lstStyle/>
          <a:p>
            <a:pPr algn="ctr">
              <a:lnSpc>
                <a:spcPct val="100000"/>
              </a:lnSpc>
            </a:pPr>
            <a:r>
              <a:rPr sz="1000" b="1">
                <a:solidFill>
                  <a:srgbClr val="FFFFFF"/>
                </a:solidFill>
                <a:latin typeface="Segoe UI"/>
              </a:rPr>
              <a:t>06</a:t>
            </a:r>
          </a:p>
        </p:txBody>
      </p:sp>
      <p:sp>
        <p:nvSpPr>
          <p:cNvPr id="40" name="TextBox 39"/>
          <p:cNvSpPr txBox="1"/>
          <p:nvPr/>
        </p:nvSpPr>
        <p:spPr>
          <a:xfrm>
            <a:off x="10671048" y="4910328"/>
            <a:ext cx="868680" cy="384048"/>
          </a:xfrm>
          <a:prstGeom prst="rect">
            <a:avLst/>
          </a:prstGeom>
          <a:noFill/>
        </p:spPr>
        <p:txBody>
          <a:bodyPr wrap="square" lIns="0" tIns="0" rIns="0" bIns="0" anchor="ctr">
            <a:spAutoFit/>
          </a:bodyPr>
          <a:lstStyle/>
          <a:p>
            <a:pPr algn="l">
              <a:lnSpc>
                <a:spcPct val="100000"/>
              </a:lnSpc>
            </a:pPr>
            <a:r>
              <a:rPr sz="1100" b="0">
                <a:solidFill>
                  <a:srgbClr val="24323F"/>
                </a:solidFill>
                <a:latin typeface="Segoe UI Semibold"/>
              </a:rPr>
              <a:t>Export</a:t>
            </a:r>
          </a:p>
        </p:txBody>
      </p:sp>
      <p:sp>
        <p:nvSpPr>
          <p:cNvPr id="41" name="TextBox 40"/>
          <p:cNvSpPr txBox="1"/>
          <p:nvPr/>
        </p:nvSpPr>
        <p:spPr>
          <a:xfrm>
            <a:off x="10232136" y="5394960"/>
            <a:ext cx="1298448" cy="685800"/>
          </a:xfrm>
          <a:prstGeom prst="rect">
            <a:avLst/>
          </a:prstGeom>
          <a:noFill/>
        </p:spPr>
        <p:txBody>
          <a:bodyPr wrap="square" lIns="0" tIns="0" rIns="0" bIns="0" anchor="t">
            <a:spAutoFit/>
          </a:bodyPr>
          <a:lstStyle/>
          <a:p>
            <a:pPr algn="l">
              <a:lnSpc>
                <a:spcPct val="100000"/>
              </a:lnSpc>
            </a:pPr>
            <a:r>
              <a:rPr sz="1000" b="0">
                <a:solidFill>
                  <a:srgbClr val="6B7785"/>
                </a:solidFill>
                <a:latin typeface="Segoe UI"/>
              </a:rPr>
              <a:t>.hyper per view,
counts reconciled</a:t>
            </a:r>
          </a:p>
        </p:txBody>
      </p:sp>
      <p:sp>
        <p:nvSpPr>
          <p:cNvPr id="42" name="TextBox 41"/>
          <p:cNvSpPr txBox="1"/>
          <p:nvPr/>
        </p:nvSpPr>
        <p:spPr>
          <a:xfrm>
            <a:off x="548640" y="6428232"/>
            <a:ext cx="5486400" cy="228600"/>
          </a:xfrm>
          <a:prstGeom prst="rect">
            <a:avLst/>
          </a:prstGeom>
          <a:noFill/>
        </p:spPr>
        <p:txBody>
          <a:bodyPr wrap="square" lIns="0" tIns="0" rIns="0" bIns="0" anchor="t">
            <a:spAutoFit/>
          </a:bodyPr>
          <a:lstStyle/>
          <a:p>
            <a:pPr algn="l">
              <a:lnSpc>
                <a:spcPct val="100000"/>
              </a:lnSpc>
            </a:pPr>
            <a:r>
              <a:rPr sz="1000" b="0">
                <a:solidFill>
                  <a:srgbClr val="6B7785"/>
                </a:solidFill>
                <a:latin typeface="Segoe UI"/>
              </a:rPr>
              <a:t>Cricket Analytics Platform</a:t>
            </a:r>
          </a:p>
        </p:txBody>
      </p:sp>
      <p:sp>
        <p:nvSpPr>
          <p:cNvPr id="43" name="TextBox 42"/>
          <p:cNvSpPr txBox="1"/>
          <p:nvPr/>
        </p:nvSpPr>
        <p:spPr>
          <a:xfrm>
            <a:off x="10725912" y="6428232"/>
            <a:ext cx="914400" cy="228600"/>
          </a:xfrm>
          <a:prstGeom prst="rect">
            <a:avLst/>
          </a:prstGeom>
          <a:noFill/>
        </p:spPr>
        <p:txBody>
          <a:bodyPr wrap="square" lIns="0" tIns="0" rIns="0" bIns="0" anchor="t">
            <a:spAutoFit/>
          </a:bodyPr>
          <a:lstStyle/>
          <a:p>
            <a:pPr algn="r">
              <a:lnSpc>
                <a:spcPct val="100000"/>
              </a:lnSpc>
            </a:pPr>
            <a:r>
              <a:rPr sz="1000" b="0">
                <a:solidFill>
                  <a:srgbClr val="6B7785"/>
                </a:solidFill>
                <a:latin typeface="Segoe UI"/>
              </a:rPr>
              <a:t>10</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EEF2F6"/>
        </a:solidFill>
        <a:effectLst/>
      </p:bgPr>
    </p:bg>
    <p:spTree>
      <p:nvGrpSpPr>
        <p:cNvPr id="1" name=""/>
        <p:cNvGrpSpPr/>
        <p:nvPr/>
      </p:nvGrpSpPr>
      <p:grpSpPr>
        <a:xfrm>
          <a:off x="0" y="0"/>
          <a:ext cx="0" cy="0"/>
          <a:chOff x="0" y="0"/>
          <a:chExt cx="0" cy="0"/>
        </a:xfrm>
      </p:grpSpPr>
      <p:sp>
        <p:nvSpPr>
          <p:cNvPr id="2" name="TextBox 1"/>
          <p:cNvSpPr txBox="1"/>
          <p:nvPr/>
        </p:nvSpPr>
        <p:spPr>
          <a:xfrm>
            <a:off x="548640" y="146304"/>
            <a:ext cx="10058400" cy="256032"/>
          </a:xfrm>
          <a:prstGeom prst="rect">
            <a:avLst/>
          </a:prstGeom>
          <a:noFill/>
        </p:spPr>
        <p:txBody>
          <a:bodyPr wrap="square" lIns="0" tIns="0" rIns="0" bIns="0" anchor="t">
            <a:spAutoFit/>
          </a:bodyPr>
          <a:lstStyle/>
          <a:p>
            <a:pPr algn="l">
              <a:lnSpc>
                <a:spcPct val="100000"/>
              </a:lnSpc>
            </a:pPr>
            <a:r>
              <a:rPr sz="1000" b="1">
                <a:solidFill>
                  <a:srgbClr val="F2A900"/>
                </a:solidFill>
                <a:latin typeface="Segoe UI"/>
              </a:rPr>
              <a:t>05  ·  ALTERYX IMPLEMENTATION</a:t>
            </a:r>
            <a:r>
              <a:rPr sz="1000" b="0">
                <a:solidFill>
                  <a:srgbClr val="6B7785"/>
                </a:solidFill>
                <a:latin typeface="Segoe UI"/>
              </a:rPr>
              <a:t>     Brief §4–5</a:t>
            </a:r>
          </a:p>
        </p:txBody>
      </p:sp>
      <p:sp>
        <p:nvSpPr>
          <p:cNvPr id="3" name="TextBox 2"/>
          <p:cNvSpPr txBox="1"/>
          <p:nvPr/>
        </p:nvSpPr>
        <p:spPr>
          <a:xfrm>
            <a:off x="548640" y="411480"/>
            <a:ext cx="11064240" cy="640080"/>
          </a:xfrm>
          <a:prstGeom prst="rect">
            <a:avLst/>
          </a:prstGeom>
          <a:noFill/>
        </p:spPr>
        <p:txBody>
          <a:bodyPr wrap="square" lIns="0" tIns="0" rIns="0" bIns="0" anchor="t">
            <a:spAutoFit/>
          </a:bodyPr>
          <a:lstStyle/>
          <a:p>
            <a:pPr algn="l">
              <a:lnSpc>
                <a:spcPct val="100000"/>
              </a:lnSpc>
            </a:pPr>
            <a:r>
              <a:rPr sz="3200" b="0">
                <a:solidFill>
                  <a:srgbClr val="1F4E79"/>
                </a:solidFill>
                <a:latin typeface="Segoe UI Semibold"/>
              </a:rPr>
              <a:t>Inside the Alteryx workflows</a:t>
            </a:r>
          </a:p>
        </p:txBody>
      </p:sp>
      <p:sp>
        <p:nvSpPr>
          <p:cNvPr id="4" name="TextBox 3"/>
          <p:cNvSpPr txBox="1"/>
          <p:nvPr/>
        </p:nvSpPr>
        <p:spPr>
          <a:xfrm>
            <a:off x="548640" y="1024128"/>
            <a:ext cx="11064240" cy="411480"/>
          </a:xfrm>
          <a:prstGeom prst="rect">
            <a:avLst/>
          </a:prstGeom>
          <a:noFill/>
        </p:spPr>
        <p:txBody>
          <a:bodyPr wrap="square" lIns="0" tIns="0" rIns="0" bIns="0" anchor="t">
            <a:spAutoFit/>
          </a:bodyPr>
          <a:lstStyle/>
          <a:p>
            <a:pPr algn="l">
              <a:lnSpc>
                <a:spcPct val="100000"/>
              </a:lnSpc>
            </a:pPr>
            <a:r>
              <a:rPr sz="1500" b="0">
                <a:solidFill>
                  <a:srgbClr val="6B7785"/>
                </a:solidFill>
                <a:latin typeface="Segoe UI"/>
              </a:rPr>
              <a:t>Each step in a labelled container; every run logged the same way</a:t>
            </a:r>
          </a:p>
        </p:txBody>
      </p:sp>
      <p:sp>
        <p:nvSpPr>
          <p:cNvPr id="5" name="Rounded Rectangle 4"/>
          <p:cNvSpPr/>
          <p:nvPr/>
        </p:nvSpPr>
        <p:spPr>
          <a:xfrm>
            <a:off x="548640" y="1600200"/>
            <a:ext cx="5440680" cy="1261872"/>
          </a:xfrm>
          <a:prstGeom prst="roundRect">
            <a:avLst>
              <a:gd name="adj" fmla="val 4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6" name="Picture 5" descr="alteryx_01_ingest_sql.png"/>
          <p:cNvPicPr>
            <a:picLocks noChangeAspect="1"/>
          </p:cNvPicPr>
          <p:nvPr/>
        </p:nvPicPr>
        <p:blipFill>
          <a:blip r:embed="rId3"/>
          <a:stretch>
            <a:fillRect/>
          </a:stretch>
        </p:blipFill>
        <p:spPr>
          <a:xfrm>
            <a:off x="2251320" y="1673352"/>
            <a:ext cx="2035318" cy="1115568"/>
          </a:xfrm>
          <a:prstGeom prst="rect">
            <a:avLst/>
          </a:prstGeom>
        </p:spPr>
      </p:pic>
      <p:sp>
        <p:nvSpPr>
          <p:cNvPr id="7" name="TextBox 6"/>
          <p:cNvSpPr txBox="1"/>
          <p:nvPr/>
        </p:nvSpPr>
        <p:spPr>
          <a:xfrm>
            <a:off x="548640" y="2880360"/>
            <a:ext cx="5440680" cy="256032"/>
          </a:xfrm>
          <a:prstGeom prst="rect">
            <a:avLst/>
          </a:prstGeom>
          <a:noFill/>
        </p:spPr>
        <p:txBody>
          <a:bodyPr wrap="square" lIns="0" tIns="0" rIns="0" bIns="0" anchor="t">
            <a:spAutoFit/>
          </a:bodyPr>
          <a:lstStyle/>
          <a:p>
            <a:pPr algn="l">
              <a:lnSpc>
                <a:spcPct val="100000"/>
              </a:lnSpc>
            </a:pPr>
            <a:r>
              <a:rPr sz="1100" b="0">
                <a:solidFill>
                  <a:srgbClr val="1F4E79"/>
                </a:solidFill>
                <a:latin typeface="Segoe UI Semibold"/>
              </a:rPr>
              <a:t>01 · SQL master data into Bronze</a:t>
            </a:r>
          </a:p>
        </p:txBody>
      </p:sp>
      <p:sp>
        <p:nvSpPr>
          <p:cNvPr id="8" name="Rounded Rectangle 7"/>
          <p:cNvSpPr/>
          <p:nvPr/>
        </p:nvSpPr>
        <p:spPr>
          <a:xfrm>
            <a:off x="6172200" y="1600200"/>
            <a:ext cx="5440680" cy="1261872"/>
          </a:xfrm>
          <a:prstGeom prst="roundRect">
            <a:avLst>
              <a:gd name="adj" fmla="val 4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9" name="Picture 8" descr="alteryx_02_ingest_json.png"/>
          <p:cNvPicPr>
            <a:picLocks noChangeAspect="1"/>
          </p:cNvPicPr>
          <p:nvPr/>
        </p:nvPicPr>
        <p:blipFill>
          <a:blip r:embed="rId4"/>
          <a:stretch>
            <a:fillRect/>
          </a:stretch>
        </p:blipFill>
        <p:spPr>
          <a:xfrm>
            <a:off x="7088836" y="1673352"/>
            <a:ext cx="3607407" cy="1115568"/>
          </a:xfrm>
          <a:prstGeom prst="rect">
            <a:avLst/>
          </a:prstGeom>
        </p:spPr>
      </p:pic>
      <p:sp>
        <p:nvSpPr>
          <p:cNvPr id="10" name="TextBox 9"/>
          <p:cNvSpPr txBox="1"/>
          <p:nvPr/>
        </p:nvSpPr>
        <p:spPr>
          <a:xfrm>
            <a:off x="6172200" y="2880360"/>
            <a:ext cx="5440680" cy="256032"/>
          </a:xfrm>
          <a:prstGeom prst="rect">
            <a:avLst/>
          </a:prstGeom>
          <a:noFill/>
        </p:spPr>
        <p:txBody>
          <a:bodyPr wrap="square" lIns="0" tIns="0" rIns="0" bIns="0" anchor="t">
            <a:spAutoFit/>
          </a:bodyPr>
          <a:lstStyle/>
          <a:p>
            <a:pPr algn="l">
              <a:lnSpc>
                <a:spcPct val="100000"/>
              </a:lnSpc>
            </a:pPr>
            <a:r>
              <a:rPr sz="1100" b="0">
                <a:solidFill>
                  <a:srgbClr val="1F4E79"/>
                </a:solidFill>
                <a:latin typeface="Segoe UI Semibold"/>
              </a:rPr>
              <a:t>02 · JSON: fingerprint, parse, flatten</a:t>
            </a:r>
          </a:p>
        </p:txBody>
      </p:sp>
      <p:sp>
        <p:nvSpPr>
          <p:cNvPr id="11" name="Rounded Rectangle 10"/>
          <p:cNvSpPr/>
          <p:nvPr/>
        </p:nvSpPr>
        <p:spPr>
          <a:xfrm>
            <a:off x="548640" y="3172968"/>
            <a:ext cx="5440680" cy="1261872"/>
          </a:xfrm>
          <a:prstGeom prst="roundRect">
            <a:avLst>
              <a:gd name="adj" fmla="val 4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12" name="Picture 11" descr="alteryx_03_ingest_csv.png"/>
          <p:cNvPicPr>
            <a:picLocks noChangeAspect="1"/>
          </p:cNvPicPr>
          <p:nvPr/>
        </p:nvPicPr>
        <p:blipFill>
          <a:blip r:embed="rId5"/>
          <a:stretch>
            <a:fillRect/>
          </a:stretch>
        </p:blipFill>
        <p:spPr>
          <a:xfrm>
            <a:off x="1671523" y="3246120"/>
            <a:ext cx="3194913" cy="1115568"/>
          </a:xfrm>
          <a:prstGeom prst="rect">
            <a:avLst/>
          </a:prstGeom>
        </p:spPr>
      </p:pic>
      <p:sp>
        <p:nvSpPr>
          <p:cNvPr id="13" name="TextBox 12"/>
          <p:cNvSpPr txBox="1"/>
          <p:nvPr/>
        </p:nvSpPr>
        <p:spPr>
          <a:xfrm>
            <a:off x="548640" y="4453127"/>
            <a:ext cx="5440680" cy="256032"/>
          </a:xfrm>
          <a:prstGeom prst="rect">
            <a:avLst/>
          </a:prstGeom>
          <a:noFill/>
        </p:spPr>
        <p:txBody>
          <a:bodyPr wrap="square" lIns="0" tIns="0" rIns="0" bIns="0" anchor="t">
            <a:spAutoFit/>
          </a:bodyPr>
          <a:lstStyle/>
          <a:p>
            <a:pPr algn="l">
              <a:lnSpc>
                <a:spcPct val="100000"/>
              </a:lnSpc>
            </a:pPr>
            <a:r>
              <a:rPr sz="1100" b="0">
                <a:solidFill>
                  <a:srgbClr val="1F4E79"/>
                </a:solidFill>
                <a:latin typeface="Segoe UI Semibold"/>
              </a:rPr>
              <a:t>03 · CSV: route by name, batch-read</a:t>
            </a:r>
          </a:p>
        </p:txBody>
      </p:sp>
      <p:sp>
        <p:nvSpPr>
          <p:cNvPr id="14" name="Rounded Rectangle 13"/>
          <p:cNvSpPr/>
          <p:nvPr/>
        </p:nvSpPr>
        <p:spPr>
          <a:xfrm>
            <a:off x="6172200" y="3172968"/>
            <a:ext cx="5440680" cy="1261872"/>
          </a:xfrm>
          <a:prstGeom prst="roundRect">
            <a:avLst>
              <a:gd name="adj" fmla="val 4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15" name="Picture 14" descr="alteryx_04b_dq_feedback.png"/>
          <p:cNvPicPr>
            <a:picLocks noChangeAspect="1"/>
          </p:cNvPicPr>
          <p:nvPr/>
        </p:nvPicPr>
        <p:blipFill>
          <a:blip r:embed="rId6"/>
          <a:stretch>
            <a:fillRect/>
          </a:stretch>
        </p:blipFill>
        <p:spPr>
          <a:xfrm>
            <a:off x="8102101" y="3246120"/>
            <a:ext cx="1580877" cy="1115568"/>
          </a:xfrm>
          <a:prstGeom prst="rect">
            <a:avLst/>
          </a:prstGeom>
        </p:spPr>
      </p:pic>
      <p:sp>
        <p:nvSpPr>
          <p:cNvPr id="16" name="TextBox 15"/>
          <p:cNvSpPr txBox="1"/>
          <p:nvPr/>
        </p:nvSpPr>
        <p:spPr>
          <a:xfrm>
            <a:off x="6172200" y="4453127"/>
            <a:ext cx="5440680" cy="256032"/>
          </a:xfrm>
          <a:prstGeom prst="rect">
            <a:avLst/>
          </a:prstGeom>
          <a:noFill/>
        </p:spPr>
        <p:txBody>
          <a:bodyPr wrap="square" lIns="0" tIns="0" rIns="0" bIns="0" anchor="t">
            <a:spAutoFit/>
          </a:bodyPr>
          <a:lstStyle/>
          <a:p>
            <a:pPr algn="l">
              <a:lnSpc>
                <a:spcPct val="100000"/>
              </a:lnSpc>
            </a:pPr>
            <a:r>
              <a:rPr sz="1100" b="0">
                <a:solidFill>
                  <a:srgbClr val="1F4E79"/>
                </a:solidFill>
                <a:latin typeface="Segoe UI Semibold"/>
              </a:rPr>
              <a:t>04b · Quality scores and owner reports</a:t>
            </a:r>
          </a:p>
        </p:txBody>
      </p:sp>
      <p:sp>
        <p:nvSpPr>
          <p:cNvPr id="17" name="Rounded Rectangle 16"/>
          <p:cNvSpPr/>
          <p:nvPr/>
        </p:nvSpPr>
        <p:spPr>
          <a:xfrm>
            <a:off x="548640" y="4745736"/>
            <a:ext cx="5440680" cy="1261872"/>
          </a:xfrm>
          <a:prstGeom prst="roundRect">
            <a:avLst>
              <a:gd name="adj" fmla="val 4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18" name="Picture 17" descr="alteryx_05_transform_load.png"/>
          <p:cNvPicPr>
            <a:picLocks noChangeAspect="1"/>
          </p:cNvPicPr>
          <p:nvPr/>
        </p:nvPicPr>
        <p:blipFill>
          <a:blip r:embed="rId7"/>
          <a:stretch>
            <a:fillRect/>
          </a:stretch>
        </p:blipFill>
        <p:spPr>
          <a:xfrm>
            <a:off x="2030436" y="4818888"/>
            <a:ext cx="2477087" cy="1115568"/>
          </a:xfrm>
          <a:prstGeom prst="rect">
            <a:avLst/>
          </a:prstGeom>
        </p:spPr>
      </p:pic>
      <p:sp>
        <p:nvSpPr>
          <p:cNvPr id="19" name="TextBox 18"/>
          <p:cNvSpPr txBox="1"/>
          <p:nvPr/>
        </p:nvSpPr>
        <p:spPr>
          <a:xfrm>
            <a:off x="548640" y="6025896"/>
            <a:ext cx="5440680" cy="256032"/>
          </a:xfrm>
          <a:prstGeom prst="rect">
            <a:avLst/>
          </a:prstGeom>
          <a:noFill/>
        </p:spPr>
        <p:txBody>
          <a:bodyPr wrap="square" lIns="0" tIns="0" rIns="0" bIns="0" anchor="t">
            <a:spAutoFit/>
          </a:bodyPr>
          <a:lstStyle/>
          <a:p>
            <a:pPr algn="l">
              <a:lnSpc>
                <a:spcPct val="100000"/>
              </a:lnSpc>
            </a:pPr>
            <a:r>
              <a:rPr sz="1100" b="0">
                <a:solidFill>
                  <a:srgbClr val="1F4E79"/>
                </a:solidFill>
                <a:latin typeface="Segoe UI Semibold"/>
              </a:rPr>
              <a:t>05 · Star schema, one-transaction publish</a:t>
            </a:r>
          </a:p>
        </p:txBody>
      </p:sp>
      <p:sp>
        <p:nvSpPr>
          <p:cNvPr id="20" name="Rounded Rectangle 19"/>
          <p:cNvSpPr/>
          <p:nvPr/>
        </p:nvSpPr>
        <p:spPr>
          <a:xfrm>
            <a:off x="6172200" y="4745736"/>
            <a:ext cx="5440680" cy="1261872"/>
          </a:xfrm>
          <a:prstGeom prst="roundRect">
            <a:avLst>
              <a:gd name="adj" fmla="val 4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21" name="Picture 20" descr="alteryx_06_export_reporting.png"/>
          <p:cNvPicPr>
            <a:picLocks noChangeAspect="1"/>
          </p:cNvPicPr>
          <p:nvPr/>
        </p:nvPicPr>
        <p:blipFill>
          <a:blip r:embed="rId8"/>
          <a:stretch>
            <a:fillRect/>
          </a:stretch>
        </p:blipFill>
        <p:spPr>
          <a:xfrm>
            <a:off x="6914032" y="4818888"/>
            <a:ext cx="3957014" cy="1115568"/>
          </a:xfrm>
          <a:prstGeom prst="rect">
            <a:avLst/>
          </a:prstGeom>
        </p:spPr>
      </p:pic>
      <p:sp>
        <p:nvSpPr>
          <p:cNvPr id="22" name="TextBox 21"/>
          <p:cNvSpPr txBox="1"/>
          <p:nvPr/>
        </p:nvSpPr>
        <p:spPr>
          <a:xfrm>
            <a:off x="6172200" y="6025896"/>
            <a:ext cx="5440680" cy="256032"/>
          </a:xfrm>
          <a:prstGeom prst="rect">
            <a:avLst/>
          </a:prstGeom>
          <a:noFill/>
        </p:spPr>
        <p:txBody>
          <a:bodyPr wrap="square" lIns="0" tIns="0" rIns="0" bIns="0" anchor="t">
            <a:spAutoFit/>
          </a:bodyPr>
          <a:lstStyle/>
          <a:p>
            <a:pPr algn="l">
              <a:lnSpc>
                <a:spcPct val="100000"/>
              </a:lnSpc>
            </a:pPr>
            <a:r>
              <a:rPr sz="1100" b="0">
                <a:solidFill>
                  <a:srgbClr val="1F4E79"/>
                </a:solidFill>
                <a:latin typeface="Segoe UI Semibold"/>
              </a:rPr>
              <a:t>06 · Export every view to .hyper</a:t>
            </a:r>
          </a:p>
        </p:txBody>
      </p:sp>
      <p:sp>
        <p:nvSpPr>
          <p:cNvPr id="23" name="TextBox 22"/>
          <p:cNvSpPr txBox="1"/>
          <p:nvPr/>
        </p:nvSpPr>
        <p:spPr>
          <a:xfrm>
            <a:off x="548640" y="6428232"/>
            <a:ext cx="5486400" cy="228600"/>
          </a:xfrm>
          <a:prstGeom prst="rect">
            <a:avLst/>
          </a:prstGeom>
          <a:noFill/>
        </p:spPr>
        <p:txBody>
          <a:bodyPr wrap="square" lIns="0" tIns="0" rIns="0" bIns="0" anchor="t">
            <a:spAutoFit/>
          </a:bodyPr>
          <a:lstStyle/>
          <a:p>
            <a:pPr algn="l">
              <a:lnSpc>
                <a:spcPct val="100000"/>
              </a:lnSpc>
            </a:pPr>
            <a:r>
              <a:rPr sz="1000" b="0">
                <a:solidFill>
                  <a:srgbClr val="6B7785"/>
                </a:solidFill>
                <a:latin typeface="Segoe UI"/>
              </a:rPr>
              <a:t>Cricket Analytics Platform</a:t>
            </a:r>
          </a:p>
        </p:txBody>
      </p:sp>
      <p:sp>
        <p:nvSpPr>
          <p:cNvPr id="24" name="TextBox 23"/>
          <p:cNvSpPr txBox="1"/>
          <p:nvPr/>
        </p:nvSpPr>
        <p:spPr>
          <a:xfrm>
            <a:off x="10725912" y="6428232"/>
            <a:ext cx="914400" cy="228600"/>
          </a:xfrm>
          <a:prstGeom prst="rect">
            <a:avLst/>
          </a:prstGeom>
          <a:noFill/>
        </p:spPr>
        <p:txBody>
          <a:bodyPr wrap="square" lIns="0" tIns="0" rIns="0" bIns="0" anchor="t">
            <a:spAutoFit/>
          </a:bodyPr>
          <a:lstStyle/>
          <a:p>
            <a:pPr algn="r">
              <a:lnSpc>
                <a:spcPct val="100000"/>
              </a:lnSpc>
            </a:pPr>
            <a:r>
              <a:rPr sz="1000" b="0">
                <a:solidFill>
                  <a:srgbClr val="6B7785"/>
                </a:solidFill>
                <a:latin typeface="Segoe UI"/>
              </a:rPr>
              <a:t>11</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EEF2F6"/>
        </a:solidFill>
        <a:effectLst/>
      </p:bgPr>
    </p:bg>
    <p:spTree>
      <p:nvGrpSpPr>
        <p:cNvPr id="1" name=""/>
        <p:cNvGrpSpPr/>
        <p:nvPr/>
      </p:nvGrpSpPr>
      <p:grpSpPr>
        <a:xfrm>
          <a:off x="0" y="0"/>
          <a:ext cx="0" cy="0"/>
          <a:chOff x="0" y="0"/>
          <a:chExt cx="0" cy="0"/>
        </a:xfrm>
      </p:grpSpPr>
      <p:sp>
        <p:nvSpPr>
          <p:cNvPr id="2" name="TextBox 1"/>
          <p:cNvSpPr txBox="1"/>
          <p:nvPr/>
        </p:nvSpPr>
        <p:spPr>
          <a:xfrm>
            <a:off x="548640" y="146304"/>
            <a:ext cx="10058400" cy="256032"/>
          </a:xfrm>
          <a:prstGeom prst="rect">
            <a:avLst/>
          </a:prstGeom>
          <a:noFill/>
        </p:spPr>
        <p:txBody>
          <a:bodyPr wrap="square" lIns="0" tIns="0" rIns="0" bIns="0" anchor="t">
            <a:spAutoFit/>
          </a:bodyPr>
          <a:lstStyle/>
          <a:p>
            <a:pPr algn="l">
              <a:lnSpc>
                <a:spcPct val="100000"/>
              </a:lnSpc>
            </a:pPr>
            <a:r>
              <a:rPr sz="1000" b="1">
                <a:solidFill>
                  <a:srgbClr val="F2A900"/>
                </a:solidFill>
                <a:latin typeface="Segoe UI"/>
              </a:rPr>
              <a:t>06  ·  DATA PROCESSING</a:t>
            </a:r>
            <a:r>
              <a:rPr sz="1000" b="0">
                <a:solidFill>
                  <a:srgbClr val="6B7785"/>
                </a:solidFill>
                <a:latin typeface="Segoe UI"/>
              </a:rPr>
              <a:t>     Brief §5</a:t>
            </a:r>
          </a:p>
        </p:txBody>
      </p:sp>
      <p:sp>
        <p:nvSpPr>
          <p:cNvPr id="3" name="TextBox 2"/>
          <p:cNvSpPr txBox="1"/>
          <p:nvPr/>
        </p:nvSpPr>
        <p:spPr>
          <a:xfrm>
            <a:off x="548640" y="411480"/>
            <a:ext cx="11064240" cy="640080"/>
          </a:xfrm>
          <a:prstGeom prst="rect">
            <a:avLst/>
          </a:prstGeom>
          <a:noFill/>
        </p:spPr>
        <p:txBody>
          <a:bodyPr wrap="square" lIns="0" tIns="0" rIns="0" bIns="0" anchor="t">
            <a:spAutoFit/>
          </a:bodyPr>
          <a:lstStyle/>
          <a:p>
            <a:pPr algn="l">
              <a:lnSpc>
                <a:spcPct val="100000"/>
              </a:lnSpc>
            </a:pPr>
            <a:r>
              <a:rPr sz="3200" b="0">
                <a:solidFill>
                  <a:srgbClr val="1F4E79"/>
                </a:solidFill>
                <a:latin typeface="Segoe UI Semibold"/>
              </a:rPr>
              <a:t>Data processing</a:t>
            </a:r>
          </a:p>
        </p:txBody>
      </p:sp>
      <p:sp>
        <p:nvSpPr>
          <p:cNvPr id="4" name="TextBox 3"/>
          <p:cNvSpPr txBox="1"/>
          <p:nvPr/>
        </p:nvSpPr>
        <p:spPr>
          <a:xfrm>
            <a:off x="548640" y="1024128"/>
            <a:ext cx="11064240" cy="411480"/>
          </a:xfrm>
          <a:prstGeom prst="rect">
            <a:avLst/>
          </a:prstGeom>
          <a:noFill/>
        </p:spPr>
        <p:txBody>
          <a:bodyPr wrap="square" lIns="0" tIns="0" rIns="0" bIns="0" anchor="t">
            <a:spAutoFit/>
          </a:bodyPr>
          <a:lstStyle/>
          <a:p>
            <a:pPr algn="l">
              <a:lnSpc>
                <a:spcPct val="100000"/>
              </a:lnSpc>
            </a:pPr>
            <a:r>
              <a:rPr sz="1500" b="0">
                <a:solidFill>
                  <a:srgbClr val="6B7785"/>
                </a:solidFill>
                <a:latin typeface="Segoe UI"/>
              </a:rPr>
              <a:t>What happens to the data between a raw file and the warehouse</a:t>
            </a:r>
          </a:p>
        </p:txBody>
      </p:sp>
      <p:sp>
        <p:nvSpPr>
          <p:cNvPr id="5" name="TextBox 4"/>
          <p:cNvSpPr txBox="1"/>
          <p:nvPr/>
        </p:nvSpPr>
        <p:spPr>
          <a:xfrm>
            <a:off x="548640" y="1572768"/>
            <a:ext cx="3291840" cy="274320"/>
          </a:xfrm>
          <a:prstGeom prst="rect">
            <a:avLst/>
          </a:prstGeom>
          <a:noFill/>
        </p:spPr>
        <p:txBody>
          <a:bodyPr wrap="square" lIns="0" tIns="0" rIns="0" bIns="0" anchor="t">
            <a:spAutoFit/>
          </a:bodyPr>
          <a:lstStyle/>
          <a:p>
            <a:pPr algn="l">
              <a:lnSpc>
                <a:spcPct val="100000"/>
              </a:lnSpc>
            </a:pPr>
            <a:r>
              <a:rPr sz="1000" b="1">
                <a:solidFill>
                  <a:srgbClr val="6B7785"/>
                </a:solidFill>
                <a:latin typeface="Segoe UI"/>
              </a:rPr>
              <a:t>INPUT</a:t>
            </a:r>
          </a:p>
        </p:txBody>
      </p:sp>
      <p:sp>
        <p:nvSpPr>
          <p:cNvPr id="6" name="TextBox 5"/>
          <p:cNvSpPr txBox="1"/>
          <p:nvPr/>
        </p:nvSpPr>
        <p:spPr>
          <a:xfrm>
            <a:off x="4343400" y="1572768"/>
            <a:ext cx="3291840" cy="274320"/>
          </a:xfrm>
          <a:prstGeom prst="rect">
            <a:avLst/>
          </a:prstGeom>
          <a:noFill/>
        </p:spPr>
        <p:txBody>
          <a:bodyPr wrap="square" lIns="0" tIns="0" rIns="0" bIns="0" anchor="t">
            <a:spAutoFit/>
          </a:bodyPr>
          <a:lstStyle/>
          <a:p>
            <a:pPr algn="l">
              <a:lnSpc>
                <a:spcPct val="100000"/>
              </a:lnSpc>
            </a:pPr>
            <a:r>
              <a:rPr sz="1000" b="1">
                <a:solidFill>
                  <a:srgbClr val="1F4E79"/>
                </a:solidFill>
                <a:latin typeface="Segoe UI"/>
              </a:rPr>
              <a:t>PROCESSING (ALTERYX)</a:t>
            </a:r>
          </a:p>
        </p:txBody>
      </p:sp>
      <p:sp>
        <p:nvSpPr>
          <p:cNvPr id="7" name="TextBox 6"/>
          <p:cNvSpPr txBox="1"/>
          <p:nvPr/>
        </p:nvSpPr>
        <p:spPr>
          <a:xfrm>
            <a:off x="8138160" y="1572768"/>
            <a:ext cx="3474720" cy="274320"/>
          </a:xfrm>
          <a:prstGeom prst="rect">
            <a:avLst/>
          </a:prstGeom>
          <a:noFill/>
        </p:spPr>
        <p:txBody>
          <a:bodyPr wrap="square" lIns="0" tIns="0" rIns="0" bIns="0" anchor="t">
            <a:spAutoFit/>
          </a:bodyPr>
          <a:lstStyle/>
          <a:p>
            <a:pPr algn="l">
              <a:lnSpc>
                <a:spcPct val="100000"/>
              </a:lnSpc>
            </a:pPr>
            <a:r>
              <a:rPr sz="1000" b="1">
                <a:solidFill>
                  <a:srgbClr val="6B7785"/>
                </a:solidFill>
                <a:latin typeface="Segoe UI"/>
              </a:rPr>
              <a:t>OUTPUT</a:t>
            </a:r>
          </a:p>
        </p:txBody>
      </p:sp>
      <p:sp>
        <p:nvSpPr>
          <p:cNvPr id="8" name="Rounded Rectangle 7"/>
          <p:cNvSpPr/>
          <p:nvPr/>
        </p:nvSpPr>
        <p:spPr>
          <a:xfrm>
            <a:off x="548640" y="1901952"/>
            <a:ext cx="3291840" cy="713232"/>
          </a:xfrm>
          <a:prstGeom prst="roundRect">
            <a:avLst>
              <a:gd name="adj" fmla="val 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731520" y="1901952"/>
            <a:ext cx="3017520" cy="713232"/>
          </a:xfrm>
          <a:prstGeom prst="rect">
            <a:avLst/>
          </a:prstGeom>
          <a:noFill/>
        </p:spPr>
        <p:txBody>
          <a:bodyPr wrap="square" lIns="0" tIns="0" rIns="0" bIns="0" anchor="ctr">
            <a:spAutoFit/>
          </a:bodyPr>
          <a:lstStyle/>
          <a:p>
            <a:pPr algn="l">
              <a:lnSpc>
                <a:spcPct val="100000"/>
              </a:lnSpc>
            </a:pPr>
            <a:r>
              <a:rPr sz="1300" b="0">
                <a:solidFill>
                  <a:srgbClr val="24323F"/>
                </a:solidFill>
                <a:latin typeface="Segoe UI"/>
              </a:rPr>
              <a:t>Nested JSON match file</a:t>
            </a:r>
          </a:p>
        </p:txBody>
      </p:sp>
      <p:cxnSp>
        <p:nvCxnSpPr>
          <p:cNvPr id="10" name="Connector 9"/>
          <p:cNvCxnSpPr/>
          <p:nvPr/>
        </p:nvCxnSpPr>
        <p:spPr>
          <a:xfrm>
            <a:off x="3886200" y="2258568"/>
            <a:ext cx="393192" cy="0"/>
          </a:xfrm>
          <a:prstGeom prst="line">
            <a:avLst/>
          </a:prstGeom>
          <a:ln w="25400">
            <a:solidFill>
              <a:srgbClr val="F2A900"/>
            </a:solidFill>
            <a:tailEnd type="triangle" w="med" len="med"/>
          </a:ln>
        </p:spPr>
        <p:style>
          <a:lnRef idx="2">
            <a:schemeClr val="accent1"/>
          </a:lnRef>
          <a:fillRef idx="0">
            <a:schemeClr val="accent1"/>
          </a:fillRef>
          <a:effectRef idx="1">
            <a:schemeClr val="accent1"/>
          </a:effectRef>
          <a:fontRef idx="minor">
            <a:schemeClr val="tx1"/>
          </a:fontRef>
        </p:style>
      </p:cxnSp>
      <p:sp>
        <p:nvSpPr>
          <p:cNvPr id="11" name="Rounded Rectangle 10"/>
          <p:cNvSpPr/>
          <p:nvPr/>
        </p:nvSpPr>
        <p:spPr>
          <a:xfrm>
            <a:off x="4343400" y="1901952"/>
            <a:ext cx="3291840" cy="713232"/>
          </a:xfrm>
          <a:prstGeom prst="roundRect">
            <a:avLst>
              <a:gd name="adj" fmla="val 6000"/>
            </a:avLst>
          </a:prstGeom>
          <a:solidFill>
            <a:srgbClr val="1F4E7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4526280" y="1901952"/>
            <a:ext cx="3017520" cy="713232"/>
          </a:xfrm>
          <a:prstGeom prst="rect">
            <a:avLst/>
          </a:prstGeom>
          <a:noFill/>
        </p:spPr>
        <p:txBody>
          <a:bodyPr wrap="square" lIns="0" tIns="0" rIns="0" bIns="0" anchor="ctr">
            <a:spAutoFit/>
          </a:bodyPr>
          <a:lstStyle/>
          <a:p>
            <a:pPr algn="l">
              <a:lnSpc>
                <a:spcPct val="100000"/>
              </a:lnSpc>
            </a:pPr>
            <a:r>
              <a:rPr sz="1200" b="1">
                <a:solidFill>
                  <a:srgbClr val="FFFFFF"/>
                </a:solidFill>
                <a:latin typeface="Segoe UI"/>
              </a:rPr>
              <a:t>Parse and flatten
JSON Parse · Cross Tab</a:t>
            </a:r>
          </a:p>
        </p:txBody>
      </p:sp>
      <p:cxnSp>
        <p:nvCxnSpPr>
          <p:cNvPr id="13" name="Connector 12"/>
          <p:cNvCxnSpPr/>
          <p:nvPr/>
        </p:nvCxnSpPr>
        <p:spPr>
          <a:xfrm>
            <a:off x="7680960" y="2258568"/>
            <a:ext cx="393192" cy="0"/>
          </a:xfrm>
          <a:prstGeom prst="line">
            <a:avLst/>
          </a:prstGeom>
          <a:ln w="25400">
            <a:solidFill>
              <a:srgbClr val="F2A900"/>
            </a:solidFill>
            <a:tailEnd type="triangle" w="med" len="med"/>
          </a:ln>
        </p:spPr>
        <p:style>
          <a:lnRef idx="2">
            <a:schemeClr val="accent1"/>
          </a:lnRef>
          <a:fillRef idx="0">
            <a:schemeClr val="accent1"/>
          </a:fillRef>
          <a:effectRef idx="1">
            <a:schemeClr val="accent1"/>
          </a:effectRef>
          <a:fontRef idx="minor">
            <a:schemeClr val="tx1"/>
          </a:fontRef>
        </p:style>
      </p:cxnSp>
      <p:sp>
        <p:nvSpPr>
          <p:cNvPr id="14" name="Rounded Rectangle 13"/>
          <p:cNvSpPr/>
          <p:nvPr/>
        </p:nvSpPr>
        <p:spPr>
          <a:xfrm>
            <a:off x="8138160" y="1901952"/>
            <a:ext cx="3474720" cy="713232"/>
          </a:xfrm>
          <a:prstGeom prst="roundRect">
            <a:avLst>
              <a:gd name="adj" fmla="val 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8321040" y="1901952"/>
            <a:ext cx="3200400" cy="713232"/>
          </a:xfrm>
          <a:prstGeom prst="rect">
            <a:avLst/>
          </a:prstGeom>
          <a:noFill/>
        </p:spPr>
        <p:txBody>
          <a:bodyPr wrap="square" lIns="0" tIns="0" rIns="0" bIns="0" anchor="ctr">
            <a:spAutoFit/>
          </a:bodyPr>
          <a:lstStyle/>
          <a:p>
            <a:pPr algn="l">
              <a:lnSpc>
                <a:spcPct val="100000"/>
              </a:lnSpc>
            </a:pPr>
            <a:r>
              <a:rPr sz="1200" b="0">
                <a:solidFill>
                  <a:srgbClr val="24323F"/>
                </a:solidFill>
                <a:latin typeface="Segoe UI"/>
              </a:rPr>
              <a:t>1 match row + its innings rows</a:t>
            </a:r>
          </a:p>
        </p:txBody>
      </p:sp>
      <p:sp>
        <p:nvSpPr>
          <p:cNvPr id="16" name="Rounded Rectangle 15"/>
          <p:cNvSpPr/>
          <p:nvPr/>
        </p:nvSpPr>
        <p:spPr>
          <a:xfrm>
            <a:off x="548640" y="2743200"/>
            <a:ext cx="3291840" cy="713232"/>
          </a:xfrm>
          <a:prstGeom prst="roundRect">
            <a:avLst>
              <a:gd name="adj" fmla="val 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731520" y="2743200"/>
            <a:ext cx="3017520" cy="713232"/>
          </a:xfrm>
          <a:prstGeom prst="rect">
            <a:avLst/>
          </a:prstGeom>
          <a:noFill/>
        </p:spPr>
        <p:txBody>
          <a:bodyPr wrap="square" lIns="0" tIns="0" rIns="0" bIns="0" anchor="ctr">
            <a:spAutoFit/>
          </a:bodyPr>
          <a:lstStyle/>
          <a:p>
            <a:pPr algn="l">
              <a:lnSpc>
                <a:spcPct val="100000"/>
              </a:lnSpc>
            </a:pPr>
            <a:r>
              <a:rPr sz="1300" b="0">
                <a:solidFill>
                  <a:srgbClr val="24323F"/>
                </a:solidFill>
                <a:latin typeface="Segoe UI"/>
              </a:rPr>
              <a:t>28,069 deliveries</a:t>
            </a:r>
          </a:p>
        </p:txBody>
      </p:sp>
      <p:cxnSp>
        <p:nvCxnSpPr>
          <p:cNvPr id="18" name="Connector 17"/>
          <p:cNvCxnSpPr/>
          <p:nvPr/>
        </p:nvCxnSpPr>
        <p:spPr>
          <a:xfrm>
            <a:off x="3886200" y="3099816"/>
            <a:ext cx="393192" cy="0"/>
          </a:xfrm>
          <a:prstGeom prst="line">
            <a:avLst/>
          </a:prstGeom>
          <a:ln w="25400">
            <a:solidFill>
              <a:srgbClr val="F2A900"/>
            </a:solidFill>
            <a:tailEnd type="triangle" w="med" len="med"/>
          </a:ln>
        </p:spPr>
        <p:style>
          <a:lnRef idx="2">
            <a:schemeClr val="accent1"/>
          </a:lnRef>
          <a:fillRef idx="0">
            <a:schemeClr val="accent1"/>
          </a:fillRef>
          <a:effectRef idx="1">
            <a:schemeClr val="accent1"/>
          </a:effectRef>
          <a:fontRef idx="minor">
            <a:schemeClr val="tx1"/>
          </a:fontRef>
        </p:style>
      </p:cxnSp>
      <p:sp>
        <p:nvSpPr>
          <p:cNvPr id="19" name="Rounded Rectangle 18"/>
          <p:cNvSpPr/>
          <p:nvPr/>
        </p:nvSpPr>
        <p:spPr>
          <a:xfrm>
            <a:off x="4343400" y="2743200"/>
            <a:ext cx="3291840" cy="713232"/>
          </a:xfrm>
          <a:prstGeom prst="roundRect">
            <a:avLst>
              <a:gd name="adj" fmla="val 6000"/>
            </a:avLst>
          </a:prstGeom>
          <a:solidFill>
            <a:srgbClr val="1F4E7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4526280" y="2743200"/>
            <a:ext cx="3017520" cy="713232"/>
          </a:xfrm>
          <a:prstGeom prst="rect">
            <a:avLst/>
          </a:prstGeom>
          <a:noFill/>
        </p:spPr>
        <p:txBody>
          <a:bodyPr wrap="square" lIns="0" tIns="0" rIns="0" bIns="0" anchor="ctr">
            <a:spAutoFit/>
          </a:bodyPr>
          <a:lstStyle/>
          <a:p>
            <a:pPr algn="l">
              <a:lnSpc>
                <a:spcPct val="100000"/>
              </a:lnSpc>
            </a:pPr>
            <a:r>
              <a:rPr sz="1200" b="1">
                <a:solidFill>
                  <a:srgbClr val="FFFFFF"/>
                </a:solidFill>
                <a:latin typeface="Segoe UI"/>
              </a:rPr>
              <a:t>Derive facts
Summarize · Multi-Row Formula</a:t>
            </a:r>
          </a:p>
        </p:txBody>
      </p:sp>
      <p:cxnSp>
        <p:nvCxnSpPr>
          <p:cNvPr id="21" name="Connector 20"/>
          <p:cNvCxnSpPr/>
          <p:nvPr/>
        </p:nvCxnSpPr>
        <p:spPr>
          <a:xfrm>
            <a:off x="7680960" y="3099816"/>
            <a:ext cx="393192" cy="0"/>
          </a:xfrm>
          <a:prstGeom prst="line">
            <a:avLst/>
          </a:prstGeom>
          <a:ln w="25400">
            <a:solidFill>
              <a:srgbClr val="F2A900"/>
            </a:solidFill>
            <a:tailEnd type="triangle" w="med" len="med"/>
          </a:ln>
        </p:spPr>
        <p:style>
          <a:lnRef idx="2">
            <a:schemeClr val="accent1"/>
          </a:lnRef>
          <a:fillRef idx="0">
            <a:schemeClr val="accent1"/>
          </a:fillRef>
          <a:effectRef idx="1">
            <a:schemeClr val="accent1"/>
          </a:effectRef>
          <a:fontRef idx="minor">
            <a:schemeClr val="tx1"/>
          </a:fontRef>
        </p:style>
      </p:cxnSp>
      <p:sp>
        <p:nvSpPr>
          <p:cNvPr id="22" name="Rounded Rectangle 21"/>
          <p:cNvSpPr/>
          <p:nvPr/>
        </p:nvSpPr>
        <p:spPr>
          <a:xfrm>
            <a:off x="8138160" y="2743200"/>
            <a:ext cx="3474720" cy="713232"/>
          </a:xfrm>
          <a:prstGeom prst="roundRect">
            <a:avLst>
              <a:gd name="adj" fmla="val 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8321040" y="2743200"/>
            <a:ext cx="3200400" cy="713232"/>
          </a:xfrm>
          <a:prstGeom prst="rect">
            <a:avLst/>
          </a:prstGeom>
          <a:noFill/>
        </p:spPr>
        <p:txBody>
          <a:bodyPr wrap="square" lIns="0" tIns="0" rIns="0" bIns="0" anchor="ctr">
            <a:spAutoFit/>
          </a:bodyPr>
          <a:lstStyle/>
          <a:p>
            <a:pPr algn="l">
              <a:lnSpc>
                <a:spcPct val="100000"/>
              </a:lnSpc>
            </a:pPr>
            <a:r>
              <a:rPr sz="1200" b="0">
                <a:solidFill>
                  <a:srgbClr val="24323F"/>
                </a:solidFill>
                <a:latin typeface="Segoe UI"/>
              </a:rPr>
              <a:t>batting 2,046 · bowling 1,246 · partnerships 1,839 · wickets 1,673</a:t>
            </a:r>
          </a:p>
        </p:txBody>
      </p:sp>
      <p:sp>
        <p:nvSpPr>
          <p:cNvPr id="24" name="Rounded Rectangle 23"/>
          <p:cNvSpPr/>
          <p:nvPr/>
        </p:nvSpPr>
        <p:spPr>
          <a:xfrm>
            <a:off x="548640" y="3584448"/>
            <a:ext cx="3291840" cy="713232"/>
          </a:xfrm>
          <a:prstGeom prst="roundRect">
            <a:avLst>
              <a:gd name="adj" fmla="val 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TextBox 24"/>
          <p:cNvSpPr txBox="1"/>
          <p:nvPr/>
        </p:nvSpPr>
        <p:spPr>
          <a:xfrm>
            <a:off x="731520" y="3584448"/>
            <a:ext cx="3017520" cy="713232"/>
          </a:xfrm>
          <a:prstGeom prst="rect">
            <a:avLst/>
          </a:prstGeom>
          <a:noFill/>
        </p:spPr>
        <p:txBody>
          <a:bodyPr wrap="square" lIns="0" tIns="0" rIns="0" bIns="0" anchor="ctr">
            <a:spAutoFit/>
          </a:bodyPr>
          <a:lstStyle/>
          <a:p>
            <a:pPr algn="l">
              <a:lnSpc>
                <a:spcPct val="100000"/>
              </a:lnSpc>
            </a:pPr>
            <a:r>
              <a:rPr sz="1300" b="0">
                <a:solidFill>
                  <a:srgbClr val="24323F"/>
                </a:solidFill>
                <a:latin typeface="Segoe UI"/>
              </a:rPr>
              <a:t>Team name in each match</a:t>
            </a:r>
          </a:p>
        </p:txBody>
      </p:sp>
      <p:cxnSp>
        <p:nvCxnSpPr>
          <p:cNvPr id="26" name="Connector 25"/>
          <p:cNvCxnSpPr/>
          <p:nvPr/>
        </p:nvCxnSpPr>
        <p:spPr>
          <a:xfrm>
            <a:off x="3886200" y="3941063"/>
            <a:ext cx="393192" cy="0"/>
          </a:xfrm>
          <a:prstGeom prst="line">
            <a:avLst/>
          </a:prstGeom>
          <a:ln w="25400">
            <a:solidFill>
              <a:srgbClr val="F2A900"/>
            </a:solidFill>
            <a:tailEnd type="triangle" w="med" len="med"/>
          </a:ln>
        </p:spPr>
        <p:style>
          <a:lnRef idx="2">
            <a:schemeClr val="accent1"/>
          </a:lnRef>
          <a:fillRef idx="0">
            <a:schemeClr val="accent1"/>
          </a:fillRef>
          <a:effectRef idx="1">
            <a:schemeClr val="accent1"/>
          </a:effectRef>
          <a:fontRef idx="minor">
            <a:schemeClr val="tx1"/>
          </a:fontRef>
        </p:style>
      </p:cxnSp>
      <p:sp>
        <p:nvSpPr>
          <p:cNvPr id="27" name="Rounded Rectangle 26"/>
          <p:cNvSpPr/>
          <p:nvPr/>
        </p:nvSpPr>
        <p:spPr>
          <a:xfrm>
            <a:off x="4343400" y="3584448"/>
            <a:ext cx="3291840" cy="713232"/>
          </a:xfrm>
          <a:prstGeom prst="roundRect">
            <a:avLst>
              <a:gd name="adj" fmla="val 6000"/>
            </a:avLst>
          </a:prstGeom>
          <a:solidFill>
            <a:srgbClr val="1F4E7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TextBox 27"/>
          <p:cNvSpPr txBox="1"/>
          <p:nvPr/>
        </p:nvSpPr>
        <p:spPr>
          <a:xfrm>
            <a:off x="4526280" y="3584448"/>
            <a:ext cx="3017520" cy="713232"/>
          </a:xfrm>
          <a:prstGeom prst="rect">
            <a:avLst/>
          </a:prstGeom>
          <a:noFill/>
        </p:spPr>
        <p:txBody>
          <a:bodyPr wrap="square" lIns="0" tIns="0" rIns="0" bIns="0" anchor="ctr">
            <a:spAutoFit/>
          </a:bodyPr>
          <a:lstStyle/>
          <a:p>
            <a:pPr algn="l">
              <a:lnSpc>
                <a:spcPct val="100000"/>
              </a:lnSpc>
            </a:pPr>
            <a:r>
              <a:rPr sz="1200" b="1">
                <a:solidFill>
                  <a:srgbClr val="FFFFFF"/>
                </a:solidFill>
                <a:latin typeface="Segoe UI"/>
              </a:rPr>
              <a:t>Build history
Multi-Row (Type-2)</a:t>
            </a:r>
          </a:p>
        </p:txBody>
      </p:sp>
      <p:cxnSp>
        <p:nvCxnSpPr>
          <p:cNvPr id="29" name="Connector 28"/>
          <p:cNvCxnSpPr/>
          <p:nvPr/>
        </p:nvCxnSpPr>
        <p:spPr>
          <a:xfrm>
            <a:off x="7680960" y="3941063"/>
            <a:ext cx="393192" cy="0"/>
          </a:xfrm>
          <a:prstGeom prst="line">
            <a:avLst/>
          </a:prstGeom>
          <a:ln w="25400">
            <a:solidFill>
              <a:srgbClr val="F2A900"/>
            </a:solidFill>
            <a:tailEnd type="triangle" w="med" len="med"/>
          </a:ln>
        </p:spPr>
        <p:style>
          <a:lnRef idx="2">
            <a:schemeClr val="accent1"/>
          </a:lnRef>
          <a:fillRef idx="0">
            <a:schemeClr val="accent1"/>
          </a:fillRef>
          <a:effectRef idx="1">
            <a:schemeClr val="accent1"/>
          </a:effectRef>
          <a:fontRef idx="minor">
            <a:schemeClr val="tx1"/>
          </a:fontRef>
        </p:style>
      </p:cxnSp>
      <p:sp>
        <p:nvSpPr>
          <p:cNvPr id="30" name="Rounded Rectangle 29"/>
          <p:cNvSpPr/>
          <p:nvPr/>
        </p:nvSpPr>
        <p:spPr>
          <a:xfrm>
            <a:off x="8138160" y="3584448"/>
            <a:ext cx="3474720" cy="713232"/>
          </a:xfrm>
          <a:prstGeom prst="roundRect">
            <a:avLst>
              <a:gd name="adj" fmla="val 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TextBox 30"/>
          <p:cNvSpPr txBox="1"/>
          <p:nvPr/>
        </p:nvSpPr>
        <p:spPr>
          <a:xfrm>
            <a:off x="8321040" y="3584448"/>
            <a:ext cx="3200400" cy="713232"/>
          </a:xfrm>
          <a:prstGeom prst="rect">
            <a:avLst/>
          </a:prstGeom>
          <a:noFill/>
        </p:spPr>
        <p:txBody>
          <a:bodyPr wrap="square" lIns="0" tIns="0" rIns="0" bIns="0" anchor="ctr">
            <a:spAutoFit/>
          </a:bodyPr>
          <a:lstStyle/>
          <a:p>
            <a:pPr algn="l">
              <a:lnSpc>
                <a:spcPct val="100000"/>
              </a:lnSpc>
            </a:pPr>
            <a:r>
              <a:rPr sz="1200" b="0">
                <a:solidFill>
                  <a:srgbClr val="24323F"/>
                </a:solidFill>
                <a:latin typeface="Segoe UI"/>
              </a:rPr>
              <a:t>Dim_Team: 9 versions for 8 teams</a:t>
            </a:r>
          </a:p>
        </p:txBody>
      </p:sp>
      <p:sp>
        <p:nvSpPr>
          <p:cNvPr id="32" name="Rounded Rectangle 31"/>
          <p:cNvSpPr/>
          <p:nvPr/>
        </p:nvSpPr>
        <p:spPr>
          <a:xfrm>
            <a:off x="548640" y="4425696"/>
            <a:ext cx="3291840" cy="713232"/>
          </a:xfrm>
          <a:prstGeom prst="roundRect">
            <a:avLst>
              <a:gd name="adj" fmla="val 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TextBox 32"/>
          <p:cNvSpPr txBox="1"/>
          <p:nvPr/>
        </p:nvSpPr>
        <p:spPr>
          <a:xfrm>
            <a:off x="731520" y="4425696"/>
            <a:ext cx="3017520" cy="713232"/>
          </a:xfrm>
          <a:prstGeom prst="rect">
            <a:avLst/>
          </a:prstGeom>
          <a:noFill/>
        </p:spPr>
        <p:txBody>
          <a:bodyPr wrap="square" lIns="0" tIns="0" rIns="0" bIns="0" anchor="ctr">
            <a:spAutoFit/>
          </a:bodyPr>
          <a:lstStyle/>
          <a:p>
            <a:pPr algn="l">
              <a:lnSpc>
                <a:spcPct val="100000"/>
              </a:lnSpc>
            </a:pPr>
            <a:r>
              <a:rPr sz="1300" b="0">
                <a:solidFill>
                  <a:srgbClr val="24323F"/>
                </a:solidFill>
                <a:latin typeface="Segoe UI"/>
              </a:rPr>
              <a:t>Mixed date formats, name casing</a:t>
            </a:r>
          </a:p>
        </p:txBody>
      </p:sp>
      <p:cxnSp>
        <p:nvCxnSpPr>
          <p:cNvPr id="34" name="Connector 33"/>
          <p:cNvCxnSpPr/>
          <p:nvPr/>
        </p:nvCxnSpPr>
        <p:spPr>
          <a:xfrm>
            <a:off x="3886200" y="4782312"/>
            <a:ext cx="393192" cy="0"/>
          </a:xfrm>
          <a:prstGeom prst="line">
            <a:avLst/>
          </a:prstGeom>
          <a:ln w="25400">
            <a:solidFill>
              <a:srgbClr val="F2A900"/>
            </a:solidFill>
            <a:tailEnd type="triangle" w="med" len="med"/>
          </a:ln>
        </p:spPr>
        <p:style>
          <a:lnRef idx="2">
            <a:schemeClr val="accent1"/>
          </a:lnRef>
          <a:fillRef idx="0">
            <a:schemeClr val="accent1"/>
          </a:fillRef>
          <a:effectRef idx="1">
            <a:schemeClr val="accent1"/>
          </a:effectRef>
          <a:fontRef idx="minor">
            <a:schemeClr val="tx1"/>
          </a:fontRef>
        </p:style>
      </p:cxnSp>
      <p:sp>
        <p:nvSpPr>
          <p:cNvPr id="35" name="Rounded Rectangle 34"/>
          <p:cNvSpPr/>
          <p:nvPr/>
        </p:nvSpPr>
        <p:spPr>
          <a:xfrm>
            <a:off x="4343400" y="4425696"/>
            <a:ext cx="3291840" cy="713232"/>
          </a:xfrm>
          <a:prstGeom prst="roundRect">
            <a:avLst>
              <a:gd name="adj" fmla="val 6000"/>
            </a:avLst>
          </a:prstGeom>
          <a:solidFill>
            <a:srgbClr val="1F4E7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6" name="TextBox 35"/>
          <p:cNvSpPr txBox="1"/>
          <p:nvPr/>
        </p:nvSpPr>
        <p:spPr>
          <a:xfrm>
            <a:off x="4526280" y="4425696"/>
            <a:ext cx="3017520" cy="713232"/>
          </a:xfrm>
          <a:prstGeom prst="rect">
            <a:avLst/>
          </a:prstGeom>
          <a:noFill/>
        </p:spPr>
        <p:txBody>
          <a:bodyPr wrap="square" lIns="0" tIns="0" rIns="0" bIns="0" anchor="ctr">
            <a:spAutoFit/>
          </a:bodyPr>
          <a:lstStyle/>
          <a:p>
            <a:pPr algn="l">
              <a:lnSpc>
                <a:spcPct val="100000"/>
              </a:lnSpc>
            </a:pPr>
            <a:r>
              <a:rPr sz="1200" b="1">
                <a:solidFill>
                  <a:srgbClr val="FFFFFF"/>
                </a:solidFill>
                <a:latin typeface="Segoe UI"/>
              </a:rPr>
              <a:t>Standardise
Formula · Select (typed)</a:t>
            </a:r>
          </a:p>
        </p:txBody>
      </p:sp>
      <p:cxnSp>
        <p:nvCxnSpPr>
          <p:cNvPr id="37" name="Connector 36"/>
          <p:cNvCxnSpPr/>
          <p:nvPr/>
        </p:nvCxnSpPr>
        <p:spPr>
          <a:xfrm>
            <a:off x="7680960" y="4782312"/>
            <a:ext cx="393192" cy="0"/>
          </a:xfrm>
          <a:prstGeom prst="line">
            <a:avLst/>
          </a:prstGeom>
          <a:ln w="25400">
            <a:solidFill>
              <a:srgbClr val="F2A900"/>
            </a:solidFill>
            <a:tailEnd type="triangle" w="med" len="med"/>
          </a:ln>
        </p:spPr>
        <p:style>
          <a:lnRef idx="2">
            <a:schemeClr val="accent1"/>
          </a:lnRef>
          <a:fillRef idx="0">
            <a:schemeClr val="accent1"/>
          </a:fillRef>
          <a:effectRef idx="1">
            <a:schemeClr val="accent1"/>
          </a:effectRef>
          <a:fontRef idx="minor">
            <a:schemeClr val="tx1"/>
          </a:fontRef>
        </p:style>
      </p:cxnSp>
      <p:sp>
        <p:nvSpPr>
          <p:cNvPr id="38" name="Rounded Rectangle 37"/>
          <p:cNvSpPr/>
          <p:nvPr/>
        </p:nvSpPr>
        <p:spPr>
          <a:xfrm>
            <a:off x="8138160" y="4425696"/>
            <a:ext cx="3474720" cy="713232"/>
          </a:xfrm>
          <a:prstGeom prst="roundRect">
            <a:avLst>
              <a:gd name="adj" fmla="val 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9" name="TextBox 38"/>
          <p:cNvSpPr txBox="1"/>
          <p:nvPr/>
        </p:nvSpPr>
        <p:spPr>
          <a:xfrm>
            <a:off x="8321040" y="4425696"/>
            <a:ext cx="3200400" cy="713232"/>
          </a:xfrm>
          <a:prstGeom prst="rect">
            <a:avLst/>
          </a:prstGeom>
          <a:noFill/>
        </p:spPr>
        <p:txBody>
          <a:bodyPr wrap="square" lIns="0" tIns="0" rIns="0" bIns="0" anchor="ctr">
            <a:spAutoFit/>
          </a:bodyPr>
          <a:lstStyle/>
          <a:p>
            <a:pPr algn="l">
              <a:lnSpc>
                <a:spcPct val="100000"/>
              </a:lnSpc>
            </a:pPr>
            <a:r>
              <a:rPr sz="1200" b="0">
                <a:solidFill>
                  <a:srgbClr val="24323F"/>
                </a:solidFill>
                <a:latin typeface="Segoe UI"/>
              </a:rPr>
              <a:t>Conformed, typed Silver rows</a:t>
            </a:r>
          </a:p>
        </p:txBody>
      </p:sp>
      <p:sp>
        <p:nvSpPr>
          <p:cNvPr id="40" name="Rounded Rectangle 39"/>
          <p:cNvSpPr/>
          <p:nvPr/>
        </p:nvSpPr>
        <p:spPr>
          <a:xfrm>
            <a:off x="548640" y="5266944"/>
            <a:ext cx="3291840" cy="713232"/>
          </a:xfrm>
          <a:prstGeom prst="roundRect">
            <a:avLst>
              <a:gd name="adj" fmla="val 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1" name="TextBox 40"/>
          <p:cNvSpPr txBox="1"/>
          <p:nvPr/>
        </p:nvSpPr>
        <p:spPr>
          <a:xfrm>
            <a:off x="731520" y="5266944"/>
            <a:ext cx="3017520" cy="713232"/>
          </a:xfrm>
          <a:prstGeom prst="rect">
            <a:avLst/>
          </a:prstGeom>
          <a:noFill/>
        </p:spPr>
        <p:txBody>
          <a:bodyPr wrap="square" lIns="0" tIns="0" rIns="0" bIns="0" anchor="ctr">
            <a:spAutoFit/>
          </a:bodyPr>
          <a:lstStyle/>
          <a:p>
            <a:pPr algn="l">
              <a:lnSpc>
                <a:spcPct val="100000"/>
              </a:lnSpc>
            </a:pPr>
            <a:r>
              <a:rPr sz="1300" b="0">
                <a:solidFill>
                  <a:srgbClr val="24323F"/>
                </a:solidFill>
                <a:latin typeface="Segoe UI"/>
              </a:rPr>
              <a:t>Re-sent or corrected file</a:t>
            </a:r>
          </a:p>
        </p:txBody>
      </p:sp>
      <p:cxnSp>
        <p:nvCxnSpPr>
          <p:cNvPr id="42" name="Connector 41"/>
          <p:cNvCxnSpPr/>
          <p:nvPr/>
        </p:nvCxnSpPr>
        <p:spPr>
          <a:xfrm>
            <a:off x="3886200" y="5623559"/>
            <a:ext cx="393192" cy="0"/>
          </a:xfrm>
          <a:prstGeom prst="line">
            <a:avLst/>
          </a:prstGeom>
          <a:ln w="25400">
            <a:solidFill>
              <a:srgbClr val="F2A900"/>
            </a:solidFill>
            <a:tailEnd type="triangle" w="med" len="med"/>
          </a:ln>
        </p:spPr>
        <p:style>
          <a:lnRef idx="2">
            <a:schemeClr val="accent1"/>
          </a:lnRef>
          <a:fillRef idx="0">
            <a:schemeClr val="accent1"/>
          </a:fillRef>
          <a:effectRef idx="1">
            <a:schemeClr val="accent1"/>
          </a:effectRef>
          <a:fontRef idx="minor">
            <a:schemeClr val="tx1"/>
          </a:fontRef>
        </p:style>
      </p:cxnSp>
      <p:sp>
        <p:nvSpPr>
          <p:cNvPr id="43" name="Rounded Rectangle 42"/>
          <p:cNvSpPr/>
          <p:nvPr/>
        </p:nvSpPr>
        <p:spPr>
          <a:xfrm>
            <a:off x="4343400" y="5266944"/>
            <a:ext cx="3291840" cy="713232"/>
          </a:xfrm>
          <a:prstGeom prst="roundRect">
            <a:avLst>
              <a:gd name="adj" fmla="val 6000"/>
            </a:avLst>
          </a:prstGeom>
          <a:solidFill>
            <a:srgbClr val="1F4E7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4" name="TextBox 43"/>
          <p:cNvSpPr txBox="1"/>
          <p:nvPr/>
        </p:nvSpPr>
        <p:spPr>
          <a:xfrm>
            <a:off x="4526280" y="5266944"/>
            <a:ext cx="3017520" cy="713232"/>
          </a:xfrm>
          <a:prstGeom prst="rect">
            <a:avLst/>
          </a:prstGeom>
          <a:noFill/>
        </p:spPr>
        <p:txBody>
          <a:bodyPr wrap="square" lIns="0" tIns="0" rIns="0" bIns="0" anchor="ctr">
            <a:spAutoFit/>
          </a:bodyPr>
          <a:lstStyle/>
          <a:p>
            <a:pPr algn="l">
              <a:lnSpc>
                <a:spcPct val="100000"/>
              </a:lnSpc>
            </a:pPr>
            <a:r>
              <a:rPr sz="1200" b="1">
                <a:solidFill>
                  <a:srgbClr val="FFFFFF"/>
                </a:solidFill>
                <a:latin typeface="Segoe UI"/>
              </a:rPr>
              <a:t>Fingerprint (MD5)
vs Audit_FileControl</a:t>
            </a:r>
          </a:p>
        </p:txBody>
      </p:sp>
      <p:cxnSp>
        <p:nvCxnSpPr>
          <p:cNvPr id="45" name="Connector 44"/>
          <p:cNvCxnSpPr/>
          <p:nvPr/>
        </p:nvCxnSpPr>
        <p:spPr>
          <a:xfrm>
            <a:off x="7680960" y="5623559"/>
            <a:ext cx="393192" cy="0"/>
          </a:xfrm>
          <a:prstGeom prst="line">
            <a:avLst/>
          </a:prstGeom>
          <a:ln w="25400">
            <a:solidFill>
              <a:srgbClr val="F2A900"/>
            </a:solidFill>
            <a:tailEnd type="triangle" w="med" len="med"/>
          </a:ln>
        </p:spPr>
        <p:style>
          <a:lnRef idx="2">
            <a:schemeClr val="accent1"/>
          </a:lnRef>
          <a:fillRef idx="0">
            <a:schemeClr val="accent1"/>
          </a:fillRef>
          <a:effectRef idx="1">
            <a:schemeClr val="accent1"/>
          </a:effectRef>
          <a:fontRef idx="minor">
            <a:schemeClr val="tx1"/>
          </a:fontRef>
        </p:style>
      </p:cxnSp>
      <p:sp>
        <p:nvSpPr>
          <p:cNvPr id="46" name="Rounded Rectangle 45"/>
          <p:cNvSpPr/>
          <p:nvPr/>
        </p:nvSpPr>
        <p:spPr>
          <a:xfrm>
            <a:off x="8138160" y="5266944"/>
            <a:ext cx="3474720" cy="713232"/>
          </a:xfrm>
          <a:prstGeom prst="roundRect">
            <a:avLst>
              <a:gd name="adj" fmla="val 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7" name="TextBox 46"/>
          <p:cNvSpPr txBox="1"/>
          <p:nvPr/>
        </p:nvSpPr>
        <p:spPr>
          <a:xfrm>
            <a:off x="8321040" y="5266944"/>
            <a:ext cx="3200400" cy="713232"/>
          </a:xfrm>
          <a:prstGeom prst="rect">
            <a:avLst/>
          </a:prstGeom>
          <a:noFill/>
        </p:spPr>
        <p:txBody>
          <a:bodyPr wrap="square" lIns="0" tIns="0" rIns="0" bIns="0" anchor="ctr">
            <a:spAutoFit/>
          </a:bodyPr>
          <a:lstStyle/>
          <a:p>
            <a:pPr algn="l">
              <a:lnSpc>
                <a:spcPct val="100000"/>
              </a:lnSpc>
            </a:pPr>
            <a:r>
              <a:rPr sz="1200" b="0">
                <a:solidFill>
                  <a:srgbClr val="24323F"/>
                </a:solidFill>
                <a:latin typeface="Segoe UI"/>
              </a:rPr>
              <a:t>Copy skipped; correction replaces its match in one transaction</a:t>
            </a:r>
          </a:p>
        </p:txBody>
      </p:sp>
      <p:sp>
        <p:nvSpPr>
          <p:cNvPr id="48" name="TextBox 47"/>
          <p:cNvSpPr txBox="1"/>
          <p:nvPr/>
        </p:nvSpPr>
        <p:spPr>
          <a:xfrm>
            <a:off x="548640" y="6428232"/>
            <a:ext cx="5486400" cy="228600"/>
          </a:xfrm>
          <a:prstGeom prst="rect">
            <a:avLst/>
          </a:prstGeom>
          <a:noFill/>
        </p:spPr>
        <p:txBody>
          <a:bodyPr wrap="square" lIns="0" tIns="0" rIns="0" bIns="0" anchor="t">
            <a:spAutoFit/>
          </a:bodyPr>
          <a:lstStyle/>
          <a:p>
            <a:pPr algn="l">
              <a:lnSpc>
                <a:spcPct val="100000"/>
              </a:lnSpc>
            </a:pPr>
            <a:r>
              <a:rPr sz="1000" b="0">
                <a:solidFill>
                  <a:srgbClr val="6B7785"/>
                </a:solidFill>
                <a:latin typeface="Segoe UI"/>
              </a:rPr>
              <a:t>Cricket Analytics Platform</a:t>
            </a:r>
          </a:p>
        </p:txBody>
      </p:sp>
      <p:sp>
        <p:nvSpPr>
          <p:cNvPr id="49" name="TextBox 48"/>
          <p:cNvSpPr txBox="1"/>
          <p:nvPr/>
        </p:nvSpPr>
        <p:spPr>
          <a:xfrm>
            <a:off x="10725912" y="6428232"/>
            <a:ext cx="914400" cy="228600"/>
          </a:xfrm>
          <a:prstGeom prst="rect">
            <a:avLst/>
          </a:prstGeom>
          <a:noFill/>
        </p:spPr>
        <p:txBody>
          <a:bodyPr wrap="square" lIns="0" tIns="0" rIns="0" bIns="0" anchor="t">
            <a:spAutoFit/>
          </a:bodyPr>
          <a:lstStyle/>
          <a:p>
            <a:pPr algn="r">
              <a:lnSpc>
                <a:spcPct val="100000"/>
              </a:lnSpc>
            </a:pPr>
            <a:r>
              <a:rPr sz="1000" b="0">
                <a:solidFill>
                  <a:srgbClr val="6B7785"/>
                </a:solidFill>
                <a:latin typeface="Segoe UI"/>
              </a:rPr>
              <a:t>12</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EEF2F6"/>
        </a:solidFill>
        <a:effectLst/>
      </p:bgPr>
    </p:bg>
    <p:spTree>
      <p:nvGrpSpPr>
        <p:cNvPr id="1" name=""/>
        <p:cNvGrpSpPr/>
        <p:nvPr/>
      </p:nvGrpSpPr>
      <p:grpSpPr>
        <a:xfrm>
          <a:off x="0" y="0"/>
          <a:ext cx="0" cy="0"/>
          <a:chOff x="0" y="0"/>
          <a:chExt cx="0" cy="0"/>
        </a:xfrm>
      </p:grpSpPr>
      <p:sp>
        <p:nvSpPr>
          <p:cNvPr id="2" name="TextBox 1"/>
          <p:cNvSpPr txBox="1"/>
          <p:nvPr/>
        </p:nvSpPr>
        <p:spPr>
          <a:xfrm>
            <a:off x="548640" y="146304"/>
            <a:ext cx="10058400" cy="256032"/>
          </a:xfrm>
          <a:prstGeom prst="rect">
            <a:avLst/>
          </a:prstGeom>
          <a:noFill/>
        </p:spPr>
        <p:txBody>
          <a:bodyPr wrap="square" lIns="0" tIns="0" rIns="0" bIns="0" anchor="t">
            <a:spAutoFit/>
          </a:bodyPr>
          <a:lstStyle/>
          <a:p>
            <a:pPr algn="l">
              <a:lnSpc>
                <a:spcPct val="100000"/>
              </a:lnSpc>
            </a:pPr>
            <a:r>
              <a:rPr sz="1000" b="1">
                <a:solidFill>
                  <a:srgbClr val="F2A900"/>
                </a:solidFill>
                <a:latin typeface="Segoe UI"/>
              </a:rPr>
              <a:t>06  ·  DATA PROCESSING</a:t>
            </a:r>
            <a:r>
              <a:rPr sz="1000" b="0">
                <a:solidFill>
                  <a:srgbClr val="6B7785"/>
                </a:solidFill>
                <a:latin typeface="Segoe UI"/>
              </a:rPr>
              <a:t>     Brief §16 · additional challenge</a:t>
            </a:r>
          </a:p>
        </p:txBody>
      </p:sp>
      <p:sp>
        <p:nvSpPr>
          <p:cNvPr id="3" name="TextBox 2"/>
          <p:cNvSpPr txBox="1"/>
          <p:nvPr/>
        </p:nvSpPr>
        <p:spPr>
          <a:xfrm>
            <a:off x="548640" y="411480"/>
            <a:ext cx="11064240" cy="640080"/>
          </a:xfrm>
          <a:prstGeom prst="rect">
            <a:avLst/>
          </a:prstGeom>
          <a:noFill/>
        </p:spPr>
        <p:txBody>
          <a:bodyPr wrap="square" lIns="0" tIns="0" rIns="0" bIns="0" anchor="t">
            <a:spAutoFit/>
          </a:bodyPr>
          <a:lstStyle/>
          <a:p>
            <a:pPr algn="l">
              <a:lnSpc>
                <a:spcPct val="100000"/>
              </a:lnSpc>
            </a:pPr>
            <a:r>
              <a:rPr sz="3200" b="0">
                <a:solidFill>
                  <a:srgbClr val="1F4E79"/>
                </a:solidFill>
                <a:latin typeface="Segoe UI Semibold"/>
              </a:rPr>
              <a:t>New data in, insight out</a:t>
            </a:r>
          </a:p>
        </p:txBody>
      </p:sp>
      <p:sp>
        <p:nvSpPr>
          <p:cNvPr id="4" name="TextBox 3"/>
          <p:cNvSpPr txBox="1"/>
          <p:nvPr/>
        </p:nvSpPr>
        <p:spPr>
          <a:xfrm>
            <a:off x="548640" y="1024128"/>
            <a:ext cx="11064240" cy="411480"/>
          </a:xfrm>
          <a:prstGeom prst="rect">
            <a:avLst/>
          </a:prstGeom>
          <a:noFill/>
        </p:spPr>
        <p:txBody>
          <a:bodyPr wrap="square" lIns="0" tIns="0" rIns="0" bIns="0" anchor="t">
            <a:spAutoFit/>
          </a:bodyPr>
          <a:lstStyle/>
          <a:p>
            <a:pPr algn="l">
              <a:lnSpc>
                <a:spcPct val="100000"/>
              </a:lnSpc>
            </a:pPr>
            <a:r>
              <a:rPr sz="1500" b="0">
                <a:solidFill>
                  <a:srgbClr val="6B7785"/>
                </a:solidFill>
                <a:latin typeface="Segoe UI"/>
              </a:rPr>
              <a:t>Four situations, all handled automatically, with no manual preparation</a:t>
            </a:r>
          </a:p>
        </p:txBody>
      </p:sp>
      <p:sp>
        <p:nvSpPr>
          <p:cNvPr id="5" name="Rounded Rectangle 4"/>
          <p:cNvSpPr/>
          <p:nvPr/>
        </p:nvSpPr>
        <p:spPr>
          <a:xfrm>
            <a:off x="548640" y="1691640"/>
            <a:ext cx="2624328" cy="4434840"/>
          </a:xfrm>
          <a:prstGeom prst="roundRect">
            <a:avLst>
              <a:gd name="adj" fmla="val 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Oval 5"/>
          <p:cNvSpPr/>
          <p:nvPr/>
        </p:nvSpPr>
        <p:spPr>
          <a:xfrm>
            <a:off x="1335024" y="2217420"/>
            <a:ext cx="1051560" cy="1051560"/>
          </a:xfrm>
          <a:prstGeom prst="ellipse">
            <a:avLst/>
          </a:prstGeom>
          <a:solidFill>
            <a:srgbClr val="1F4E7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1545336" y="2396185"/>
            <a:ext cx="630936" cy="630936"/>
          </a:xfrm>
          <a:prstGeom prst="rect">
            <a:avLst/>
          </a:prstGeom>
          <a:noFill/>
        </p:spPr>
        <p:txBody>
          <a:bodyPr wrap="square" lIns="0" tIns="0" rIns="0" bIns="0" anchor="ctr">
            <a:spAutoFit/>
          </a:bodyPr>
          <a:lstStyle/>
          <a:p>
            <a:pPr algn="ctr">
              <a:lnSpc>
                <a:spcPct val="100000"/>
              </a:lnSpc>
            </a:pPr>
            <a:r>
              <a:rPr sz="4600" b="0">
                <a:solidFill>
                  <a:srgbClr val="FFFFFF"/>
                </a:solidFill>
                <a:latin typeface="Segoe UI Semibold"/>
              </a:rPr>
              <a:t>+</a:t>
            </a:r>
          </a:p>
        </p:txBody>
      </p:sp>
      <p:sp>
        <p:nvSpPr>
          <p:cNvPr id="8" name="TextBox 7"/>
          <p:cNvSpPr txBox="1"/>
          <p:nvPr/>
        </p:nvSpPr>
        <p:spPr>
          <a:xfrm>
            <a:off x="685800" y="3611880"/>
            <a:ext cx="2350008" cy="411480"/>
          </a:xfrm>
          <a:prstGeom prst="rect">
            <a:avLst/>
          </a:prstGeom>
          <a:noFill/>
        </p:spPr>
        <p:txBody>
          <a:bodyPr wrap="square" lIns="0" tIns="0" rIns="0" bIns="0" anchor="t">
            <a:spAutoFit/>
          </a:bodyPr>
          <a:lstStyle/>
          <a:p>
            <a:pPr algn="ctr">
              <a:lnSpc>
                <a:spcPct val="100000"/>
              </a:lnSpc>
            </a:pPr>
            <a:r>
              <a:rPr sz="1800" b="0">
                <a:solidFill>
                  <a:srgbClr val="24323F"/>
                </a:solidFill>
                <a:latin typeface="Segoe UI Semibold"/>
              </a:rPr>
              <a:t>New match</a:t>
            </a:r>
          </a:p>
        </p:txBody>
      </p:sp>
      <p:sp>
        <p:nvSpPr>
          <p:cNvPr id="9" name="TextBox 8"/>
          <p:cNvSpPr txBox="1"/>
          <p:nvPr/>
        </p:nvSpPr>
        <p:spPr>
          <a:xfrm>
            <a:off x="685800" y="4297680"/>
            <a:ext cx="2350008" cy="502920"/>
          </a:xfrm>
          <a:prstGeom prst="rect">
            <a:avLst/>
          </a:prstGeom>
          <a:noFill/>
        </p:spPr>
        <p:txBody>
          <a:bodyPr wrap="square" lIns="0" tIns="0" rIns="0" bIns="0" anchor="t">
            <a:spAutoFit/>
          </a:bodyPr>
          <a:lstStyle/>
          <a:p>
            <a:pPr algn="ctr">
              <a:lnSpc>
                <a:spcPct val="100000"/>
              </a:lnSpc>
            </a:pPr>
            <a:r>
              <a:rPr sz="1700" b="0">
                <a:solidFill>
                  <a:srgbClr val="F2A900"/>
                </a:solidFill>
                <a:latin typeface="Segoe UI Semibold"/>
              </a:rPr>
              <a:t>119 → 120 matches</a:t>
            </a:r>
          </a:p>
        </p:txBody>
      </p:sp>
      <p:sp>
        <p:nvSpPr>
          <p:cNvPr id="10" name="TextBox 9"/>
          <p:cNvSpPr txBox="1"/>
          <p:nvPr/>
        </p:nvSpPr>
        <p:spPr>
          <a:xfrm>
            <a:off x="685800" y="4983480"/>
            <a:ext cx="2350008" cy="822960"/>
          </a:xfrm>
          <a:prstGeom prst="rect">
            <a:avLst/>
          </a:prstGeom>
          <a:noFill/>
        </p:spPr>
        <p:txBody>
          <a:bodyPr wrap="square" lIns="0" tIns="0" rIns="0" bIns="0" anchor="t">
            <a:spAutoFit/>
          </a:bodyPr>
          <a:lstStyle/>
          <a:p>
            <a:pPr algn="ctr">
              <a:lnSpc>
                <a:spcPct val="100000"/>
              </a:lnSpc>
            </a:pPr>
            <a:r>
              <a:rPr sz="1300" b="0">
                <a:solidFill>
                  <a:srgbClr val="6B7785"/>
                </a:solidFill>
                <a:latin typeface="Segoe UI"/>
              </a:rPr>
              <a:t>Chennai Kings move to
the top of the 2025 table</a:t>
            </a:r>
          </a:p>
        </p:txBody>
      </p:sp>
      <p:sp>
        <p:nvSpPr>
          <p:cNvPr id="11" name="Rounded Rectangle 10"/>
          <p:cNvSpPr/>
          <p:nvPr/>
        </p:nvSpPr>
        <p:spPr>
          <a:xfrm>
            <a:off x="3355848" y="1691640"/>
            <a:ext cx="2624328" cy="4434840"/>
          </a:xfrm>
          <a:prstGeom prst="roundRect">
            <a:avLst>
              <a:gd name="adj" fmla="val 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Oval 11"/>
          <p:cNvSpPr/>
          <p:nvPr/>
        </p:nvSpPr>
        <p:spPr>
          <a:xfrm>
            <a:off x="4142232" y="2217420"/>
            <a:ext cx="1051560" cy="1051560"/>
          </a:xfrm>
          <a:prstGeom prst="ellipse">
            <a:avLst/>
          </a:prstGeom>
          <a:solidFill>
            <a:srgbClr val="1F4E7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4352544" y="2406700"/>
            <a:ext cx="630936" cy="630936"/>
          </a:xfrm>
          <a:prstGeom prst="rect">
            <a:avLst/>
          </a:prstGeom>
          <a:noFill/>
        </p:spPr>
        <p:txBody>
          <a:bodyPr wrap="square" lIns="0" tIns="0" rIns="0" bIns="0" anchor="ctr">
            <a:spAutoFit/>
          </a:bodyPr>
          <a:lstStyle/>
          <a:p>
            <a:pPr algn="ctr">
              <a:lnSpc>
                <a:spcPct val="100000"/>
              </a:lnSpc>
            </a:pPr>
            <a:r>
              <a:rPr sz="3900" b="0">
                <a:solidFill>
                  <a:srgbClr val="FFFFFF"/>
                </a:solidFill>
                <a:latin typeface="Segoe UI Symbol"/>
              </a:rPr>
              <a:t>↻</a:t>
            </a:r>
          </a:p>
        </p:txBody>
      </p:sp>
      <p:sp>
        <p:nvSpPr>
          <p:cNvPr id="14" name="TextBox 13"/>
          <p:cNvSpPr txBox="1"/>
          <p:nvPr/>
        </p:nvSpPr>
        <p:spPr>
          <a:xfrm>
            <a:off x="3493008" y="3611880"/>
            <a:ext cx="2350008" cy="411480"/>
          </a:xfrm>
          <a:prstGeom prst="rect">
            <a:avLst/>
          </a:prstGeom>
          <a:noFill/>
        </p:spPr>
        <p:txBody>
          <a:bodyPr wrap="square" lIns="0" tIns="0" rIns="0" bIns="0" anchor="t">
            <a:spAutoFit/>
          </a:bodyPr>
          <a:lstStyle/>
          <a:p>
            <a:pPr algn="ctr">
              <a:lnSpc>
                <a:spcPct val="100000"/>
              </a:lnSpc>
            </a:pPr>
            <a:r>
              <a:rPr sz="1800" b="0">
                <a:solidFill>
                  <a:srgbClr val="24323F"/>
                </a:solidFill>
                <a:latin typeface="Segoe UI Semibold"/>
              </a:rPr>
              <a:t>Corrected file</a:t>
            </a:r>
          </a:p>
        </p:txBody>
      </p:sp>
      <p:sp>
        <p:nvSpPr>
          <p:cNvPr id="15" name="TextBox 14"/>
          <p:cNvSpPr txBox="1"/>
          <p:nvPr/>
        </p:nvSpPr>
        <p:spPr>
          <a:xfrm>
            <a:off x="3493008" y="4297680"/>
            <a:ext cx="2350008" cy="502920"/>
          </a:xfrm>
          <a:prstGeom prst="rect">
            <a:avLst/>
          </a:prstGeom>
          <a:noFill/>
        </p:spPr>
        <p:txBody>
          <a:bodyPr wrap="square" lIns="0" tIns="0" rIns="0" bIns="0" anchor="t">
            <a:spAutoFit/>
          </a:bodyPr>
          <a:lstStyle/>
          <a:p>
            <a:pPr algn="ctr">
              <a:lnSpc>
                <a:spcPct val="100000"/>
              </a:lnSpc>
            </a:pPr>
            <a:r>
              <a:rPr sz="1700" b="0">
                <a:solidFill>
                  <a:srgbClr val="F2A900"/>
                </a:solidFill>
                <a:latin typeface="Segoe UI Semibold"/>
              </a:rPr>
              <a:t>Result flips</a:t>
            </a:r>
          </a:p>
        </p:txBody>
      </p:sp>
      <p:sp>
        <p:nvSpPr>
          <p:cNvPr id="16" name="TextBox 15"/>
          <p:cNvSpPr txBox="1"/>
          <p:nvPr/>
        </p:nvSpPr>
        <p:spPr>
          <a:xfrm>
            <a:off x="3493008" y="4983480"/>
            <a:ext cx="2350008" cy="822960"/>
          </a:xfrm>
          <a:prstGeom prst="rect">
            <a:avLst/>
          </a:prstGeom>
          <a:noFill/>
        </p:spPr>
        <p:txBody>
          <a:bodyPr wrap="square" lIns="0" tIns="0" rIns="0" bIns="0" anchor="t">
            <a:spAutoFit/>
          </a:bodyPr>
          <a:lstStyle/>
          <a:p>
            <a:pPr algn="ctr">
              <a:lnSpc>
                <a:spcPct val="100000"/>
              </a:lnSpc>
            </a:pPr>
            <a:r>
              <a:rPr sz="1300" b="0">
                <a:solidFill>
                  <a:srgbClr val="6B7785"/>
                </a:solidFill>
                <a:latin typeface="Segoe UI"/>
              </a:rPr>
              <a:t>Delhi won → Mumbai won;
old rows replaced</a:t>
            </a:r>
          </a:p>
        </p:txBody>
      </p:sp>
      <p:sp>
        <p:nvSpPr>
          <p:cNvPr id="17" name="Rounded Rectangle 16"/>
          <p:cNvSpPr/>
          <p:nvPr/>
        </p:nvSpPr>
        <p:spPr>
          <a:xfrm>
            <a:off x="6163055" y="1691640"/>
            <a:ext cx="2624328" cy="4434840"/>
          </a:xfrm>
          <a:prstGeom prst="roundRect">
            <a:avLst>
              <a:gd name="adj" fmla="val 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Oval 17"/>
          <p:cNvSpPr/>
          <p:nvPr/>
        </p:nvSpPr>
        <p:spPr>
          <a:xfrm>
            <a:off x="6949439" y="2217420"/>
            <a:ext cx="1051560" cy="1051560"/>
          </a:xfrm>
          <a:prstGeom prst="ellipse">
            <a:avLst/>
          </a:prstGeom>
          <a:solidFill>
            <a:srgbClr val="1F4E7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Rounded Rectangle 18"/>
          <p:cNvSpPr/>
          <p:nvPr/>
        </p:nvSpPr>
        <p:spPr>
          <a:xfrm>
            <a:off x="7306970" y="2469794"/>
            <a:ext cx="378561" cy="462686"/>
          </a:xfrm>
          <a:prstGeom prst="roundRect">
            <a:avLst>
              <a:gd name="adj" fmla="val 1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Rounded Rectangle 19"/>
          <p:cNvSpPr/>
          <p:nvPr/>
        </p:nvSpPr>
        <p:spPr>
          <a:xfrm>
            <a:off x="7222845" y="2574950"/>
            <a:ext cx="378561" cy="462686"/>
          </a:xfrm>
          <a:prstGeom prst="roundRect">
            <a:avLst>
              <a:gd name="adj" fmla="val 10000"/>
            </a:avLst>
          </a:prstGeom>
          <a:solidFill>
            <a:srgbClr val="1F4E79"/>
          </a:solidFill>
          <a:ln w="15875">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6300216" y="3611880"/>
            <a:ext cx="2350008" cy="411480"/>
          </a:xfrm>
          <a:prstGeom prst="rect">
            <a:avLst/>
          </a:prstGeom>
          <a:noFill/>
        </p:spPr>
        <p:txBody>
          <a:bodyPr wrap="square" lIns="0" tIns="0" rIns="0" bIns="0" anchor="t">
            <a:spAutoFit/>
          </a:bodyPr>
          <a:lstStyle/>
          <a:p>
            <a:pPr algn="ctr">
              <a:lnSpc>
                <a:spcPct val="100000"/>
              </a:lnSpc>
            </a:pPr>
            <a:r>
              <a:rPr sz="1800" b="0">
                <a:solidFill>
                  <a:srgbClr val="24323F"/>
                </a:solidFill>
                <a:latin typeface="Segoe UI Semibold"/>
              </a:rPr>
              <a:t>Duplicate file</a:t>
            </a:r>
          </a:p>
        </p:txBody>
      </p:sp>
      <p:sp>
        <p:nvSpPr>
          <p:cNvPr id="22" name="TextBox 21"/>
          <p:cNvSpPr txBox="1"/>
          <p:nvPr/>
        </p:nvSpPr>
        <p:spPr>
          <a:xfrm>
            <a:off x="6300216" y="4297680"/>
            <a:ext cx="2350008" cy="502920"/>
          </a:xfrm>
          <a:prstGeom prst="rect">
            <a:avLst/>
          </a:prstGeom>
          <a:noFill/>
        </p:spPr>
        <p:txBody>
          <a:bodyPr wrap="square" lIns="0" tIns="0" rIns="0" bIns="0" anchor="t">
            <a:spAutoFit/>
          </a:bodyPr>
          <a:lstStyle/>
          <a:p>
            <a:pPr algn="ctr">
              <a:lnSpc>
                <a:spcPct val="100000"/>
              </a:lnSpc>
            </a:pPr>
            <a:r>
              <a:rPr sz="1700" b="0">
                <a:solidFill>
                  <a:srgbClr val="F2A900"/>
                </a:solidFill>
                <a:latin typeface="Segoe UI Semibold"/>
              </a:rPr>
              <a:t>Nothing changes</a:t>
            </a:r>
          </a:p>
        </p:txBody>
      </p:sp>
      <p:sp>
        <p:nvSpPr>
          <p:cNvPr id="23" name="TextBox 22"/>
          <p:cNvSpPr txBox="1"/>
          <p:nvPr/>
        </p:nvSpPr>
        <p:spPr>
          <a:xfrm>
            <a:off x="6300216" y="4983480"/>
            <a:ext cx="2350008" cy="822960"/>
          </a:xfrm>
          <a:prstGeom prst="rect">
            <a:avLst/>
          </a:prstGeom>
          <a:noFill/>
        </p:spPr>
        <p:txBody>
          <a:bodyPr wrap="square" lIns="0" tIns="0" rIns="0" bIns="0" anchor="t">
            <a:spAutoFit/>
          </a:bodyPr>
          <a:lstStyle/>
          <a:p>
            <a:pPr algn="ctr">
              <a:lnSpc>
                <a:spcPct val="100000"/>
              </a:lnSpc>
            </a:pPr>
            <a:r>
              <a:rPr sz="1300" b="0">
                <a:solidFill>
                  <a:srgbClr val="6B7785"/>
                </a:solidFill>
                <a:latin typeface="Segoe UI"/>
              </a:rPr>
              <a:t>Recognised by its
fingerprint and skipped</a:t>
            </a:r>
          </a:p>
        </p:txBody>
      </p:sp>
      <p:sp>
        <p:nvSpPr>
          <p:cNvPr id="24" name="Rounded Rectangle 23"/>
          <p:cNvSpPr/>
          <p:nvPr/>
        </p:nvSpPr>
        <p:spPr>
          <a:xfrm>
            <a:off x="8970263" y="1691640"/>
            <a:ext cx="2624328" cy="4434840"/>
          </a:xfrm>
          <a:prstGeom prst="roundRect">
            <a:avLst>
              <a:gd name="adj" fmla="val 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Oval 24"/>
          <p:cNvSpPr/>
          <p:nvPr/>
        </p:nvSpPr>
        <p:spPr>
          <a:xfrm>
            <a:off x="9756648" y="2217420"/>
            <a:ext cx="1051560" cy="1051560"/>
          </a:xfrm>
          <a:prstGeom prst="ellipse">
            <a:avLst/>
          </a:prstGeom>
          <a:solidFill>
            <a:srgbClr val="D149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Box 25"/>
          <p:cNvSpPr txBox="1"/>
          <p:nvPr/>
        </p:nvSpPr>
        <p:spPr>
          <a:xfrm>
            <a:off x="9966959" y="2406700"/>
            <a:ext cx="630936" cy="630936"/>
          </a:xfrm>
          <a:prstGeom prst="rect">
            <a:avLst/>
          </a:prstGeom>
          <a:noFill/>
        </p:spPr>
        <p:txBody>
          <a:bodyPr wrap="square" lIns="0" tIns="0" rIns="0" bIns="0" anchor="ctr">
            <a:spAutoFit/>
          </a:bodyPr>
          <a:lstStyle/>
          <a:p>
            <a:pPr algn="ctr">
              <a:lnSpc>
                <a:spcPct val="100000"/>
              </a:lnSpc>
            </a:pPr>
            <a:r>
              <a:rPr sz="3400" b="0">
                <a:solidFill>
                  <a:srgbClr val="FFFFFF"/>
                </a:solidFill>
                <a:latin typeface="Segoe UI Symbol"/>
              </a:rPr>
              <a:t>✕</a:t>
            </a:r>
          </a:p>
        </p:txBody>
      </p:sp>
      <p:sp>
        <p:nvSpPr>
          <p:cNvPr id="27" name="TextBox 26"/>
          <p:cNvSpPr txBox="1"/>
          <p:nvPr/>
        </p:nvSpPr>
        <p:spPr>
          <a:xfrm>
            <a:off x="9107424" y="3611880"/>
            <a:ext cx="2350008" cy="411480"/>
          </a:xfrm>
          <a:prstGeom prst="rect">
            <a:avLst/>
          </a:prstGeom>
          <a:noFill/>
        </p:spPr>
        <p:txBody>
          <a:bodyPr wrap="square" lIns="0" tIns="0" rIns="0" bIns="0" anchor="t">
            <a:spAutoFit/>
          </a:bodyPr>
          <a:lstStyle/>
          <a:p>
            <a:pPr algn="ctr">
              <a:lnSpc>
                <a:spcPct val="100000"/>
              </a:lnSpc>
            </a:pPr>
            <a:r>
              <a:rPr sz="1800" b="0">
                <a:solidFill>
                  <a:srgbClr val="24323F"/>
                </a:solidFill>
                <a:latin typeface="Segoe UI Semibold"/>
              </a:rPr>
              <a:t>Broken file</a:t>
            </a:r>
          </a:p>
        </p:txBody>
      </p:sp>
      <p:sp>
        <p:nvSpPr>
          <p:cNvPr id="28" name="TextBox 27"/>
          <p:cNvSpPr txBox="1"/>
          <p:nvPr/>
        </p:nvSpPr>
        <p:spPr>
          <a:xfrm>
            <a:off x="9107424" y="4297680"/>
            <a:ext cx="2350008" cy="502920"/>
          </a:xfrm>
          <a:prstGeom prst="rect">
            <a:avLst/>
          </a:prstGeom>
          <a:noFill/>
        </p:spPr>
        <p:txBody>
          <a:bodyPr wrap="square" lIns="0" tIns="0" rIns="0" bIns="0" anchor="t">
            <a:spAutoFit/>
          </a:bodyPr>
          <a:lstStyle/>
          <a:p>
            <a:pPr algn="ctr">
              <a:lnSpc>
                <a:spcPct val="100000"/>
              </a:lnSpc>
            </a:pPr>
            <a:r>
              <a:rPr sz="1700" b="0">
                <a:solidFill>
                  <a:srgbClr val="D1495B"/>
                </a:solidFill>
                <a:latin typeface="Segoe UI Semibold"/>
              </a:rPr>
              <a:t>Rejected with a reason</a:t>
            </a:r>
          </a:p>
        </p:txBody>
      </p:sp>
      <p:sp>
        <p:nvSpPr>
          <p:cNvPr id="29" name="TextBox 28"/>
          <p:cNvSpPr txBox="1"/>
          <p:nvPr/>
        </p:nvSpPr>
        <p:spPr>
          <a:xfrm>
            <a:off x="9107424" y="4983480"/>
            <a:ext cx="2350008" cy="822960"/>
          </a:xfrm>
          <a:prstGeom prst="rect">
            <a:avLst/>
          </a:prstGeom>
          <a:noFill/>
        </p:spPr>
        <p:txBody>
          <a:bodyPr wrap="square" lIns="0" tIns="0" rIns="0" bIns="0" anchor="t">
            <a:spAutoFit/>
          </a:bodyPr>
          <a:lstStyle/>
          <a:p>
            <a:pPr algn="ctr">
              <a:lnSpc>
                <a:spcPct val="100000"/>
              </a:lnSpc>
            </a:pPr>
            <a:r>
              <a:rPr sz="1300" b="0">
                <a:solidFill>
                  <a:srgbClr val="6B7785"/>
                </a:solidFill>
                <a:latin typeface="Segoe UI"/>
              </a:rPr>
              <a:t>The rest of the run
completes normally</a:t>
            </a:r>
          </a:p>
        </p:txBody>
      </p:sp>
      <p:sp>
        <p:nvSpPr>
          <p:cNvPr id="30" name="TextBox 29"/>
          <p:cNvSpPr txBox="1"/>
          <p:nvPr/>
        </p:nvSpPr>
        <p:spPr>
          <a:xfrm>
            <a:off x="548640" y="6428232"/>
            <a:ext cx="5486400" cy="228600"/>
          </a:xfrm>
          <a:prstGeom prst="rect">
            <a:avLst/>
          </a:prstGeom>
          <a:noFill/>
        </p:spPr>
        <p:txBody>
          <a:bodyPr wrap="square" lIns="0" tIns="0" rIns="0" bIns="0" anchor="t">
            <a:spAutoFit/>
          </a:bodyPr>
          <a:lstStyle/>
          <a:p>
            <a:pPr algn="l">
              <a:lnSpc>
                <a:spcPct val="100000"/>
              </a:lnSpc>
            </a:pPr>
            <a:r>
              <a:rPr sz="1000" b="0">
                <a:solidFill>
                  <a:srgbClr val="6B7785"/>
                </a:solidFill>
                <a:latin typeface="Segoe UI"/>
              </a:rPr>
              <a:t>Cricket Analytics Platform</a:t>
            </a:r>
          </a:p>
        </p:txBody>
      </p:sp>
      <p:sp>
        <p:nvSpPr>
          <p:cNvPr id="31" name="TextBox 30"/>
          <p:cNvSpPr txBox="1"/>
          <p:nvPr/>
        </p:nvSpPr>
        <p:spPr>
          <a:xfrm>
            <a:off x="10725912" y="6428232"/>
            <a:ext cx="914400" cy="228600"/>
          </a:xfrm>
          <a:prstGeom prst="rect">
            <a:avLst/>
          </a:prstGeom>
          <a:noFill/>
        </p:spPr>
        <p:txBody>
          <a:bodyPr wrap="square" lIns="0" tIns="0" rIns="0" bIns="0" anchor="t">
            <a:spAutoFit/>
          </a:bodyPr>
          <a:lstStyle/>
          <a:p>
            <a:pPr algn="r">
              <a:lnSpc>
                <a:spcPct val="100000"/>
              </a:lnSpc>
            </a:pPr>
            <a:r>
              <a:rPr sz="1000" b="0">
                <a:solidFill>
                  <a:srgbClr val="6B7785"/>
                </a:solidFill>
                <a:latin typeface="Segoe UI"/>
              </a:rPr>
              <a:t>13</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EEF2F6"/>
        </a:solidFill>
        <a:effectLst/>
      </p:bgPr>
    </p:bg>
    <p:spTree>
      <p:nvGrpSpPr>
        <p:cNvPr id="1" name=""/>
        <p:cNvGrpSpPr/>
        <p:nvPr/>
      </p:nvGrpSpPr>
      <p:grpSpPr>
        <a:xfrm>
          <a:off x="0" y="0"/>
          <a:ext cx="0" cy="0"/>
          <a:chOff x="0" y="0"/>
          <a:chExt cx="0" cy="0"/>
        </a:xfrm>
      </p:grpSpPr>
      <p:sp>
        <p:nvSpPr>
          <p:cNvPr id="2" name="TextBox 1"/>
          <p:cNvSpPr txBox="1"/>
          <p:nvPr/>
        </p:nvSpPr>
        <p:spPr>
          <a:xfrm>
            <a:off x="548640" y="146304"/>
            <a:ext cx="10058400" cy="256032"/>
          </a:xfrm>
          <a:prstGeom prst="rect">
            <a:avLst/>
          </a:prstGeom>
          <a:noFill/>
        </p:spPr>
        <p:txBody>
          <a:bodyPr wrap="square" lIns="0" tIns="0" rIns="0" bIns="0" anchor="t">
            <a:spAutoFit/>
          </a:bodyPr>
          <a:lstStyle/>
          <a:p>
            <a:pPr algn="l">
              <a:lnSpc>
                <a:spcPct val="100000"/>
              </a:lnSpc>
            </a:pPr>
            <a:r>
              <a:rPr sz="1000" b="1">
                <a:solidFill>
                  <a:srgbClr val="F2A900"/>
                </a:solidFill>
                <a:latin typeface="Segoe UI"/>
              </a:rPr>
              <a:t>07  ·  TABLEAU DASHBOARDS</a:t>
            </a:r>
            <a:r>
              <a:rPr sz="1000" b="0">
                <a:solidFill>
                  <a:srgbClr val="6B7785"/>
                </a:solidFill>
                <a:latin typeface="Segoe UI"/>
              </a:rPr>
              <a:t>     Brief §8–9</a:t>
            </a:r>
          </a:p>
        </p:txBody>
      </p:sp>
      <p:sp>
        <p:nvSpPr>
          <p:cNvPr id="3" name="TextBox 2"/>
          <p:cNvSpPr txBox="1"/>
          <p:nvPr/>
        </p:nvSpPr>
        <p:spPr>
          <a:xfrm>
            <a:off x="548640" y="411480"/>
            <a:ext cx="11064240" cy="640080"/>
          </a:xfrm>
          <a:prstGeom prst="rect">
            <a:avLst/>
          </a:prstGeom>
          <a:noFill/>
        </p:spPr>
        <p:txBody>
          <a:bodyPr wrap="square" lIns="0" tIns="0" rIns="0" bIns="0" anchor="t">
            <a:spAutoFit/>
          </a:bodyPr>
          <a:lstStyle/>
          <a:p>
            <a:pPr algn="l">
              <a:lnSpc>
                <a:spcPct val="100000"/>
              </a:lnSpc>
            </a:pPr>
            <a:r>
              <a:rPr sz="3200" b="0">
                <a:solidFill>
                  <a:srgbClr val="1F4E79"/>
                </a:solidFill>
                <a:latin typeface="Segoe UI Semibold"/>
              </a:rPr>
              <a:t>Eight dashboards, one story</a:t>
            </a:r>
          </a:p>
        </p:txBody>
      </p:sp>
      <p:sp>
        <p:nvSpPr>
          <p:cNvPr id="4" name="TextBox 3"/>
          <p:cNvSpPr txBox="1"/>
          <p:nvPr/>
        </p:nvSpPr>
        <p:spPr>
          <a:xfrm>
            <a:off x="548640" y="1024128"/>
            <a:ext cx="11064240" cy="411480"/>
          </a:xfrm>
          <a:prstGeom prst="rect">
            <a:avLst/>
          </a:prstGeom>
          <a:noFill/>
        </p:spPr>
        <p:txBody>
          <a:bodyPr wrap="square" lIns="0" tIns="0" rIns="0" bIns="0" anchor="t">
            <a:spAutoFit/>
          </a:bodyPr>
          <a:lstStyle/>
          <a:p>
            <a:pPr algn="l">
              <a:lnSpc>
                <a:spcPct val="100000"/>
              </a:lnSpc>
            </a:pPr>
            <a:r>
              <a:rPr sz="1500" b="0">
                <a:solidFill>
                  <a:srgbClr val="6B7785"/>
                </a:solidFill>
                <a:latin typeface="Segoe UI"/>
              </a:rPr>
              <a:t>Each page opens with an insight sentence computed from the data</a:t>
            </a:r>
          </a:p>
        </p:txBody>
      </p:sp>
      <p:sp>
        <p:nvSpPr>
          <p:cNvPr id="5" name="Rounded Rectangle 4"/>
          <p:cNvSpPr/>
          <p:nvPr/>
        </p:nvSpPr>
        <p:spPr>
          <a:xfrm>
            <a:off x="548640" y="1691640"/>
            <a:ext cx="2624328" cy="1783080"/>
          </a:xfrm>
          <a:prstGeom prst="roundRect">
            <a:avLst>
              <a:gd name="adj" fmla="val 4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6" name="Picture 5" descr="tableau_overview.png"/>
          <p:cNvPicPr>
            <a:picLocks noChangeAspect="1"/>
          </p:cNvPicPr>
          <p:nvPr/>
        </p:nvPicPr>
        <p:blipFill>
          <a:blip r:embed="rId3"/>
          <a:stretch>
            <a:fillRect/>
          </a:stretch>
        </p:blipFill>
        <p:spPr>
          <a:xfrm>
            <a:off x="621792" y="1772575"/>
            <a:ext cx="2478023" cy="1621209"/>
          </a:xfrm>
          <a:prstGeom prst="rect">
            <a:avLst/>
          </a:prstGeom>
        </p:spPr>
      </p:pic>
      <p:sp>
        <p:nvSpPr>
          <p:cNvPr id="7" name="TextBox 6"/>
          <p:cNvSpPr txBox="1"/>
          <p:nvPr/>
        </p:nvSpPr>
        <p:spPr>
          <a:xfrm>
            <a:off x="548640" y="3520440"/>
            <a:ext cx="2624328" cy="320040"/>
          </a:xfrm>
          <a:prstGeom prst="rect">
            <a:avLst/>
          </a:prstGeom>
          <a:noFill/>
        </p:spPr>
        <p:txBody>
          <a:bodyPr wrap="square" lIns="0" tIns="0" rIns="0" bIns="0" anchor="t">
            <a:spAutoFit/>
          </a:bodyPr>
          <a:lstStyle/>
          <a:p>
            <a:pPr algn="ctr">
              <a:lnSpc>
                <a:spcPct val="100000"/>
              </a:lnSpc>
            </a:pPr>
            <a:r>
              <a:rPr sz="1300" b="0">
                <a:solidFill>
                  <a:srgbClr val="1F4E79"/>
                </a:solidFill>
                <a:latin typeface="Segoe UI Semibold"/>
              </a:rPr>
              <a:t>Overview</a:t>
            </a:r>
          </a:p>
        </p:txBody>
      </p:sp>
      <p:sp>
        <p:nvSpPr>
          <p:cNvPr id="8" name="Rounded Rectangle 7"/>
          <p:cNvSpPr/>
          <p:nvPr/>
        </p:nvSpPr>
        <p:spPr>
          <a:xfrm>
            <a:off x="3355848" y="1691640"/>
            <a:ext cx="2624328" cy="1783080"/>
          </a:xfrm>
          <a:prstGeom prst="roundRect">
            <a:avLst>
              <a:gd name="adj" fmla="val 4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9" name="Picture 8" descr="tableau_leaderboard.png"/>
          <p:cNvPicPr>
            <a:picLocks noChangeAspect="1"/>
          </p:cNvPicPr>
          <p:nvPr/>
        </p:nvPicPr>
        <p:blipFill>
          <a:blip r:embed="rId4"/>
          <a:stretch>
            <a:fillRect/>
          </a:stretch>
        </p:blipFill>
        <p:spPr>
          <a:xfrm>
            <a:off x="3502393" y="1764792"/>
            <a:ext cx="2331236" cy="1636776"/>
          </a:xfrm>
          <a:prstGeom prst="rect">
            <a:avLst/>
          </a:prstGeom>
        </p:spPr>
      </p:pic>
      <p:sp>
        <p:nvSpPr>
          <p:cNvPr id="10" name="TextBox 9"/>
          <p:cNvSpPr txBox="1"/>
          <p:nvPr/>
        </p:nvSpPr>
        <p:spPr>
          <a:xfrm>
            <a:off x="3355848" y="3520440"/>
            <a:ext cx="2624328" cy="320040"/>
          </a:xfrm>
          <a:prstGeom prst="rect">
            <a:avLst/>
          </a:prstGeom>
          <a:noFill/>
        </p:spPr>
        <p:txBody>
          <a:bodyPr wrap="square" lIns="0" tIns="0" rIns="0" bIns="0" anchor="t">
            <a:spAutoFit/>
          </a:bodyPr>
          <a:lstStyle/>
          <a:p>
            <a:pPr algn="ctr">
              <a:lnSpc>
                <a:spcPct val="100000"/>
              </a:lnSpc>
            </a:pPr>
            <a:r>
              <a:rPr sz="1300" b="0">
                <a:solidFill>
                  <a:srgbClr val="1F4E79"/>
                </a:solidFill>
                <a:latin typeface="Segoe UI Semibold"/>
              </a:rPr>
              <a:t>Leaderboard</a:t>
            </a:r>
          </a:p>
        </p:txBody>
      </p:sp>
      <p:sp>
        <p:nvSpPr>
          <p:cNvPr id="11" name="Rounded Rectangle 10"/>
          <p:cNvSpPr/>
          <p:nvPr/>
        </p:nvSpPr>
        <p:spPr>
          <a:xfrm>
            <a:off x="6163055" y="1691640"/>
            <a:ext cx="2624328" cy="1783080"/>
          </a:xfrm>
          <a:prstGeom prst="roundRect">
            <a:avLst>
              <a:gd name="adj" fmla="val 4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12" name="Picture 11" descr="tableau_team.png"/>
          <p:cNvPicPr>
            <a:picLocks noChangeAspect="1"/>
          </p:cNvPicPr>
          <p:nvPr/>
        </p:nvPicPr>
        <p:blipFill>
          <a:blip r:embed="rId5"/>
          <a:stretch>
            <a:fillRect/>
          </a:stretch>
        </p:blipFill>
        <p:spPr>
          <a:xfrm>
            <a:off x="6236207" y="1831300"/>
            <a:ext cx="2478023" cy="1503758"/>
          </a:xfrm>
          <a:prstGeom prst="rect">
            <a:avLst/>
          </a:prstGeom>
        </p:spPr>
      </p:pic>
      <p:sp>
        <p:nvSpPr>
          <p:cNvPr id="13" name="TextBox 12"/>
          <p:cNvSpPr txBox="1"/>
          <p:nvPr/>
        </p:nvSpPr>
        <p:spPr>
          <a:xfrm>
            <a:off x="6163055" y="3520440"/>
            <a:ext cx="2624328" cy="320040"/>
          </a:xfrm>
          <a:prstGeom prst="rect">
            <a:avLst/>
          </a:prstGeom>
          <a:noFill/>
        </p:spPr>
        <p:txBody>
          <a:bodyPr wrap="square" lIns="0" tIns="0" rIns="0" bIns="0" anchor="t">
            <a:spAutoFit/>
          </a:bodyPr>
          <a:lstStyle/>
          <a:p>
            <a:pPr algn="ctr">
              <a:lnSpc>
                <a:spcPct val="100000"/>
              </a:lnSpc>
            </a:pPr>
            <a:r>
              <a:rPr sz="1300" b="0">
                <a:solidFill>
                  <a:srgbClr val="1F4E79"/>
                </a:solidFill>
                <a:latin typeface="Segoe UI Semibold"/>
              </a:rPr>
              <a:t>Team</a:t>
            </a:r>
          </a:p>
        </p:txBody>
      </p:sp>
      <p:sp>
        <p:nvSpPr>
          <p:cNvPr id="14" name="Rounded Rectangle 13"/>
          <p:cNvSpPr/>
          <p:nvPr/>
        </p:nvSpPr>
        <p:spPr>
          <a:xfrm>
            <a:off x="8970263" y="1691640"/>
            <a:ext cx="2624328" cy="1783080"/>
          </a:xfrm>
          <a:prstGeom prst="roundRect">
            <a:avLst>
              <a:gd name="adj" fmla="val 4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15" name="Picture 14" descr="tableau_player.png"/>
          <p:cNvPicPr>
            <a:picLocks noChangeAspect="1"/>
          </p:cNvPicPr>
          <p:nvPr/>
        </p:nvPicPr>
        <p:blipFill>
          <a:blip r:embed="rId6"/>
          <a:stretch>
            <a:fillRect/>
          </a:stretch>
        </p:blipFill>
        <p:spPr>
          <a:xfrm>
            <a:off x="9043415" y="1772277"/>
            <a:ext cx="2478024" cy="1621804"/>
          </a:xfrm>
          <a:prstGeom prst="rect">
            <a:avLst/>
          </a:prstGeom>
        </p:spPr>
      </p:pic>
      <p:sp>
        <p:nvSpPr>
          <p:cNvPr id="16" name="TextBox 15"/>
          <p:cNvSpPr txBox="1"/>
          <p:nvPr/>
        </p:nvSpPr>
        <p:spPr>
          <a:xfrm>
            <a:off x="8970263" y="3520440"/>
            <a:ext cx="2624328" cy="320040"/>
          </a:xfrm>
          <a:prstGeom prst="rect">
            <a:avLst/>
          </a:prstGeom>
          <a:noFill/>
        </p:spPr>
        <p:txBody>
          <a:bodyPr wrap="square" lIns="0" tIns="0" rIns="0" bIns="0" anchor="t">
            <a:spAutoFit/>
          </a:bodyPr>
          <a:lstStyle/>
          <a:p>
            <a:pPr algn="ctr">
              <a:lnSpc>
                <a:spcPct val="100000"/>
              </a:lnSpc>
            </a:pPr>
            <a:r>
              <a:rPr sz="1300" b="0">
                <a:solidFill>
                  <a:srgbClr val="1F4E79"/>
                </a:solidFill>
                <a:latin typeface="Segoe UI Semibold"/>
              </a:rPr>
              <a:t>Player</a:t>
            </a:r>
          </a:p>
        </p:txBody>
      </p:sp>
      <p:sp>
        <p:nvSpPr>
          <p:cNvPr id="17" name="Rounded Rectangle 16"/>
          <p:cNvSpPr/>
          <p:nvPr/>
        </p:nvSpPr>
        <p:spPr>
          <a:xfrm>
            <a:off x="548640" y="4023360"/>
            <a:ext cx="2624328" cy="1783080"/>
          </a:xfrm>
          <a:prstGeom prst="roundRect">
            <a:avLst>
              <a:gd name="adj" fmla="val 4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18" name="Picture 17" descr="tableau_player_leaderboards.png"/>
          <p:cNvPicPr>
            <a:picLocks noChangeAspect="1"/>
          </p:cNvPicPr>
          <p:nvPr/>
        </p:nvPicPr>
        <p:blipFill>
          <a:blip r:embed="rId7"/>
          <a:stretch>
            <a:fillRect/>
          </a:stretch>
        </p:blipFill>
        <p:spPr>
          <a:xfrm>
            <a:off x="621792" y="4102870"/>
            <a:ext cx="2478023" cy="1624058"/>
          </a:xfrm>
          <a:prstGeom prst="rect">
            <a:avLst/>
          </a:prstGeom>
        </p:spPr>
      </p:pic>
      <p:sp>
        <p:nvSpPr>
          <p:cNvPr id="19" name="TextBox 18"/>
          <p:cNvSpPr txBox="1"/>
          <p:nvPr/>
        </p:nvSpPr>
        <p:spPr>
          <a:xfrm>
            <a:off x="548640" y="5852160"/>
            <a:ext cx="2624328" cy="320040"/>
          </a:xfrm>
          <a:prstGeom prst="rect">
            <a:avLst/>
          </a:prstGeom>
          <a:noFill/>
        </p:spPr>
        <p:txBody>
          <a:bodyPr wrap="square" lIns="0" tIns="0" rIns="0" bIns="0" anchor="t">
            <a:spAutoFit/>
          </a:bodyPr>
          <a:lstStyle/>
          <a:p>
            <a:pPr algn="ctr">
              <a:lnSpc>
                <a:spcPct val="100000"/>
              </a:lnSpc>
            </a:pPr>
            <a:r>
              <a:rPr sz="1300" b="0">
                <a:solidFill>
                  <a:srgbClr val="1F4E79"/>
                </a:solidFill>
                <a:latin typeface="Segoe UI Semibold"/>
              </a:rPr>
              <a:t>Player leaderboards</a:t>
            </a:r>
          </a:p>
        </p:txBody>
      </p:sp>
      <p:sp>
        <p:nvSpPr>
          <p:cNvPr id="20" name="Rounded Rectangle 19"/>
          <p:cNvSpPr/>
          <p:nvPr/>
        </p:nvSpPr>
        <p:spPr>
          <a:xfrm>
            <a:off x="3355848" y="4023360"/>
            <a:ext cx="2624328" cy="1783080"/>
          </a:xfrm>
          <a:prstGeom prst="roundRect">
            <a:avLst>
              <a:gd name="adj" fmla="val 4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21" name="Picture 20" descr="tableau_match.png"/>
          <p:cNvPicPr>
            <a:picLocks noChangeAspect="1"/>
          </p:cNvPicPr>
          <p:nvPr/>
        </p:nvPicPr>
        <p:blipFill>
          <a:blip r:embed="rId8"/>
          <a:stretch>
            <a:fillRect/>
          </a:stretch>
        </p:blipFill>
        <p:spPr>
          <a:xfrm>
            <a:off x="3429000" y="4169198"/>
            <a:ext cx="2478023" cy="1491403"/>
          </a:xfrm>
          <a:prstGeom prst="rect">
            <a:avLst/>
          </a:prstGeom>
        </p:spPr>
      </p:pic>
      <p:sp>
        <p:nvSpPr>
          <p:cNvPr id="22" name="TextBox 21"/>
          <p:cNvSpPr txBox="1"/>
          <p:nvPr/>
        </p:nvSpPr>
        <p:spPr>
          <a:xfrm>
            <a:off x="3355848" y="5852160"/>
            <a:ext cx="2624328" cy="320040"/>
          </a:xfrm>
          <a:prstGeom prst="rect">
            <a:avLst/>
          </a:prstGeom>
          <a:noFill/>
        </p:spPr>
        <p:txBody>
          <a:bodyPr wrap="square" lIns="0" tIns="0" rIns="0" bIns="0" anchor="t">
            <a:spAutoFit/>
          </a:bodyPr>
          <a:lstStyle/>
          <a:p>
            <a:pPr algn="ctr">
              <a:lnSpc>
                <a:spcPct val="100000"/>
              </a:lnSpc>
            </a:pPr>
            <a:r>
              <a:rPr sz="1300" b="0">
                <a:solidFill>
                  <a:srgbClr val="1F4E79"/>
                </a:solidFill>
                <a:latin typeface="Segoe UI Semibold"/>
              </a:rPr>
              <a:t>Match centre</a:t>
            </a:r>
          </a:p>
        </p:txBody>
      </p:sp>
      <p:sp>
        <p:nvSpPr>
          <p:cNvPr id="23" name="Rounded Rectangle 22"/>
          <p:cNvSpPr/>
          <p:nvPr/>
        </p:nvSpPr>
        <p:spPr>
          <a:xfrm>
            <a:off x="6163055" y="4023360"/>
            <a:ext cx="2624328" cy="1783080"/>
          </a:xfrm>
          <a:prstGeom prst="roundRect">
            <a:avLst>
              <a:gd name="adj" fmla="val 4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24" name="Picture 23" descr="tableau_trends.png"/>
          <p:cNvPicPr>
            <a:picLocks noChangeAspect="1"/>
          </p:cNvPicPr>
          <p:nvPr/>
        </p:nvPicPr>
        <p:blipFill>
          <a:blip r:embed="rId9"/>
          <a:stretch>
            <a:fillRect/>
          </a:stretch>
        </p:blipFill>
        <p:spPr>
          <a:xfrm>
            <a:off x="6236207" y="4159904"/>
            <a:ext cx="2478024" cy="1509990"/>
          </a:xfrm>
          <a:prstGeom prst="rect">
            <a:avLst/>
          </a:prstGeom>
        </p:spPr>
      </p:pic>
      <p:sp>
        <p:nvSpPr>
          <p:cNvPr id="25" name="TextBox 24"/>
          <p:cNvSpPr txBox="1"/>
          <p:nvPr/>
        </p:nvSpPr>
        <p:spPr>
          <a:xfrm>
            <a:off x="6163055" y="5852160"/>
            <a:ext cx="2624328" cy="320040"/>
          </a:xfrm>
          <a:prstGeom prst="rect">
            <a:avLst/>
          </a:prstGeom>
          <a:noFill/>
        </p:spPr>
        <p:txBody>
          <a:bodyPr wrap="square" lIns="0" tIns="0" rIns="0" bIns="0" anchor="t">
            <a:spAutoFit/>
          </a:bodyPr>
          <a:lstStyle/>
          <a:p>
            <a:pPr algn="ctr">
              <a:lnSpc>
                <a:spcPct val="100000"/>
              </a:lnSpc>
            </a:pPr>
            <a:r>
              <a:rPr sz="1300" b="0">
                <a:solidFill>
                  <a:srgbClr val="1F4E79"/>
                </a:solidFill>
                <a:latin typeface="Segoe UI Semibold"/>
              </a:rPr>
              <a:t>Trends</a:t>
            </a:r>
          </a:p>
        </p:txBody>
      </p:sp>
      <p:sp>
        <p:nvSpPr>
          <p:cNvPr id="26" name="Rounded Rectangle 25"/>
          <p:cNvSpPr/>
          <p:nvPr/>
        </p:nvSpPr>
        <p:spPr>
          <a:xfrm>
            <a:off x="8970263" y="4023360"/>
            <a:ext cx="2624328" cy="1783080"/>
          </a:xfrm>
          <a:prstGeom prst="roundRect">
            <a:avLst>
              <a:gd name="adj" fmla="val 4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27" name="Picture 26" descr="tableau_data_quality.png"/>
          <p:cNvPicPr>
            <a:picLocks noChangeAspect="1"/>
          </p:cNvPicPr>
          <p:nvPr/>
        </p:nvPicPr>
        <p:blipFill>
          <a:blip r:embed="rId10"/>
          <a:stretch>
            <a:fillRect/>
          </a:stretch>
        </p:blipFill>
        <p:spPr>
          <a:xfrm>
            <a:off x="9043415" y="4097842"/>
            <a:ext cx="2478024" cy="1634114"/>
          </a:xfrm>
          <a:prstGeom prst="rect">
            <a:avLst/>
          </a:prstGeom>
        </p:spPr>
      </p:pic>
      <p:sp>
        <p:nvSpPr>
          <p:cNvPr id="28" name="TextBox 27"/>
          <p:cNvSpPr txBox="1"/>
          <p:nvPr/>
        </p:nvSpPr>
        <p:spPr>
          <a:xfrm>
            <a:off x="8970263" y="5852160"/>
            <a:ext cx="2624328" cy="320040"/>
          </a:xfrm>
          <a:prstGeom prst="rect">
            <a:avLst/>
          </a:prstGeom>
          <a:noFill/>
        </p:spPr>
        <p:txBody>
          <a:bodyPr wrap="square" lIns="0" tIns="0" rIns="0" bIns="0" anchor="t">
            <a:spAutoFit/>
          </a:bodyPr>
          <a:lstStyle/>
          <a:p>
            <a:pPr algn="ctr">
              <a:lnSpc>
                <a:spcPct val="100000"/>
              </a:lnSpc>
            </a:pPr>
            <a:r>
              <a:rPr sz="1300" b="0">
                <a:solidFill>
                  <a:srgbClr val="1F4E79"/>
                </a:solidFill>
                <a:latin typeface="Segoe UI Semibold"/>
              </a:rPr>
              <a:t>Data quality</a:t>
            </a:r>
          </a:p>
        </p:txBody>
      </p:sp>
      <p:sp>
        <p:nvSpPr>
          <p:cNvPr id="29" name="TextBox 28"/>
          <p:cNvSpPr txBox="1"/>
          <p:nvPr/>
        </p:nvSpPr>
        <p:spPr>
          <a:xfrm>
            <a:off x="548640" y="6428232"/>
            <a:ext cx="5486400" cy="228600"/>
          </a:xfrm>
          <a:prstGeom prst="rect">
            <a:avLst/>
          </a:prstGeom>
          <a:noFill/>
        </p:spPr>
        <p:txBody>
          <a:bodyPr wrap="square" lIns="0" tIns="0" rIns="0" bIns="0" anchor="t">
            <a:spAutoFit/>
          </a:bodyPr>
          <a:lstStyle/>
          <a:p>
            <a:pPr algn="l">
              <a:lnSpc>
                <a:spcPct val="100000"/>
              </a:lnSpc>
            </a:pPr>
            <a:r>
              <a:rPr sz="1000" b="0">
                <a:solidFill>
                  <a:srgbClr val="6B7785"/>
                </a:solidFill>
                <a:latin typeface="Segoe UI"/>
              </a:rPr>
              <a:t>Cricket Analytics Platform</a:t>
            </a:r>
          </a:p>
        </p:txBody>
      </p:sp>
      <p:sp>
        <p:nvSpPr>
          <p:cNvPr id="30" name="TextBox 29"/>
          <p:cNvSpPr txBox="1"/>
          <p:nvPr/>
        </p:nvSpPr>
        <p:spPr>
          <a:xfrm>
            <a:off x="10725912" y="6428232"/>
            <a:ext cx="914400" cy="228600"/>
          </a:xfrm>
          <a:prstGeom prst="rect">
            <a:avLst/>
          </a:prstGeom>
          <a:noFill/>
        </p:spPr>
        <p:txBody>
          <a:bodyPr wrap="square" lIns="0" tIns="0" rIns="0" bIns="0" anchor="t">
            <a:spAutoFit/>
          </a:bodyPr>
          <a:lstStyle/>
          <a:p>
            <a:pPr algn="r">
              <a:lnSpc>
                <a:spcPct val="100000"/>
              </a:lnSpc>
            </a:pPr>
            <a:r>
              <a:rPr sz="1000" b="0">
                <a:solidFill>
                  <a:srgbClr val="6B7785"/>
                </a:solidFill>
                <a:latin typeface="Segoe UI"/>
              </a:rPr>
              <a:t>14</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EEF2F6"/>
        </a:solidFill>
        <a:effectLst/>
      </p:bgPr>
    </p:bg>
    <p:spTree>
      <p:nvGrpSpPr>
        <p:cNvPr id="1" name=""/>
        <p:cNvGrpSpPr/>
        <p:nvPr/>
      </p:nvGrpSpPr>
      <p:grpSpPr>
        <a:xfrm>
          <a:off x="0" y="0"/>
          <a:ext cx="0" cy="0"/>
          <a:chOff x="0" y="0"/>
          <a:chExt cx="0" cy="0"/>
        </a:xfrm>
      </p:grpSpPr>
      <p:sp>
        <p:nvSpPr>
          <p:cNvPr id="2" name="TextBox 1"/>
          <p:cNvSpPr txBox="1"/>
          <p:nvPr/>
        </p:nvSpPr>
        <p:spPr>
          <a:xfrm>
            <a:off x="548640" y="146304"/>
            <a:ext cx="10058400" cy="256032"/>
          </a:xfrm>
          <a:prstGeom prst="rect">
            <a:avLst/>
          </a:prstGeom>
          <a:noFill/>
        </p:spPr>
        <p:txBody>
          <a:bodyPr wrap="square" lIns="0" tIns="0" rIns="0" bIns="0" anchor="t">
            <a:spAutoFit/>
          </a:bodyPr>
          <a:lstStyle/>
          <a:p>
            <a:pPr algn="l">
              <a:lnSpc>
                <a:spcPct val="100000"/>
              </a:lnSpc>
            </a:pPr>
            <a:r>
              <a:rPr sz="1000" b="1">
                <a:solidFill>
                  <a:srgbClr val="F2A900"/>
                </a:solidFill>
                <a:latin typeface="Segoe UI"/>
              </a:rPr>
              <a:t>07  ·  TABLEAU DASHBOARDS</a:t>
            </a:r>
            <a:r>
              <a:rPr sz="1000" b="0">
                <a:solidFill>
                  <a:srgbClr val="6B7785"/>
                </a:solidFill>
                <a:latin typeface="Segoe UI"/>
              </a:rPr>
              <a:t>     Brief §8–9</a:t>
            </a:r>
          </a:p>
        </p:txBody>
      </p:sp>
      <p:sp>
        <p:nvSpPr>
          <p:cNvPr id="3" name="TextBox 2"/>
          <p:cNvSpPr txBox="1"/>
          <p:nvPr/>
        </p:nvSpPr>
        <p:spPr>
          <a:xfrm>
            <a:off x="548640" y="411480"/>
            <a:ext cx="11064240" cy="640080"/>
          </a:xfrm>
          <a:prstGeom prst="rect">
            <a:avLst/>
          </a:prstGeom>
          <a:noFill/>
        </p:spPr>
        <p:txBody>
          <a:bodyPr wrap="square" lIns="0" tIns="0" rIns="0" bIns="0" anchor="t">
            <a:spAutoFit/>
          </a:bodyPr>
          <a:lstStyle/>
          <a:p>
            <a:pPr algn="l">
              <a:lnSpc>
                <a:spcPct val="100000"/>
              </a:lnSpc>
            </a:pPr>
            <a:r>
              <a:rPr sz="3200" b="0">
                <a:solidFill>
                  <a:srgbClr val="1F4E79"/>
                </a:solidFill>
                <a:latin typeface="Segoe UI Semibold"/>
              </a:rPr>
              <a:t>What the data tells us</a:t>
            </a:r>
          </a:p>
        </p:txBody>
      </p:sp>
      <p:sp>
        <p:nvSpPr>
          <p:cNvPr id="4" name="TextBox 3"/>
          <p:cNvSpPr txBox="1"/>
          <p:nvPr/>
        </p:nvSpPr>
        <p:spPr>
          <a:xfrm>
            <a:off x="548640" y="1024128"/>
            <a:ext cx="11064240" cy="411480"/>
          </a:xfrm>
          <a:prstGeom prst="rect">
            <a:avLst/>
          </a:prstGeom>
          <a:noFill/>
        </p:spPr>
        <p:txBody>
          <a:bodyPr wrap="square" lIns="0" tIns="0" rIns="0" bIns="0" anchor="t">
            <a:spAutoFit/>
          </a:bodyPr>
          <a:lstStyle/>
          <a:p>
            <a:pPr algn="l">
              <a:lnSpc>
                <a:spcPct val="100000"/>
              </a:lnSpc>
            </a:pPr>
            <a:r>
              <a:rPr sz="1500" b="0">
                <a:solidFill>
                  <a:srgbClr val="6B7785"/>
                </a:solidFill>
                <a:latin typeface="Segoe UI"/>
              </a:rPr>
              <a:t>Dashboards separate real patterns from chance</a:t>
            </a:r>
          </a:p>
        </p:txBody>
      </p:sp>
      <p:sp>
        <p:nvSpPr>
          <p:cNvPr id="5" name="Rounded Rectangle 4"/>
          <p:cNvSpPr/>
          <p:nvPr/>
        </p:nvSpPr>
        <p:spPr>
          <a:xfrm>
            <a:off x="548640" y="1691640"/>
            <a:ext cx="6035040" cy="4434840"/>
          </a:xfrm>
          <a:prstGeom prst="roundRect">
            <a:avLst>
              <a:gd name="adj" fmla="val 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868680" y="1874519"/>
            <a:ext cx="5486400" cy="365760"/>
          </a:xfrm>
          <a:prstGeom prst="rect">
            <a:avLst/>
          </a:prstGeom>
          <a:noFill/>
        </p:spPr>
        <p:txBody>
          <a:bodyPr wrap="square" lIns="0" tIns="0" rIns="0" bIns="0" anchor="t">
            <a:spAutoFit/>
          </a:bodyPr>
          <a:lstStyle/>
          <a:p>
            <a:pPr algn="l">
              <a:lnSpc>
                <a:spcPct val="100000"/>
              </a:lnSpc>
            </a:pPr>
            <a:r>
              <a:rPr sz="1500" b="0">
                <a:solidFill>
                  <a:srgbClr val="24323F"/>
                </a:solidFill>
                <a:latin typeface="Segoe UI Semibold"/>
              </a:rPr>
              <a:t>Wins by team, all seasons</a:t>
            </a:r>
          </a:p>
        </p:txBody>
      </p:sp>
      <p:graphicFrame>
        <p:nvGraphicFramePr>
          <p:cNvPr id="7" name="Chart 6"/>
          <p:cNvGraphicFramePr>
            <a:graphicFrameLocks noGrp="1"/>
          </p:cNvGraphicFramePr>
          <p:nvPr/>
        </p:nvGraphicFramePr>
        <p:xfrm>
          <a:off x="777240" y="2286000"/>
          <a:ext cx="5623560" cy="3703320"/>
        </p:xfrm>
        <a:graphic>
          <a:graphicData uri="http://schemas.openxmlformats.org/drawingml/2006/chart">
            <c:chart xmlns:c="http://schemas.openxmlformats.org/drawingml/2006/chart" xmlns:r="http://schemas.openxmlformats.org/officeDocument/2006/relationships" r:id="rId3"/>
          </a:graphicData>
        </a:graphic>
      </p:graphicFrame>
      <p:sp>
        <p:nvSpPr>
          <p:cNvPr id="8" name="Rounded Rectangle 7"/>
          <p:cNvSpPr/>
          <p:nvPr/>
        </p:nvSpPr>
        <p:spPr>
          <a:xfrm>
            <a:off x="6858000" y="1691640"/>
            <a:ext cx="4754880" cy="1325880"/>
          </a:xfrm>
          <a:prstGeom prst="roundRect">
            <a:avLst>
              <a:gd name="adj" fmla="val 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7132320" y="1828800"/>
            <a:ext cx="1600200" cy="1051560"/>
          </a:xfrm>
          <a:prstGeom prst="rect">
            <a:avLst/>
          </a:prstGeom>
          <a:noFill/>
        </p:spPr>
        <p:txBody>
          <a:bodyPr wrap="square" lIns="0" tIns="0" rIns="0" bIns="0" anchor="ctr">
            <a:spAutoFit/>
          </a:bodyPr>
          <a:lstStyle/>
          <a:p>
            <a:pPr algn="l">
              <a:lnSpc>
                <a:spcPct val="100000"/>
              </a:lnSpc>
            </a:pPr>
            <a:r>
              <a:rPr sz="4000" b="0">
                <a:solidFill>
                  <a:srgbClr val="1F4E79"/>
                </a:solidFill>
                <a:latin typeface="Segoe UI Semibold"/>
              </a:rPr>
              <a:t>56%</a:t>
            </a:r>
          </a:p>
        </p:txBody>
      </p:sp>
      <p:sp>
        <p:nvSpPr>
          <p:cNvPr id="10" name="TextBox 9"/>
          <p:cNvSpPr txBox="1"/>
          <p:nvPr/>
        </p:nvSpPr>
        <p:spPr>
          <a:xfrm>
            <a:off x="8823960" y="1947672"/>
            <a:ext cx="2651760" cy="411480"/>
          </a:xfrm>
          <a:prstGeom prst="rect">
            <a:avLst/>
          </a:prstGeom>
          <a:noFill/>
        </p:spPr>
        <p:txBody>
          <a:bodyPr wrap="square" lIns="0" tIns="0" rIns="0" bIns="0" anchor="t">
            <a:spAutoFit/>
          </a:bodyPr>
          <a:lstStyle/>
          <a:p>
            <a:pPr algn="l">
              <a:lnSpc>
                <a:spcPct val="100000"/>
              </a:lnSpc>
            </a:pPr>
            <a:r>
              <a:rPr sz="1600" b="0">
                <a:solidFill>
                  <a:srgbClr val="24323F"/>
                </a:solidFill>
                <a:latin typeface="Segoe UI Semibold"/>
              </a:rPr>
              <a:t>Toss winners also won</a:t>
            </a:r>
          </a:p>
        </p:txBody>
      </p:sp>
      <p:sp>
        <p:nvSpPr>
          <p:cNvPr id="11" name="TextBox 10"/>
          <p:cNvSpPr txBox="1"/>
          <p:nvPr/>
        </p:nvSpPr>
        <p:spPr>
          <a:xfrm>
            <a:off x="8823960" y="2350008"/>
            <a:ext cx="2651760" cy="411480"/>
          </a:xfrm>
          <a:prstGeom prst="rect">
            <a:avLst/>
          </a:prstGeom>
          <a:noFill/>
        </p:spPr>
        <p:txBody>
          <a:bodyPr wrap="square" lIns="0" tIns="0" rIns="0" bIns="0" anchor="t">
            <a:spAutoFit/>
          </a:bodyPr>
          <a:lstStyle/>
          <a:p>
            <a:pPr algn="l">
              <a:lnSpc>
                <a:spcPct val="100000"/>
              </a:lnSpc>
            </a:pPr>
            <a:r>
              <a:rPr sz="1300" b="1">
                <a:solidFill>
                  <a:srgbClr val="F2A900"/>
                </a:solidFill>
                <a:latin typeface="Segoe UI"/>
              </a:rPr>
              <a:t>Within chance: not a real edge</a:t>
            </a:r>
          </a:p>
        </p:txBody>
      </p:sp>
      <p:sp>
        <p:nvSpPr>
          <p:cNvPr id="12" name="Rounded Rectangle 11"/>
          <p:cNvSpPr/>
          <p:nvPr/>
        </p:nvSpPr>
        <p:spPr>
          <a:xfrm>
            <a:off x="6858000" y="3200400"/>
            <a:ext cx="4754880" cy="1325880"/>
          </a:xfrm>
          <a:prstGeom prst="roundRect">
            <a:avLst>
              <a:gd name="adj" fmla="val 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7132320" y="3337560"/>
            <a:ext cx="1600200" cy="1051560"/>
          </a:xfrm>
          <a:prstGeom prst="rect">
            <a:avLst/>
          </a:prstGeom>
          <a:noFill/>
        </p:spPr>
        <p:txBody>
          <a:bodyPr wrap="square" lIns="0" tIns="0" rIns="0" bIns="0" anchor="ctr">
            <a:spAutoFit/>
          </a:bodyPr>
          <a:lstStyle/>
          <a:p>
            <a:pPr algn="l">
              <a:lnSpc>
                <a:spcPct val="100000"/>
              </a:lnSpc>
            </a:pPr>
            <a:r>
              <a:rPr sz="4000" b="0">
                <a:solidFill>
                  <a:srgbClr val="1F4E79"/>
                </a:solidFill>
                <a:latin typeface="Segoe UI Semibold"/>
              </a:rPr>
              <a:t>58%</a:t>
            </a:r>
          </a:p>
        </p:txBody>
      </p:sp>
      <p:sp>
        <p:nvSpPr>
          <p:cNvPr id="14" name="TextBox 13"/>
          <p:cNvSpPr txBox="1"/>
          <p:nvPr/>
        </p:nvSpPr>
        <p:spPr>
          <a:xfrm>
            <a:off x="8823960" y="3456432"/>
            <a:ext cx="2651760" cy="411480"/>
          </a:xfrm>
          <a:prstGeom prst="rect">
            <a:avLst/>
          </a:prstGeom>
          <a:noFill/>
        </p:spPr>
        <p:txBody>
          <a:bodyPr wrap="square" lIns="0" tIns="0" rIns="0" bIns="0" anchor="t">
            <a:spAutoFit/>
          </a:bodyPr>
          <a:lstStyle/>
          <a:p>
            <a:pPr algn="l">
              <a:lnSpc>
                <a:spcPct val="100000"/>
              </a:lnSpc>
            </a:pPr>
            <a:r>
              <a:rPr sz="1600" b="0">
                <a:solidFill>
                  <a:srgbClr val="24323F"/>
                </a:solidFill>
                <a:latin typeface="Segoe UI Semibold"/>
              </a:rPr>
              <a:t>Teams batting first won</a:t>
            </a:r>
          </a:p>
        </p:txBody>
      </p:sp>
      <p:sp>
        <p:nvSpPr>
          <p:cNvPr id="15" name="TextBox 14"/>
          <p:cNvSpPr txBox="1"/>
          <p:nvPr/>
        </p:nvSpPr>
        <p:spPr>
          <a:xfrm>
            <a:off x="8823960" y="3858768"/>
            <a:ext cx="2651760" cy="411480"/>
          </a:xfrm>
          <a:prstGeom prst="rect">
            <a:avLst/>
          </a:prstGeom>
          <a:noFill/>
        </p:spPr>
        <p:txBody>
          <a:bodyPr wrap="square" lIns="0" tIns="0" rIns="0" bIns="0" anchor="t">
            <a:spAutoFit/>
          </a:bodyPr>
          <a:lstStyle/>
          <a:p>
            <a:pPr algn="l">
              <a:lnSpc>
                <a:spcPct val="100000"/>
              </a:lnSpc>
            </a:pPr>
            <a:r>
              <a:rPr sz="1300" b="1">
                <a:solidFill>
                  <a:srgbClr val="F2A900"/>
                </a:solidFill>
                <a:latin typeface="Segoe UI"/>
              </a:rPr>
              <a:t>A lean, not a rule</a:t>
            </a:r>
          </a:p>
        </p:txBody>
      </p:sp>
      <p:sp>
        <p:nvSpPr>
          <p:cNvPr id="16" name="Rounded Rectangle 15"/>
          <p:cNvSpPr/>
          <p:nvPr/>
        </p:nvSpPr>
        <p:spPr>
          <a:xfrm>
            <a:off x="6858000" y="4709160"/>
            <a:ext cx="4754880" cy="1325880"/>
          </a:xfrm>
          <a:prstGeom prst="roundRect">
            <a:avLst>
              <a:gd name="adj" fmla="val 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7132320" y="4846320"/>
            <a:ext cx="1600200" cy="1051560"/>
          </a:xfrm>
          <a:prstGeom prst="rect">
            <a:avLst/>
          </a:prstGeom>
          <a:noFill/>
        </p:spPr>
        <p:txBody>
          <a:bodyPr wrap="square" lIns="0" tIns="0" rIns="0" bIns="0" anchor="ctr">
            <a:spAutoFit/>
          </a:bodyPr>
          <a:lstStyle/>
          <a:p>
            <a:pPr algn="l">
              <a:lnSpc>
                <a:spcPct val="100000"/>
              </a:lnSpc>
            </a:pPr>
            <a:r>
              <a:rPr sz="4000" b="0">
                <a:solidFill>
                  <a:srgbClr val="1F4E79"/>
                </a:solidFill>
                <a:latin typeface="Segoe UI Semibold"/>
              </a:rPr>
              <a:t>30%</a:t>
            </a:r>
          </a:p>
        </p:txBody>
      </p:sp>
      <p:sp>
        <p:nvSpPr>
          <p:cNvPr id="18" name="TextBox 17"/>
          <p:cNvSpPr txBox="1"/>
          <p:nvPr/>
        </p:nvSpPr>
        <p:spPr>
          <a:xfrm>
            <a:off x="8823960" y="4965192"/>
            <a:ext cx="2651760" cy="411480"/>
          </a:xfrm>
          <a:prstGeom prst="rect">
            <a:avLst/>
          </a:prstGeom>
          <a:noFill/>
        </p:spPr>
        <p:txBody>
          <a:bodyPr wrap="square" lIns="0" tIns="0" rIns="0" bIns="0" anchor="t">
            <a:spAutoFit/>
          </a:bodyPr>
          <a:lstStyle/>
          <a:p>
            <a:pPr algn="l">
              <a:lnSpc>
                <a:spcPct val="100000"/>
              </a:lnSpc>
            </a:pPr>
            <a:r>
              <a:rPr sz="1600" b="0">
                <a:solidFill>
                  <a:srgbClr val="24323F"/>
                </a:solidFill>
                <a:latin typeface="Segoe UI Semibold"/>
              </a:rPr>
              <a:t>Close finishes</a:t>
            </a:r>
          </a:p>
        </p:txBody>
      </p:sp>
      <p:sp>
        <p:nvSpPr>
          <p:cNvPr id="19" name="TextBox 18"/>
          <p:cNvSpPr txBox="1"/>
          <p:nvPr/>
        </p:nvSpPr>
        <p:spPr>
          <a:xfrm>
            <a:off x="8823960" y="5367528"/>
            <a:ext cx="2651760" cy="411480"/>
          </a:xfrm>
          <a:prstGeom prst="rect">
            <a:avLst/>
          </a:prstGeom>
          <a:noFill/>
        </p:spPr>
        <p:txBody>
          <a:bodyPr wrap="square" lIns="0" tIns="0" rIns="0" bIns="0" anchor="t">
            <a:spAutoFit/>
          </a:bodyPr>
          <a:lstStyle/>
          <a:p>
            <a:pPr algn="l">
              <a:lnSpc>
                <a:spcPct val="100000"/>
              </a:lnSpc>
            </a:pPr>
            <a:r>
              <a:rPr sz="1300" b="0">
                <a:solidFill>
                  <a:srgbClr val="6B7785"/>
                </a:solidFill>
                <a:latin typeface="Segoe UI"/>
              </a:rPr>
              <a:t>A balanced competition</a:t>
            </a:r>
          </a:p>
        </p:txBody>
      </p:sp>
      <p:sp>
        <p:nvSpPr>
          <p:cNvPr id="20" name="TextBox 19"/>
          <p:cNvSpPr txBox="1"/>
          <p:nvPr/>
        </p:nvSpPr>
        <p:spPr>
          <a:xfrm>
            <a:off x="548640" y="6428232"/>
            <a:ext cx="5486400" cy="228600"/>
          </a:xfrm>
          <a:prstGeom prst="rect">
            <a:avLst/>
          </a:prstGeom>
          <a:noFill/>
        </p:spPr>
        <p:txBody>
          <a:bodyPr wrap="square" lIns="0" tIns="0" rIns="0" bIns="0" anchor="t">
            <a:spAutoFit/>
          </a:bodyPr>
          <a:lstStyle/>
          <a:p>
            <a:pPr algn="l">
              <a:lnSpc>
                <a:spcPct val="100000"/>
              </a:lnSpc>
            </a:pPr>
            <a:r>
              <a:rPr sz="1000" b="0">
                <a:solidFill>
                  <a:srgbClr val="6B7785"/>
                </a:solidFill>
                <a:latin typeface="Segoe UI"/>
              </a:rPr>
              <a:t>Cricket Analytics Platform</a:t>
            </a:r>
          </a:p>
        </p:txBody>
      </p:sp>
      <p:sp>
        <p:nvSpPr>
          <p:cNvPr id="21" name="TextBox 20"/>
          <p:cNvSpPr txBox="1"/>
          <p:nvPr/>
        </p:nvSpPr>
        <p:spPr>
          <a:xfrm>
            <a:off x="10725912" y="6428232"/>
            <a:ext cx="914400" cy="228600"/>
          </a:xfrm>
          <a:prstGeom prst="rect">
            <a:avLst/>
          </a:prstGeom>
          <a:noFill/>
        </p:spPr>
        <p:txBody>
          <a:bodyPr wrap="square" lIns="0" tIns="0" rIns="0" bIns="0" anchor="t">
            <a:spAutoFit/>
          </a:bodyPr>
          <a:lstStyle/>
          <a:p>
            <a:pPr algn="r">
              <a:lnSpc>
                <a:spcPct val="100000"/>
              </a:lnSpc>
            </a:pPr>
            <a:r>
              <a:rPr sz="1000" b="0">
                <a:solidFill>
                  <a:srgbClr val="6B7785"/>
                </a:solidFill>
                <a:latin typeface="Segoe UI"/>
              </a:rPr>
              <a:t>15</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EEF2F6"/>
        </a:solidFill>
        <a:effectLst/>
      </p:bgPr>
    </p:bg>
    <p:spTree>
      <p:nvGrpSpPr>
        <p:cNvPr id="1" name=""/>
        <p:cNvGrpSpPr/>
        <p:nvPr/>
      </p:nvGrpSpPr>
      <p:grpSpPr>
        <a:xfrm>
          <a:off x="0" y="0"/>
          <a:ext cx="0" cy="0"/>
          <a:chOff x="0" y="0"/>
          <a:chExt cx="0" cy="0"/>
        </a:xfrm>
      </p:grpSpPr>
      <p:sp>
        <p:nvSpPr>
          <p:cNvPr id="2" name="TextBox 1"/>
          <p:cNvSpPr txBox="1"/>
          <p:nvPr/>
        </p:nvSpPr>
        <p:spPr>
          <a:xfrm>
            <a:off x="548640" y="146304"/>
            <a:ext cx="10058400" cy="256032"/>
          </a:xfrm>
          <a:prstGeom prst="rect">
            <a:avLst/>
          </a:prstGeom>
          <a:noFill/>
        </p:spPr>
        <p:txBody>
          <a:bodyPr wrap="square" lIns="0" tIns="0" rIns="0" bIns="0" anchor="t">
            <a:spAutoFit/>
          </a:bodyPr>
          <a:lstStyle/>
          <a:p>
            <a:pPr algn="l">
              <a:lnSpc>
                <a:spcPct val="100000"/>
              </a:lnSpc>
            </a:pPr>
            <a:r>
              <a:rPr sz="1000" b="1">
                <a:solidFill>
                  <a:srgbClr val="F2A900"/>
                </a:solidFill>
                <a:latin typeface="Segoe UI"/>
              </a:rPr>
              <a:t>08  ·  DATA-QUALITY HANDLING</a:t>
            </a:r>
            <a:r>
              <a:rPr sz="1000" b="0">
                <a:solidFill>
                  <a:srgbClr val="6B7785"/>
                </a:solidFill>
                <a:latin typeface="Segoe UI"/>
              </a:rPr>
              <a:t>     Brief §6–7</a:t>
            </a:r>
          </a:p>
        </p:txBody>
      </p:sp>
      <p:sp>
        <p:nvSpPr>
          <p:cNvPr id="3" name="TextBox 2"/>
          <p:cNvSpPr txBox="1"/>
          <p:nvPr/>
        </p:nvSpPr>
        <p:spPr>
          <a:xfrm>
            <a:off x="548640" y="411480"/>
            <a:ext cx="11064240" cy="640080"/>
          </a:xfrm>
          <a:prstGeom prst="rect">
            <a:avLst/>
          </a:prstGeom>
          <a:noFill/>
        </p:spPr>
        <p:txBody>
          <a:bodyPr wrap="square" lIns="0" tIns="0" rIns="0" bIns="0" anchor="t">
            <a:spAutoFit/>
          </a:bodyPr>
          <a:lstStyle/>
          <a:p>
            <a:pPr algn="l">
              <a:lnSpc>
                <a:spcPct val="100000"/>
              </a:lnSpc>
            </a:pPr>
            <a:r>
              <a:rPr sz="3200" b="0">
                <a:solidFill>
                  <a:srgbClr val="1F4E79"/>
                </a:solidFill>
                <a:latin typeface="Segoe UI Semibold"/>
              </a:rPr>
              <a:t>Data-quality workflow</a:t>
            </a:r>
          </a:p>
        </p:txBody>
      </p:sp>
      <p:sp>
        <p:nvSpPr>
          <p:cNvPr id="4" name="TextBox 3"/>
          <p:cNvSpPr txBox="1"/>
          <p:nvPr/>
        </p:nvSpPr>
        <p:spPr>
          <a:xfrm>
            <a:off x="548640" y="1024128"/>
            <a:ext cx="11064240" cy="411480"/>
          </a:xfrm>
          <a:prstGeom prst="rect">
            <a:avLst/>
          </a:prstGeom>
          <a:noFill/>
        </p:spPr>
        <p:txBody>
          <a:bodyPr wrap="square" lIns="0" tIns="0" rIns="0" bIns="0" anchor="t">
            <a:spAutoFit/>
          </a:bodyPr>
          <a:lstStyle/>
          <a:p>
            <a:pPr algn="l">
              <a:lnSpc>
                <a:spcPct val="100000"/>
              </a:lnSpc>
            </a:pPr>
            <a:r>
              <a:rPr sz="1500" b="0">
                <a:solidFill>
                  <a:srgbClr val="6B7785"/>
                </a:solidFill>
                <a:latin typeface="Segoe UI"/>
              </a:rPr>
              <a:t>Rules are data: checked in-database, logged to the row, reported to owners</a:t>
            </a:r>
          </a:p>
        </p:txBody>
      </p:sp>
      <p:sp>
        <p:nvSpPr>
          <p:cNvPr id="5" name="Rounded Rectangle 4"/>
          <p:cNvSpPr/>
          <p:nvPr/>
        </p:nvSpPr>
        <p:spPr>
          <a:xfrm>
            <a:off x="548640" y="1691640"/>
            <a:ext cx="2011680" cy="1783080"/>
          </a:xfrm>
          <a:prstGeom prst="roundRect">
            <a:avLst>
              <a:gd name="adj" fmla="val 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Oval 5"/>
          <p:cNvSpPr/>
          <p:nvPr/>
        </p:nvSpPr>
        <p:spPr>
          <a:xfrm>
            <a:off x="704088" y="1847088"/>
            <a:ext cx="384048" cy="384048"/>
          </a:xfrm>
          <a:prstGeom prst="ellipse">
            <a:avLst/>
          </a:prstGeom>
          <a:solidFill>
            <a:srgbClr val="1F4E7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704088" y="1847088"/>
            <a:ext cx="384048" cy="384048"/>
          </a:xfrm>
          <a:prstGeom prst="rect">
            <a:avLst/>
          </a:prstGeom>
          <a:noFill/>
        </p:spPr>
        <p:txBody>
          <a:bodyPr wrap="square" lIns="0" tIns="0" rIns="0" bIns="0" anchor="ctr">
            <a:spAutoFit/>
          </a:bodyPr>
          <a:lstStyle/>
          <a:p>
            <a:pPr algn="ctr">
              <a:lnSpc>
                <a:spcPct val="100000"/>
              </a:lnSpc>
            </a:pPr>
            <a:r>
              <a:rPr sz="1100" b="1">
                <a:solidFill>
                  <a:srgbClr val="FFFFFF"/>
                </a:solidFill>
                <a:latin typeface="Segoe UI"/>
              </a:rPr>
              <a:t>1</a:t>
            </a:r>
          </a:p>
        </p:txBody>
      </p:sp>
      <p:sp>
        <p:nvSpPr>
          <p:cNvPr id="8" name="TextBox 7"/>
          <p:cNvSpPr txBox="1"/>
          <p:nvPr/>
        </p:nvSpPr>
        <p:spPr>
          <a:xfrm>
            <a:off x="1188719" y="1847088"/>
            <a:ext cx="1280160" cy="384048"/>
          </a:xfrm>
          <a:prstGeom prst="rect">
            <a:avLst/>
          </a:prstGeom>
          <a:noFill/>
        </p:spPr>
        <p:txBody>
          <a:bodyPr wrap="square" lIns="0" tIns="0" rIns="0" bIns="0" anchor="ctr">
            <a:spAutoFit/>
          </a:bodyPr>
          <a:lstStyle/>
          <a:p>
            <a:pPr algn="l">
              <a:lnSpc>
                <a:spcPct val="100000"/>
              </a:lnSpc>
            </a:pPr>
            <a:r>
              <a:rPr sz="1400" b="0">
                <a:solidFill>
                  <a:srgbClr val="24323F"/>
                </a:solidFill>
                <a:latin typeface="Segoe UI Semibold"/>
              </a:rPr>
              <a:t>Scope</a:t>
            </a:r>
          </a:p>
        </p:txBody>
      </p:sp>
      <p:sp>
        <p:nvSpPr>
          <p:cNvPr id="9" name="TextBox 8"/>
          <p:cNvSpPr txBox="1"/>
          <p:nvPr/>
        </p:nvSpPr>
        <p:spPr>
          <a:xfrm>
            <a:off x="704088" y="2377440"/>
            <a:ext cx="1737360" cy="914400"/>
          </a:xfrm>
          <a:prstGeom prst="rect">
            <a:avLst/>
          </a:prstGeom>
          <a:noFill/>
        </p:spPr>
        <p:txBody>
          <a:bodyPr wrap="square" lIns="0" tIns="0" rIns="0" bIns="0" anchor="t">
            <a:spAutoFit/>
          </a:bodyPr>
          <a:lstStyle/>
          <a:p>
            <a:pPr algn="l">
              <a:lnSpc>
                <a:spcPct val="100000"/>
              </a:lnSpc>
            </a:pPr>
            <a:r>
              <a:rPr sz="1100" b="0">
                <a:solidFill>
                  <a:srgbClr val="6B7785"/>
                </a:solidFill>
                <a:latin typeface="Segoe UI"/>
              </a:rPr>
              <a:t>Only new or changed
files (content hash)</a:t>
            </a:r>
          </a:p>
        </p:txBody>
      </p:sp>
      <p:cxnSp>
        <p:nvCxnSpPr>
          <p:cNvPr id="10" name="Connector 9"/>
          <p:cNvCxnSpPr/>
          <p:nvPr/>
        </p:nvCxnSpPr>
        <p:spPr>
          <a:xfrm>
            <a:off x="2578608" y="2578608"/>
            <a:ext cx="210312" cy="0"/>
          </a:xfrm>
          <a:prstGeom prst="line">
            <a:avLst/>
          </a:prstGeom>
          <a:ln w="19050">
            <a:solidFill>
              <a:srgbClr val="C3CBD4"/>
            </a:solidFill>
            <a:tailEnd type="triangle" w="med" len="med"/>
          </a:ln>
        </p:spPr>
        <p:style>
          <a:lnRef idx="2">
            <a:schemeClr val="accent1"/>
          </a:lnRef>
          <a:fillRef idx="0">
            <a:schemeClr val="accent1"/>
          </a:fillRef>
          <a:effectRef idx="1">
            <a:schemeClr val="accent1"/>
          </a:effectRef>
          <a:fontRef idx="minor">
            <a:schemeClr val="tx1"/>
          </a:fontRef>
        </p:style>
      </p:cxnSp>
      <p:sp>
        <p:nvSpPr>
          <p:cNvPr id="11" name="Rounded Rectangle 10"/>
          <p:cNvSpPr/>
          <p:nvPr/>
        </p:nvSpPr>
        <p:spPr>
          <a:xfrm>
            <a:off x="2807208" y="1691640"/>
            <a:ext cx="2011680" cy="1783080"/>
          </a:xfrm>
          <a:prstGeom prst="roundRect">
            <a:avLst>
              <a:gd name="adj" fmla="val 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Oval 11"/>
          <p:cNvSpPr/>
          <p:nvPr/>
        </p:nvSpPr>
        <p:spPr>
          <a:xfrm>
            <a:off x="2962656" y="1847088"/>
            <a:ext cx="384048" cy="384048"/>
          </a:xfrm>
          <a:prstGeom prst="ellipse">
            <a:avLst/>
          </a:prstGeom>
          <a:solidFill>
            <a:srgbClr val="1F4E7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2962656" y="1847088"/>
            <a:ext cx="384048" cy="384048"/>
          </a:xfrm>
          <a:prstGeom prst="rect">
            <a:avLst/>
          </a:prstGeom>
          <a:noFill/>
        </p:spPr>
        <p:txBody>
          <a:bodyPr wrap="square" lIns="0" tIns="0" rIns="0" bIns="0" anchor="ctr">
            <a:spAutoFit/>
          </a:bodyPr>
          <a:lstStyle/>
          <a:p>
            <a:pPr algn="ctr">
              <a:lnSpc>
                <a:spcPct val="100000"/>
              </a:lnSpc>
            </a:pPr>
            <a:r>
              <a:rPr sz="1100" b="1">
                <a:solidFill>
                  <a:srgbClr val="FFFFFF"/>
                </a:solidFill>
                <a:latin typeface="Segoe UI"/>
              </a:rPr>
              <a:t>2</a:t>
            </a:r>
          </a:p>
        </p:txBody>
      </p:sp>
      <p:sp>
        <p:nvSpPr>
          <p:cNvPr id="14" name="TextBox 13"/>
          <p:cNvSpPr txBox="1"/>
          <p:nvPr/>
        </p:nvSpPr>
        <p:spPr>
          <a:xfrm>
            <a:off x="3447288" y="1847088"/>
            <a:ext cx="1280160" cy="384048"/>
          </a:xfrm>
          <a:prstGeom prst="rect">
            <a:avLst/>
          </a:prstGeom>
          <a:noFill/>
        </p:spPr>
        <p:txBody>
          <a:bodyPr wrap="square" lIns="0" tIns="0" rIns="0" bIns="0" anchor="ctr">
            <a:spAutoFit/>
          </a:bodyPr>
          <a:lstStyle/>
          <a:p>
            <a:pPr algn="l">
              <a:lnSpc>
                <a:spcPct val="100000"/>
              </a:lnSpc>
            </a:pPr>
            <a:r>
              <a:rPr sz="1400" b="0">
                <a:solidFill>
                  <a:srgbClr val="24323F"/>
                </a:solidFill>
                <a:latin typeface="Segoe UI Semibold"/>
              </a:rPr>
              <a:t>Rule engine</a:t>
            </a:r>
          </a:p>
        </p:txBody>
      </p:sp>
      <p:sp>
        <p:nvSpPr>
          <p:cNvPr id="15" name="TextBox 14"/>
          <p:cNvSpPr txBox="1"/>
          <p:nvPr/>
        </p:nvSpPr>
        <p:spPr>
          <a:xfrm>
            <a:off x="2962656" y="2377440"/>
            <a:ext cx="1737360" cy="914400"/>
          </a:xfrm>
          <a:prstGeom prst="rect">
            <a:avLst/>
          </a:prstGeom>
          <a:noFill/>
        </p:spPr>
        <p:txBody>
          <a:bodyPr wrap="square" lIns="0" tIns="0" rIns="0" bIns="0" anchor="t">
            <a:spAutoFit/>
          </a:bodyPr>
          <a:lstStyle/>
          <a:p>
            <a:pPr algn="l">
              <a:lnSpc>
                <a:spcPct val="100000"/>
              </a:lnSpc>
            </a:pPr>
            <a:r>
              <a:rPr sz="1100" b="0">
                <a:solidFill>
                  <a:srgbClr val="6B7785"/>
                </a:solidFill>
                <a:latin typeface="Segoe UI"/>
              </a:rPr>
              <a:t>43 rules read from
config.DQRule, run as SQL</a:t>
            </a:r>
          </a:p>
        </p:txBody>
      </p:sp>
      <p:cxnSp>
        <p:nvCxnSpPr>
          <p:cNvPr id="16" name="Connector 15"/>
          <p:cNvCxnSpPr/>
          <p:nvPr/>
        </p:nvCxnSpPr>
        <p:spPr>
          <a:xfrm>
            <a:off x="4837176" y="2578608"/>
            <a:ext cx="210312" cy="0"/>
          </a:xfrm>
          <a:prstGeom prst="line">
            <a:avLst/>
          </a:prstGeom>
          <a:ln w="19050">
            <a:solidFill>
              <a:srgbClr val="C3CBD4"/>
            </a:solidFill>
            <a:tailEnd type="triangle" w="med" len="med"/>
          </a:ln>
        </p:spPr>
        <p:style>
          <a:lnRef idx="2">
            <a:schemeClr val="accent1"/>
          </a:lnRef>
          <a:fillRef idx="0">
            <a:schemeClr val="accent1"/>
          </a:fillRef>
          <a:effectRef idx="1">
            <a:schemeClr val="accent1"/>
          </a:effectRef>
          <a:fontRef idx="minor">
            <a:schemeClr val="tx1"/>
          </a:fontRef>
        </p:style>
      </p:cxnSp>
      <p:sp>
        <p:nvSpPr>
          <p:cNvPr id="17" name="Rounded Rectangle 16"/>
          <p:cNvSpPr/>
          <p:nvPr/>
        </p:nvSpPr>
        <p:spPr>
          <a:xfrm>
            <a:off x="5065776" y="1691640"/>
            <a:ext cx="2011680" cy="1783080"/>
          </a:xfrm>
          <a:prstGeom prst="roundRect">
            <a:avLst>
              <a:gd name="adj" fmla="val 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Oval 17"/>
          <p:cNvSpPr/>
          <p:nvPr/>
        </p:nvSpPr>
        <p:spPr>
          <a:xfrm>
            <a:off x="5221224" y="1847088"/>
            <a:ext cx="384048" cy="384048"/>
          </a:xfrm>
          <a:prstGeom prst="ellipse">
            <a:avLst/>
          </a:prstGeom>
          <a:solidFill>
            <a:srgbClr val="F2A9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5221224" y="1847088"/>
            <a:ext cx="384048" cy="384048"/>
          </a:xfrm>
          <a:prstGeom prst="rect">
            <a:avLst/>
          </a:prstGeom>
          <a:noFill/>
        </p:spPr>
        <p:txBody>
          <a:bodyPr wrap="square" lIns="0" tIns="0" rIns="0" bIns="0" anchor="ctr">
            <a:spAutoFit/>
          </a:bodyPr>
          <a:lstStyle/>
          <a:p>
            <a:pPr algn="ctr">
              <a:lnSpc>
                <a:spcPct val="100000"/>
              </a:lnSpc>
            </a:pPr>
            <a:r>
              <a:rPr sz="1100" b="1">
                <a:solidFill>
                  <a:srgbClr val="1F4E79"/>
                </a:solidFill>
                <a:latin typeface="Segoe UI"/>
              </a:rPr>
              <a:t>3</a:t>
            </a:r>
          </a:p>
        </p:txBody>
      </p:sp>
      <p:sp>
        <p:nvSpPr>
          <p:cNvPr id="20" name="TextBox 19"/>
          <p:cNvSpPr txBox="1"/>
          <p:nvPr/>
        </p:nvSpPr>
        <p:spPr>
          <a:xfrm>
            <a:off x="5705856" y="1847088"/>
            <a:ext cx="1280160" cy="384048"/>
          </a:xfrm>
          <a:prstGeom prst="rect">
            <a:avLst/>
          </a:prstGeom>
          <a:noFill/>
        </p:spPr>
        <p:txBody>
          <a:bodyPr wrap="square" lIns="0" tIns="0" rIns="0" bIns="0" anchor="ctr">
            <a:spAutoFit/>
          </a:bodyPr>
          <a:lstStyle/>
          <a:p>
            <a:pPr algn="l">
              <a:lnSpc>
                <a:spcPct val="100000"/>
              </a:lnSpc>
            </a:pPr>
            <a:r>
              <a:rPr sz="1400" b="0">
                <a:solidFill>
                  <a:srgbClr val="24323F"/>
                </a:solidFill>
                <a:latin typeface="Segoe UI Semibold"/>
              </a:rPr>
              <a:t>Outcome</a:t>
            </a:r>
          </a:p>
        </p:txBody>
      </p:sp>
      <p:sp>
        <p:nvSpPr>
          <p:cNvPr id="21" name="Rounded Rectangle 20"/>
          <p:cNvSpPr/>
          <p:nvPr/>
        </p:nvSpPr>
        <p:spPr>
          <a:xfrm>
            <a:off x="5221224" y="2359152"/>
            <a:ext cx="1700784" cy="301752"/>
          </a:xfrm>
          <a:prstGeom prst="roundRect">
            <a:avLst>
              <a:gd name="adj" fmla="val 50000"/>
            </a:avLst>
          </a:prstGeom>
          <a:solidFill>
            <a:srgbClr val="1F4E7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5221224" y="2359152"/>
            <a:ext cx="1700784" cy="301752"/>
          </a:xfrm>
          <a:prstGeom prst="rect">
            <a:avLst/>
          </a:prstGeom>
          <a:noFill/>
        </p:spPr>
        <p:txBody>
          <a:bodyPr wrap="square" lIns="0" tIns="0" rIns="0" bIns="0" anchor="ctr">
            <a:spAutoFit/>
          </a:bodyPr>
          <a:lstStyle/>
          <a:p>
            <a:pPr algn="ctr">
              <a:lnSpc>
                <a:spcPct val="100000"/>
              </a:lnSpc>
            </a:pPr>
            <a:r>
              <a:rPr sz="1000" b="1">
                <a:solidFill>
                  <a:srgbClr val="FFFFFF"/>
                </a:solidFill>
                <a:latin typeface="Segoe UI"/>
              </a:rPr>
              <a:t>Accepted → Silver</a:t>
            </a:r>
          </a:p>
        </p:txBody>
      </p:sp>
      <p:sp>
        <p:nvSpPr>
          <p:cNvPr id="23" name="Rounded Rectangle 22"/>
          <p:cNvSpPr/>
          <p:nvPr/>
        </p:nvSpPr>
        <p:spPr>
          <a:xfrm>
            <a:off x="5221224" y="2715768"/>
            <a:ext cx="1700784" cy="301752"/>
          </a:xfrm>
          <a:prstGeom prst="roundRect">
            <a:avLst>
              <a:gd name="adj" fmla="val 50000"/>
            </a:avLst>
          </a:prstGeom>
          <a:solidFill>
            <a:srgbClr val="F2A9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TextBox 23"/>
          <p:cNvSpPr txBox="1"/>
          <p:nvPr/>
        </p:nvSpPr>
        <p:spPr>
          <a:xfrm>
            <a:off x="5221224" y="2715768"/>
            <a:ext cx="1700784" cy="301752"/>
          </a:xfrm>
          <a:prstGeom prst="rect">
            <a:avLst/>
          </a:prstGeom>
          <a:noFill/>
        </p:spPr>
        <p:txBody>
          <a:bodyPr wrap="square" lIns="0" tIns="0" rIns="0" bIns="0" anchor="ctr">
            <a:spAutoFit/>
          </a:bodyPr>
          <a:lstStyle/>
          <a:p>
            <a:pPr algn="ctr">
              <a:lnSpc>
                <a:spcPct val="100000"/>
              </a:lnSpc>
            </a:pPr>
            <a:r>
              <a:rPr sz="1000" b="1">
                <a:solidFill>
                  <a:srgbClr val="1F4E79"/>
                </a:solidFill>
                <a:latin typeface="Segoe UI"/>
              </a:rPr>
              <a:t>Flagged · loaded</a:t>
            </a:r>
          </a:p>
        </p:txBody>
      </p:sp>
      <p:sp>
        <p:nvSpPr>
          <p:cNvPr id="25" name="Rounded Rectangle 24"/>
          <p:cNvSpPr/>
          <p:nvPr/>
        </p:nvSpPr>
        <p:spPr>
          <a:xfrm>
            <a:off x="5221224" y="3072384"/>
            <a:ext cx="1700784" cy="301752"/>
          </a:xfrm>
          <a:prstGeom prst="roundRect">
            <a:avLst>
              <a:gd name="adj" fmla="val 50000"/>
            </a:avLst>
          </a:prstGeom>
          <a:solidFill>
            <a:srgbClr val="D149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Box 25"/>
          <p:cNvSpPr txBox="1"/>
          <p:nvPr/>
        </p:nvSpPr>
        <p:spPr>
          <a:xfrm>
            <a:off x="5221224" y="3072384"/>
            <a:ext cx="1700784" cy="301752"/>
          </a:xfrm>
          <a:prstGeom prst="rect">
            <a:avLst/>
          </a:prstGeom>
          <a:noFill/>
        </p:spPr>
        <p:txBody>
          <a:bodyPr wrap="square" lIns="0" tIns="0" rIns="0" bIns="0" anchor="ctr">
            <a:spAutoFit/>
          </a:bodyPr>
          <a:lstStyle/>
          <a:p>
            <a:pPr algn="ctr">
              <a:lnSpc>
                <a:spcPct val="100000"/>
              </a:lnSpc>
            </a:pPr>
            <a:r>
              <a:rPr sz="1000" b="1">
                <a:solidFill>
                  <a:srgbClr val="FFFFFF"/>
                </a:solidFill>
                <a:latin typeface="Segoe UI"/>
              </a:rPr>
              <a:t>Rejected · held back</a:t>
            </a:r>
          </a:p>
        </p:txBody>
      </p:sp>
      <p:cxnSp>
        <p:nvCxnSpPr>
          <p:cNvPr id="27" name="Connector 26"/>
          <p:cNvCxnSpPr/>
          <p:nvPr/>
        </p:nvCxnSpPr>
        <p:spPr>
          <a:xfrm>
            <a:off x="7095744" y="2578608"/>
            <a:ext cx="210312" cy="0"/>
          </a:xfrm>
          <a:prstGeom prst="line">
            <a:avLst/>
          </a:prstGeom>
          <a:ln w="19050">
            <a:solidFill>
              <a:srgbClr val="C3CBD4"/>
            </a:solidFill>
            <a:tailEnd type="triangle" w="med" len="med"/>
          </a:ln>
        </p:spPr>
        <p:style>
          <a:lnRef idx="2">
            <a:schemeClr val="accent1"/>
          </a:lnRef>
          <a:fillRef idx="0">
            <a:schemeClr val="accent1"/>
          </a:fillRef>
          <a:effectRef idx="1">
            <a:schemeClr val="accent1"/>
          </a:effectRef>
          <a:fontRef idx="minor">
            <a:schemeClr val="tx1"/>
          </a:fontRef>
        </p:style>
      </p:cxnSp>
      <p:sp>
        <p:nvSpPr>
          <p:cNvPr id="28" name="Rounded Rectangle 27"/>
          <p:cNvSpPr/>
          <p:nvPr/>
        </p:nvSpPr>
        <p:spPr>
          <a:xfrm>
            <a:off x="7324344" y="1691640"/>
            <a:ext cx="2011680" cy="1783080"/>
          </a:xfrm>
          <a:prstGeom prst="roundRect">
            <a:avLst>
              <a:gd name="adj" fmla="val 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Oval 28"/>
          <p:cNvSpPr/>
          <p:nvPr/>
        </p:nvSpPr>
        <p:spPr>
          <a:xfrm>
            <a:off x="7479792" y="1847088"/>
            <a:ext cx="384048" cy="384048"/>
          </a:xfrm>
          <a:prstGeom prst="ellipse">
            <a:avLst/>
          </a:prstGeom>
          <a:solidFill>
            <a:srgbClr val="1F4E7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TextBox 29"/>
          <p:cNvSpPr txBox="1"/>
          <p:nvPr/>
        </p:nvSpPr>
        <p:spPr>
          <a:xfrm>
            <a:off x="7479792" y="1847088"/>
            <a:ext cx="384048" cy="384048"/>
          </a:xfrm>
          <a:prstGeom prst="rect">
            <a:avLst/>
          </a:prstGeom>
          <a:noFill/>
        </p:spPr>
        <p:txBody>
          <a:bodyPr wrap="square" lIns="0" tIns="0" rIns="0" bIns="0" anchor="ctr">
            <a:spAutoFit/>
          </a:bodyPr>
          <a:lstStyle/>
          <a:p>
            <a:pPr algn="ctr">
              <a:lnSpc>
                <a:spcPct val="100000"/>
              </a:lnSpc>
            </a:pPr>
            <a:r>
              <a:rPr sz="1100" b="1">
                <a:solidFill>
                  <a:srgbClr val="FFFFFF"/>
                </a:solidFill>
                <a:latin typeface="Segoe UI"/>
              </a:rPr>
              <a:t>4</a:t>
            </a:r>
          </a:p>
        </p:txBody>
      </p:sp>
      <p:sp>
        <p:nvSpPr>
          <p:cNvPr id="31" name="TextBox 30"/>
          <p:cNvSpPr txBox="1"/>
          <p:nvPr/>
        </p:nvSpPr>
        <p:spPr>
          <a:xfrm>
            <a:off x="7964423" y="1847088"/>
            <a:ext cx="1280160" cy="384048"/>
          </a:xfrm>
          <a:prstGeom prst="rect">
            <a:avLst/>
          </a:prstGeom>
          <a:noFill/>
        </p:spPr>
        <p:txBody>
          <a:bodyPr wrap="square" lIns="0" tIns="0" rIns="0" bIns="0" anchor="ctr">
            <a:spAutoFit/>
          </a:bodyPr>
          <a:lstStyle/>
          <a:p>
            <a:pPr algn="l">
              <a:lnSpc>
                <a:spcPct val="100000"/>
              </a:lnSpc>
            </a:pPr>
            <a:r>
              <a:rPr sz="1400" b="0">
                <a:solidFill>
                  <a:srgbClr val="24323F"/>
                </a:solidFill>
                <a:latin typeface="Segoe UI Semibold"/>
              </a:rPr>
              <a:t>Evidence</a:t>
            </a:r>
          </a:p>
        </p:txBody>
      </p:sp>
      <p:sp>
        <p:nvSpPr>
          <p:cNvPr id="32" name="TextBox 31"/>
          <p:cNvSpPr txBox="1"/>
          <p:nvPr/>
        </p:nvSpPr>
        <p:spPr>
          <a:xfrm>
            <a:off x="7479792" y="2377440"/>
            <a:ext cx="1737360" cy="914400"/>
          </a:xfrm>
          <a:prstGeom prst="rect">
            <a:avLst/>
          </a:prstGeom>
          <a:noFill/>
        </p:spPr>
        <p:txBody>
          <a:bodyPr wrap="square" lIns="0" tIns="0" rIns="0" bIns="0" anchor="t">
            <a:spAutoFit/>
          </a:bodyPr>
          <a:lstStyle/>
          <a:p>
            <a:pPr algn="l">
              <a:lnSpc>
                <a:spcPct val="100000"/>
              </a:lnSpc>
            </a:pPr>
            <a:r>
              <a:rPr sz="1100" b="0">
                <a:solidFill>
                  <a:srgbClr val="6B7785"/>
                </a:solidFill>
                <a:latin typeface="Segoe UI"/>
              </a:rPr>
              <a:t>audit.DQException:
file, row, rule, value</a:t>
            </a:r>
          </a:p>
        </p:txBody>
      </p:sp>
      <p:cxnSp>
        <p:nvCxnSpPr>
          <p:cNvPr id="33" name="Connector 32"/>
          <p:cNvCxnSpPr/>
          <p:nvPr/>
        </p:nvCxnSpPr>
        <p:spPr>
          <a:xfrm>
            <a:off x="9354312" y="2578608"/>
            <a:ext cx="210312" cy="0"/>
          </a:xfrm>
          <a:prstGeom prst="line">
            <a:avLst/>
          </a:prstGeom>
          <a:ln w="19050">
            <a:solidFill>
              <a:srgbClr val="C3CBD4"/>
            </a:solidFill>
            <a:tailEnd type="triangle" w="med" len="med"/>
          </a:ln>
        </p:spPr>
        <p:style>
          <a:lnRef idx="2">
            <a:schemeClr val="accent1"/>
          </a:lnRef>
          <a:fillRef idx="0">
            <a:schemeClr val="accent1"/>
          </a:fillRef>
          <a:effectRef idx="1">
            <a:schemeClr val="accent1"/>
          </a:effectRef>
          <a:fontRef idx="minor">
            <a:schemeClr val="tx1"/>
          </a:fontRef>
        </p:style>
      </p:cxnSp>
      <p:sp>
        <p:nvSpPr>
          <p:cNvPr id="34" name="Rounded Rectangle 33"/>
          <p:cNvSpPr/>
          <p:nvPr/>
        </p:nvSpPr>
        <p:spPr>
          <a:xfrm>
            <a:off x="9582912" y="1691640"/>
            <a:ext cx="2011680" cy="1783080"/>
          </a:xfrm>
          <a:prstGeom prst="roundRect">
            <a:avLst>
              <a:gd name="adj" fmla="val 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 name="Oval 34"/>
          <p:cNvSpPr/>
          <p:nvPr/>
        </p:nvSpPr>
        <p:spPr>
          <a:xfrm>
            <a:off x="9738360" y="1847088"/>
            <a:ext cx="384048" cy="384048"/>
          </a:xfrm>
          <a:prstGeom prst="ellipse">
            <a:avLst/>
          </a:prstGeom>
          <a:solidFill>
            <a:srgbClr val="1F4E7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6" name="TextBox 35"/>
          <p:cNvSpPr txBox="1"/>
          <p:nvPr/>
        </p:nvSpPr>
        <p:spPr>
          <a:xfrm>
            <a:off x="9738360" y="1847088"/>
            <a:ext cx="384048" cy="384048"/>
          </a:xfrm>
          <a:prstGeom prst="rect">
            <a:avLst/>
          </a:prstGeom>
          <a:noFill/>
        </p:spPr>
        <p:txBody>
          <a:bodyPr wrap="square" lIns="0" tIns="0" rIns="0" bIns="0" anchor="ctr">
            <a:spAutoFit/>
          </a:bodyPr>
          <a:lstStyle/>
          <a:p>
            <a:pPr algn="ctr">
              <a:lnSpc>
                <a:spcPct val="100000"/>
              </a:lnSpc>
            </a:pPr>
            <a:r>
              <a:rPr sz="1100" b="1">
                <a:solidFill>
                  <a:srgbClr val="FFFFFF"/>
                </a:solidFill>
                <a:latin typeface="Segoe UI"/>
              </a:rPr>
              <a:t>5</a:t>
            </a:r>
          </a:p>
        </p:txBody>
      </p:sp>
      <p:sp>
        <p:nvSpPr>
          <p:cNvPr id="37" name="TextBox 36"/>
          <p:cNvSpPr txBox="1"/>
          <p:nvPr/>
        </p:nvSpPr>
        <p:spPr>
          <a:xfrm>
            <a:off x="10222992" y="1847088"/>
            <a:ext cx="1280160" cy="384048"/>
          </a:xfrm>
          <a:prstGeom prst="rect">
            <a:avLst/>
          </a:prstGeom>
          <a:noFill/>
        </p:spPr>
        <p:txBody>
          <a:bodyPr wrap="square" lIns="0" tIns="0" rIns="0" bIns="0" anchor="ctr">
            <a:spAutoFit/>
          </a:bodyPr>
          <a:lstStyle/>
          <a:p>
            <a:pPr algn="l">
              <a:lnSpc>
                <a:spcPct val="100000"/>
              </a:lnSpc>
            </a:pPr>
            <a:r>
              <a:rPr sz="1400" b="0">
                <a:solidFill>
                  <a:srgbClr val="24323F"/>
                </a:solidFill>
                <a:latin typeface="Segoe UI Semibold"/>
              </a:rPr>
              <a:t>Feedback</a:t>
            </a:r>
          </a:p>
        </p:txBody>
      </p:sp>
      <p:sp>
        <p:nvSpPr>
          <p:cNvPr id="38" name="TextBox 37"/>
          <p:cNvSpPr txBox="1"/>
          <p:nvPr/>
        </p:nvSpPr>
        <p:spPr>
          <a:xfrm>
            <a:off x="9738360" y="2377440"/>
            <a:ext cx="1737360" cy="914400"/>
          </a:xfrm>
          <a:prstGeom prst="rect">
            <a:avLst/>
          </a:prstGeom>
          <a:noFill/>
        </p:spPr>
        <p:txBody>
          <a:bodyPr wrap="square" lIns="0" tIns="0" rIns="0" bIns="0" anchor="t">
            <a:spAutoFit/>
          </a:bodyPr>
          <a:lstStyle/>
          <a:p>
            <a:pPr algn="l">
              <a:lnSpc>
                <a:spcPct val="100000"/>
              </a:lnSpc>
            </a:pPr>
            <a:r>
              <a:rPr sz="1100" b="0">
                <a:solidFill>
                  <a:srgbClr val="6B7785"/>
                </a:solidFill>
                <a:latin typeface="Segoe UI"/>
              </a:rPr>
              <a:t>Score per run; report
per data owner (04b)</a:t>
            </a:r>
          </a:p>
        </p:txBody>
      </p:sp>
      <p:sp>
        <p:nvSpPr>
          <p:cNvPr id="39" name="Rounded Rectangle 38"/>
          <p:cNvSpPr/>
          <p:nvPr/>
        </p:nvSpPr>
        <p:spPr>
          <a:xfrm>
            <a:off x="548640" y="3703320"/>
            <a:ext cx="5440680" cy="2468880"/>
          </a:xfrm>
          <a:prstGeom prst="roundRect">
            <a:avLst>
              <a:gd name="adj" fmla="val 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0" name="TextBox 39"/>
          <p:cNvSpPr txBox="1"/>
          <p:nvPr/>
        </p:nvSpPr>
        <p:spPr>
          <a:xfrm>
            <a:off x="777240" y="3794760"/>
            <a:ext cx="5029200" cy="320040"/>
          </a:xfrm>
          <a:prstGeom prst="rect">
            <a:avLst/>
          </a:prstGeom>
          <a:noFill/>
        </p:spPr>
        <p:txBody>
          <a:bodyPr wrap="square" lIns="0" tIns="0" rIns="0" bIns="0" anchor="t">
            <a:spAutoFit/>
          </a:bodyPr>
          <a:lstStyle/>
          <a:p>
            <a:pPr algn="l">
              <a:lnSpc>
                <a:spcPct val="100000"/>
              </a:lnSpc>
            </a:pPr>
            <a:r>
              <a:rPr sz="1300" b="0">
                <a:solidFill>
                  <a:srgbClr val="24323F"/>
                </a:solidFill>
                <a:latin typeface="Segoe UI Semibold"/>
              </a:rPr>
              <a:t>Rules by data-quality dimension</a:t>
            </a:r>
          </a:p>
        </p:txBody>
      </p:sp>
      <p:graphicFrame>
        <p:nvGraphicFramePr>
          <p:cNvPr id="41" name="Chart 40"/>
          <p:cNvGraphicFramePr>
            <a:graphicFrameLocks noGrp="1"/>
          </p:cNvGraphicFramePr>
          <p:nvPr/>
        </p:nvGraphicFramePr>
        <p:xfrm>
          <a:off x="685800" y="4114800"/>
          <a:ext cx="5166360" cy="2011680"/>
        </p:xfrm>
        <a:graphic>
          <a:graphicData uri="http://schemas.openxmlformats.org/drawingml/2006/chart">
            <c:chart xmlns:c="http://schemas.openxmlformats.org/drawingml/2006/chart" xmlns:r="http://schemas.openxmlformats.org/officeDocument/2006/relationships" r:id="rId3"/>
          </a:graphicData>
        </a:graphic>
      </p:graphicFrame>
      <p:sp>
        <p:nvSpPr>
          <p:cNvPr id="42" name="Rounded Rectangle 41"/>
          <p:cNvSpPr/>
          <p:nvPr/>
        </p:nvSpPr>
        <p:spPr>
          <a:xfrm>
            <a:off x="6217920" y="3703320"/>
            <a:ext cx="5394960" cy="2468880"/>
          </a:xfrm>
          <a:prstGeom prst="roundRect">
            <a:avLst>
              <a:gd name="adj" fmla="val 4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43" name="Picture 42" descr="alteryx_04_dq_validation.png"/>
          <p:cNvPicPr>
            <a:picLocks noChangeAspect="1"/>
          </p:cNvPicPr>
          <p:nvPr/>
        </p:nvPicPr>
        <p:blipFill>
          <a:blip r:embed="rId4"/>
          <a:stretch>
            <a:fillRect/>
          </a:stretch>
        </p:blipFill>
        <p:spPr>
          <a:xfrm>
            <a:off x="6291072" y="4106927"/>
            <a:ext cx="5248656" cy="1661665"/>
          </a:xfrm>
          <a:prstGeom prst="rect">
            <a:avLst/>
          </a:prstGeom>
        </p:spPr>
      </p:pic>
      <p:sp>
        <p:nvSpPr>
          <p:cNvPr id="44" name="TextBox 43"/>
          <p:cNvSpPr txBox="1"/>
          <p:nvPr/>
        </p:nvSpPr>
        <p:spPr>
          <a:xfrm>
            <a:off x="548640" y="6428232"/>
            <a:ext cx="5486400" cy="228600"/>
          </a:xfrm>
          <a:prstGeom prst="rect">
            <a:avLst/>
          </a:prstGeom>
          <a:noFill/>
        </p:spPr>
        <p:txBody>
          <a:bodyPr wrap="square" lIns="0" tIns="0" rIns="0" bIns="0" anchor="t">
            <a:spAutoFit/>
          </a:bodyPr>
          <a:lstStyle/>
          <a:p>
            <a:pPr algn="l">
              <a:lnSpc>
                <a:spcPct val="100000"/>
              </a:lnSpc>
            </a:pPr>
            <a:r>
              <a:rPr sz="1000" b="0">
                <a:solidFill>
                  <a:srgbClr val="6B7785"/>
                </a:solidFill>
                <a:latin typeface="Segoe UI"/>
              </a:rPr>
              <a:t>Cricket Analytics Platform</a:t>
            </a:r>
          </a:p>
        </p:txBody>
      </p:sp>
      <p:sp>
        <p:nvSpPr>
          <p:cNvPr id="45" name="TextBox 44"/>
          <p:cNvSpPr txBox="1"/>
          <p:nvPr/>
        </p:nvSpPr>
        <p:spPr>
          <a:xfrm>
            <a:off x="10725912" y="6428232"/>
            <a:ext cx="914400" cy="228600"/>
          </a:xfrm>
          <a:prstGeom prst="rect">
            <a:avLst/>
          </a:prstGeom>
          <a:noFill/>
        </p:spPr>
        <p:txBody>
          <a:bodyPr wrap="square" lIns="0" tIns="0" rIns="0" bIns="0" anchor="t">
            <a:spAutoFit/>
          </a:bodyPr>
          <a:lstStyle/>
          <a:p>
            <a:pPr algn="r">
              <a:lnSpc>
                <a:spcPct val="100000"/>
              </a:lnSpc>
            </a:pPr>
            <a:r>
              <a:rPr sz="1000" b="0">
                <a:solidFill>
                  <a:srgbClr val="6B7785"/>
                </a:solidFill>
                <a:latin typeface="Segoe UI"/>
              </a:rPr>
              <a:t>16</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rgbClr val="EEF2F6"/>
        </a:solidFill>
        <a:effectLst/>
      </p:bgPr>
    </p:bg>
    <p:spTree>
      <p:nvGrpSpPr>
        <p:cNvPr id="1" name=""/>
        <p:cNvGrpSpPr/>
        <p:nvPr/>
      </p:nvGrpSpPr>
      <p:grpSpPr>
        <a:xfrm>
          <a:off x="0" y="0"/>
          <a:ext cx="0" cy="0"/>
          <a:chOff x="0" y="0"/>
          <a:chExt cx="0" cy="0"/>
        </a:xfrm>
      </p:grpSpPr>
      <p:sp>
        <p:nvSpPr>
          <p:cNvPr id="2" name="TextBox 1"/>
          <p:cNvSpPr txBox="1"/>
          <p:nvPr/>
        </p:nvSpPr>
        <p:spPr>
          <a:xfrm>
            <a:off x="548640" y="146304"/>
            <a:ext cx="10058400" cy="256032"/>
          </a:xfrm>
          <a:prstGeom prst="rect">
            <a:avLst/>
          </a:prstGeom>
          <a:noFill/>
        </p:spPr>
        <p:txBody>
          <a:bodyPr wrap="square" lIns="0" tIns="0" rIns="0" bIns="0" anchor="t">
            <a:spAutoFit/>
          </a:bodyPr>
          <a:lstStyle/>
          <a:p>
            <a:pPr algn="l">
              <a:lnSpc>
                <a:spcPct val="100000"/>
              </a:lnSpc>
            </a:pPr>
            <a:r>
              <a:rPr sz="1000" b="1">
                <a:solidFill>
                  <a:srgbClr val="F2A900"/>
                </a:solidFill>
                <a:latin typeface="Segoe UI"/>
              </a:rPr>
              <a:t>08  ·  DATA-QUALITY HANDLING</a:t>
            </a:r>
            <a:r>
              <a:rPr sz="1000" b="0">
                <a:solidFill>
                  <a:srgbClr val="6B7785"/>
                </a:solidFill>
                <a:latin typeface="Segoe UI"/>
              </a:rPr>
              <a:t>     Brief §6–7</a:t>
            </a:r>
          </a:p>
        </p:txBody>
      </p:sp>
      <p:sp>
        <p:nvSpPr>
          <p:cNvPr id="3" name="TextBox 2"/>
          <p:cNvSpPr txBox="1"/>
          <p:nvPr/>
        </p:nvSpPr>
        <p:spPr>
          <a:xfrm>
            <a:off x="548640" y="411480"/>
            <a:ext cx="11064240" cy="640080"/>
          </a:xfrm>
          <a:prstGeom prst="rect">
            <a:avLst/>
          </a:prstGeom>
          <a:noFill/>
        </p:spPr>
        <p:txBody>
          <a:bodyPr wrap="square" lIns="0" tIns="0" rIns="0" bIns="0" anchor="t">
            <a:spAutoFit/>
          </a:bodyPr>
          <a:lstStyle/>
          <a:p>
            <a:pPr algn="l">
              <a:lnSpc>
                <a:spcPct val="100000"/>
              </a:lnSpc>
            </a:pPr>
            <a:r>
              <a:rPr sz="3200" b="0">
                <a:solidFill>
                  <a:srgbClr val="1F4E79"/>
                </a:solidFill>
                <a:latin typeface="Segoe UI Semibold"/>
              </a:rPr>
              <a:t>Data you can trust</a:t>
            </a:r>
          </a:p>
        </p:txBody>
      </p:sp>
      <p:sp>
        <p:nvSpPr>
          <p:cNvPr id="4" name="TextBox 3"/>
          <p:cNvSpPr txBox="1"/>
          <p:nvPr/>
        </p:nvSpPr>
        <p:spPr>
          <a:xfrm>
            <a:off x="548640" y="1024128"/>
            <a:ext cx="11064240" cy="411480"/>
          </a:xfrm>
          <a:prstGeom prst="rect">
            <a:avLst/>
          </a:prstGeom>
          <a:noFill/>
        </p:spPr>
        <p:txBody>
          <a:bodyPr wrap="square" lIns="0" tIns="0" rIns="0" bIns="0" anchor="t">
            <a:spAutoFit/>
          </a:bodyPr>
          <a:lstStyle/>
          <a:p>
            <a:pPr algn="l">
              <a:lnSpc>
                <a:spcPct val="100000"/>
              </a:lnSpc>
            </a:pPr>
            <a:r>
              <a:rPr sz="1500" b="0">
                <a:solidFill>
                  <a:srgbClr val="6B7785"/>
                </a:solidFill>
                <a:latin typeface="Segoe UI"/>
              </a:rPr>
              <a:t>Every row is checked before it reaches a dashboard</a:t>
            </a:r>
          </a:p>
        </p:txBody>
      </p:sp>
      <p:sp>
        <p:nvSpPr>
          <p:cNvPr id="5" name="Rounded Rectangle 4"/>
          <p:cNvSpPr/>
          <p:nvPr/>
        </p:nvSpPr>
        <p:spPr>
          <a:xfrm>
            <a:off x="548640" y="1691640"/>
            <a:ext cx="5394960" cy="4434840"/>
          </a:xfrm>
          <a:prstGeom prst="roundRect">
            <a:avLst>
              <a:gd name="adj" fmla="val 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graphicFrame>
        <p:nvGraphicFramePr>
          <p:cNvPr id="6" name="Chart 5"/>
          <p:cNvGraphicFramePr>
            <a:graphicFrameLocks noGrp="1"/>
          </p:cNvGraphicFramePr>
          <p:nvPr/>
        </p:nvGraphicFramePr>
        <p:xfrm>
          <a:off x="868680" y="1874519"/>
          <a:ext cx="4754880" cy="3749039"/>
        </p:xfrm>
        <a:graphic>
          <a:graphicData uri="http://schemas.openxmlformats.org/drawingml/2006/chart">
            <c:chart xmlns:c="http://schemas.openxmlformats.org/drawingml/2006/chart" xmlns:r="http://schemas.openxmlformats.org/officeDocument/2006/relationships" r:id="rId3"/>
          </a:graphicData>
        </a:graphic>
      </p:graphicFrame>
      <p:sp>
        <p:nvSpPr>
          <p:cNvPr id="7" name="TextBox 6"/>
          <p:cNvSpPr txBox="1"/>
          <p:nvPr/>
        </p:nvSpPr>
        <p:spPr>
          <a:xfrm>
            <a:off x="1874519" y="3291840"/>
            <a:ext cx="2743200" cy="640080"/>
          </a:xfrm>
          <a:prstGeom prst="rect">
            <a:avLst/>
          </a:prstGeom>
          <a:noFill/>
        </p:spPr>
        <p:txBody>
          <a:bodyPr wrap="square" lIns="0" tIns="0" rIns="0" bIns="0" anchor="t">
            <a:spAutoFit/>
          </a:bodyPr>
          <a:lstStyle/>
          <a:p>
            <a:pPr algn="ctr">
              <a:lnSpc>
                <a:spcPct val="100000"/>
              </a:lnSpc>
            </a:pPr>
            <a:r>
              <a:rPr sz="3600" b="0">
                <a:solidFill>
                  <a:srgbClr val="1F4E79"/>
                </a:solidFill>
                <a:latin typeface="Segoe UI Semibold"/>
              </a:rPr>
              <a:t>96.6%</a:t>
            </a:r>
          </a:p>
        </p:txBody>
      </p:sp>
      <p:sp>
        <p:nvSpPr>
          <p:cNvPr id="8" name="TextBox 7"/>
          <p:cNvSpPr txBox="1"/>
          <p:nvPr/>
        </p:nvSpPr>
        <p:spPr>
          <a:xfrm>
            <a:off x="1874519" y="3931920"/>
            <a:ext cx="2743200" cy="365760"/>
          </a:xfrm>
          <a:prstGeom prst="rect">
            <a:avLst/>
          </a:prstGeom>
          <a:noFill/>
        </p:spPr>
        <p:txBody>
          <a:bodyPr wrap="square" lIns="0" tIns="0" rIns="0" bIns="0" anchor="t">
            <a:spAutoFit/>
          </a:bodyPr>
          <a:lstStyle/>
          <a:p>
            <a:pPr algn="ctr">
              <a:lnSpc>
                <a:spcPct val="100000"/>
              </a:lnSpc>
            </a:pPr>
            <a:r>
              <a:rPr sz="1300" b="0">
                <a:solidFill>
                  <a:srgbClr val="6B7785"/>
                </a:solidFill>
                <a:latin typeface="Segoe UI"/>
              </a:rPr>
              <a:t>of rows loaded</a:t>
            </a:r>
          </a:p>
        </p:txBody>
      </p:sp>
      <p:sp>
        <p:nvSpPr>
          <p:cNvPr id="9" name="Oval 8"/>
          <p:cNvSpPr/>
          <p:nvPr/>
        </p:nvSpPr>
        <p:spPr>
          <a:xfrm>
            <a:off x="868680" y="5669280"/>
            <a:ext cx="146304" cy="146304"/>
          </a:xfrm>
          <a:prstGeom prst="ellipse">
            <a:avLst/>
          </a:prstGeom>
          <a:solidFill>
            <a:srgbClr val="1F4E7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1069848" y="5605272"/>
            <a:ext cx="1554480" cy="365760"/>
          </a:xfrm>
          <a:prstGeom prst="rect">
            <a:avLst/>
          </a:prstGeom>
          <a:noFill/>
        </p:spPr>
        <p:txBody>
          <a:bodyPr wrap="square" lIns="0" tIns="0" rIns="0" bIns="0" anchor="t">
            <a:spAutoFit/>
          </a:bodyPr>
          <a:lstStyle/>
          <a:p>
            <a:pPr algn="l">
              <a:lnSpc>
                <a:spcPct val="100000"/>
              </a:lnSpc>
            </a:pPr>
            <a:r>
              <a:rPr sz="1000" b="0">
                <a:solidFill>
                  <a:srgbClr val="6B7785"/>
                </a:solidFill>
                <a:latin typeface="Segoe UI"/>
              </a:rPr>
              <a:t>Accepted  29,686</a:t>
            </a:r>
          </a:p>
        </p:txBody>
      </p:sp>
      <p:sp>
        <p:nvSpPr>
          <p:cNvPr id="11" name="Oval 10"/>
          <p:cNvSpPr/>
          <p:nvPr/>
        </p:nvSpPr>
        <p:spPr>
          <a:xfrm>
            <a:off x="2560320" y="5669280"/>
            <a:ext cx="146304" cy="146304"/>
          </a:xfrm>
          <a:prstGeom prst="ellipse">
            <a:avLst/>
          </a:prstGeom>
          <a:solidFill>
            <a:srgbClr val="F2A9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2761488" y="5605272"/>
            <a:ext cx="1554480" cy="365760"/>
          </a:xfrm>
          <a:prstGeom prst="rect">
            <a:avLst/>
          </a:prstGeom>
          <a:noFill/>
        </p:spPr>
        <p:txBody>
          <a:bodyPr wrap="square" lIns="0" tIns="0" rIns="0" bIns="0" anchor="t">
            <a:spAutoFit/>
          </a:bodyPr>
          <a:lstStyle/>
          <a:p>
            <a:pPr algn="l">
              <a:lnSpc>
                <a:spcPct val="100000"/>
              </a:lnSpc>
            </a:pPr>
            <a:r>
              <a:rPr sz="1000" b="0">
                <a:solidFill>
                  <a:srgbClr val="6B7785"/>
                </a:solidFill>
                <a:latin typeface="Segoe UI"/>
              </a:rPr>
              <a:t>Warning  38</a:t>
            </a:r>
          </a:p>
        </p:txBody>
      </p:sp>
      <p:sp>
        <p:nvSpPr>
          <p:cNvPr id="13" name="Oval 12"/>
          <p:cNvSpPr/>
          <p:nvPr/>
        </p:nvSpPr>
        <p:spPr>
          <a:xfrm>
            <a:off x="4251960" y="5669280"/>
            <a:ext cx="146304" cy="146304"/>
          </a:xfrm>
          <a:prstGeom prst="ellipse">
            <a:avLst/>
          </a:prstGeom>
          <a:solidFill>
            <a:srgbClr val="D149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4453128" y="5605272"/>
            <a:ext cx="1554480" cy="365760"/>
          </a:xfrm>
          <a:prstGeom prst="rect">
            <a:avLst/>
          </a:prstGeom>
          <a:noFill/>
        </p:spPr>
        <p:txBody>
          <a:bodyPr wrap="square" lIns="0" tIns="0" rIns="0" bIns="0" anchor="t">
            <a:spAutoFit/>
          </a:bodyPr>
          <a:lstStyle/>
          <a:p>
            <a:pPr algn="l">
              <a:lnSpc>
                <a:spcPct val="100000"/>
              </a:lnSpc>
            </a:pPr>
            <a:r>
              <a:rPr sz="1000" b="0">
                <a:solidFill>
                  <a:srgbClr val="6B7785"/>
                </a:solidFill>
                <a:latin typeface="Segoe UI"/>
              </a:rPr>
              <a:t>Held / rejected  1,034</a:t>
            </a:r>
          </a:p>
        </p:txBody>
      </p:sp>
      <p:sp>
        <p:nvSpPr>
          <p:cNvPr id="15" name="Rounded Rectangle 14"/>
          <p:cNvSpPr/>
          <p:nvPr/>
        </p:nvSpPr>
        <p:spPr>
          <a:xfrm>
            <a:off x="6263640" y="1691640"/>
            <a:ext cx="5349240" cy="1325880"/>
          </a:xfrm>
          <a:prstGeom prst="roundRect">
            <a:avLst>
              <a:gd name="adj" fmla="val 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6537960" y="1828800"/>
            <a:ext cx="1737360" cy="1051560"/>
          </a:xfrm>
          <a:prstGeom prst="rect">
            <a:avLst/>
          </a:prstGeom>
          <a:noFill/>
        </p:spPr>
        <p:txBody>
          <a:bodyPr wrap="square" lIns="0" tIns="0" rIns="0" bIns="0" anchor="ctr">
            <a:spAutoFit/>
          </a:bodyPr>
          <a:lstStyle/>
          <a:p>
            <a:pPr algn="l">
              <a:lnSpc>
                <a:spcPct val="100000"/>
              </a:lnSpc>
            </a:pPr>
            <a:r>
              <a:rPr sz="4800" b="0">
                <a:solidFill>
                  <a:srgbClr val="1F4E79"/>
                </a:solidFill>
                <a:latin typeface="Segoe UI Semibold"/>
              </a:rPr>
              <a:t>43</a:t>
            </a:r>
          </a:p>
        </p:txBody>
      </p:sp>
      <p:sp>
        <p:nvSpPr>
          <p:cNvPr id="17" name="TextBox 16"/>
          <p:cNvSpPr txBox="1"/>
          <p:nvPr/>
        </p:nvSpPr>
        <p:spPr>
          <a:xfrm>
            <a:off x="8321040" y="1920240"/>
            <a:ext cx="3108960" cy="411480"/>
          </a:xfrm>
          <a:prstGeom prst="rect">
            <a:avLst/>
          </a:prstGeom>
          <a:noFill/>
        </p:spPr>
        <p:txBody>
          <a:bodyPr wrap="square" lIns="0" tIns="0" rIns="0" bIns="0" anchor="t">
            <a:spAutoFit/>
          </a:bodyPr>
          <a:lstStyle/>
          <a:p>
            <a:pPr algn="l">
              <a:lnSpc>
                <a:spcPct val="100000"/>
              </a:lnSpc>
            </a:pPr>
            <a:r>
              <a:rPr sz="1800" b="0">
                <a:solidFill>
                  <a:srgbClr val="24323F"/>
                </a:solidFill>
                <a:latin typeface="Segoe UI Semibold"/>
              </a:rPr>
              <a:t>quality rules</a:t>
            </a:r>
          </a:p>
        </p:txBody>
      </p:sp>
      <p:sp>
        <p:nvSpPr>
          <p:cNvPr id="18" name="TextBox 17"/>
          <p:cNvSpPr txBox="1"/>
          <p:nvPr/>
        </p:nvSpPr>
        <p:spPr>
          <a:xfrm>
            <a:off x="8321040" y="2331720"/>
            <a:ext cx="3108960" cy="640080"/>
          </a:xfrm>
          <a:prstGeom prst="rect">
            <a:avLst/>
          </a:prstGeom>
          <a:noFill/>
        </p:spPr>
        <p:txBody>
          <a:bodyPr wrap="square" lIns="0" tIns="0" rIns="0" bIns="0" anchor="t">
            <a:spAutoFit/>
          </a:bodyPr>
          <a:lstStyle/>
          <a:p>
            <a:pPr algn="l">
              <a:lnSpc>
                <a:spcPct val="100000"/>
              </a:lnSpc>
            </a:pPr>
            <a:r>
              <a:rPr sz="1200" b="0">
                <a:solidFill>
                  <a:srgbClr val="6B7785"/>
                </a:solidFill>
                <a:latin typeface="Segoe UI"/>
              </a:rPr>
              <a:t>missing, duplicate, invalid,
unknown codes, broken files</a:t>
            </a:r>
          </a:p>
        </p:txBody>
      </p:sp>
      <p:sp>
        <p:nvSpPr>
          <p:cNvPr id="19" name="Rounded Rectangle 18"/>
          <p:cNvSpPr/>
          <p:nvPr/>
        </p:nvSpPr>
        <p:spPr>
          <a:xfrm>
            <a:off x="6263640" y="3200400"/>
            <a:ext cx="5349240" cy="1325880"/>
          </a:xfrm>
          <a:prstGeom prst="roundRect">
            <a:avLst>
              <a:gd name="adj" fmla="val 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6537960" y="3337560"/>
            <a:ext cx="1737360" cy="1051560"/>
          </a:xfrm>
          <a:prstGeom prst="rect">
            <a:avLst/>
          </a:prstGeom>
          <a:noFill/>
        </p:spPr>
        <p:txBody>
          <a:bodyPr wrap="square" lIns="0" tIns="0" rIns="0" bIns="0" anchor="ctr">
            <a:spAutoFit/>
          </a:bodyPr>
          <a:lstStyle/>
          <a:p>
            <a:pPr algn="l">
              <a:lnSpc>
                <a:spcPct val="100000"/>
              </a:lnSpc>
            </a:pPr>
            <a:r>
              <a:rPr sz="4800" b="0">
                <a:solidFill>
                  <a:srgbClr val="F2A900"/>
                </a:solidFill>
                <a:latin typeface="Segoe UI Semibold"/>
              </a:rPr>
              <a:t>0</a:t>
            </a:r>
          </a:p>
        </p:txBody>
      </p:sp>
      <p:sp>
        <p:nvSpPr>
          <p:cNvPr id="21" name="TextBox 20"/>
          <p:cNvSpPr txBox="1"/>
          <p:nvPr/>
        </p:nvSpPr>
        <p:spPr>
          <a:xfrm>
            <a:off x="8321040" y="3429000"/>
            <a:ext cx="3108960" cy="411480"/>
          </a:xfrm>
          <a:prstGeom prst="rect">
            <a:avLst/>
          </a:prstGeom>
          <a:noFill/>
        </p:spPr>
        <p:txBody>
          <a:bodyPr wrap="square" lIns="0" tIns="0" rIns="0" bIns="0" anchor="t">
            <a:spAutoFit/>
          </a:bodyPr>
          <a:lstStyle/>
          <a:p>
            <a:pPr algn="l">
              <a:lnSpc>
                <a:spcPct val="100000"/>
              </a:lnSpc>
            </a:pPr>
            <a:r>
              <a:rPr sz="1800" b="0">
                <a:solidFill>
                  <a:srgbClr val="24323F"/>
                </a:solidFill>
                <a:latin typeface="Segoe UI Semibold"/>
              </a:rPr>
              <a:t>rows lost silently</a:t>
            </a:r>
          </a:p>
        </p:txBody>
      </p:sp>
      <p:sp>
        <p:nvSpPr>
          <p:cNvPr id="22" name="TextBox 21"/>
          <p:cNvSpPr txBox="1"/>
          <p:nvPr/>
        </p:nvSpPr>
        <p:spPr>
          <a:xfrm>
            <a:off x="8321040" y="3840480"/>
            <a:ext cx="3108960" cy="640080"/>
          </a:xfrm>
          <a:prstGeom prst="rect">
            <a:avLst/>
          </a:prstGeom>
          <a:noFill/>
        </p:spPr>
        <p:txBody>
          <a:bodyPr wrap="square" lIns="0" tIns="0" rIns="0" bIns="0" anchor="t">
            <a:spAutoFit/>
          </a:bodyPr>
          <a:lstStyle/>
          <a:p>
            <a:pPr algn="l">
              <a:lnSpc>
                <a:spcPct val="100000"/>
              </a:lnSpc>
            </a:pPr>
            <a:r>
              <a:rPr sz="1200" b="0">
                <a:solidFill>
                  <a:srgbClr val="6B7785"/>
                </a:solidFill>
                <a:latin typeface="Segoe UI"/>
              </a:rPr>
              <a:t>each rejected row keeps its
reason, rule and owner</a:t>
            </a:r>
          </a:p>
        </p:txBody>
      </p:sp>
      <p:sp>
        <p:nvSpPr>
          <p:cNvPr id="23" name="Rounded Rectangle 22"/>
          <p:cNvSpPr/>
          <p:nvPr/>
        </p:nvSpPr>
        <p:spPr>
          <a:xfrm>
            <a:off x="6263640" y="4709160"/>
            <a:ext cx="5349240" cy="1325880"/>
          </a:xfrm>
          <a:prstGeom prst="roundRect">
            <a:avLst>
              <a:gd name="adj" fmla="val 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TextBox 23"/>
          <p:cNvSpPr txBox="1"/>
          <p:nvPr/>
        </p:nvSpPr>
        <p:spPr>
          <a:xfrm>
            <a:off x="6537960" y="4846320"/>
            <a:ext cx="1737360" cy="1051560"/>
          </a:xfrm>
          <a:prstGeom prst="rect">
            <a:avLst/>
          </a:prstGeom>
          <a:noFill/>
        </p:spPr>
        <p:txBody>
          <a:bodyPr wrap="square" lIns="0" tIns="0" rIns="0" bIns="0" anchor="ctr">
            <a:spAutoFit/>
          </a:bodyPr>
          <a:lstStyle/>
          <a:p>
            <a:pPr algn="l">
              <a:lnSpc>
                <a:spcPct val="100000"/>
              </a:lnSpc>
            </a:pPr>
            <a:r>
              <a:rPr sz="4800" b="0">
                <a:solidFill>
                  <a:srgbClr val="1F4E79"/>
                </a:solidFill>
                <a:latin typeface="Segoe UI Semibold"/>
              </a:rPr>
              <a:t>129</a:t>
            </a:r>
          </a:p>
        </p:txBody>
      </p:sp>
      <p:sp>
        <p:nvSpPr>
          <p:cNvPr id="25" name="TextBox 24"/>
          <p:cNvSpPr txBox="1"/>
          <p:nvPr/>
        </p:nvSpPr>
        <p:spPr>
          <a:xfrm>
            <a:off x="8321040" y="4937760"/>
            <a:ext cx="3108960" cy="411480"/>
          </a:xfrm>
          <a:prstGeom prst="rect">
            <a:avLst/>
          </a:prstGeom>
          <a:noFill/>
        </p:spPr>
        <p:txBody>
          <a:bodyPr wrap="square" lIns="0" tIns="0" rIns="0" bIns="0" anchor="t">
            <a:spAutoFit/>
          </a:bodyPr>
          <a:lstStyle/>
          <a:p>
            <a:pPr algn="l">
              <a:lnSpc>
                <a:spcPct val="100000"/>
              </a:lnSpc>
            </a:pPr>
            <a:r>
              <a:rPr sz="1800" b="0">
                <a:solidFill>
                  <a:srgbClr val="24323F"/>
                </a:solidFill>
                <a:latin typeface="Segoe UI Semibold"/>
              </a:rPr>
              <a:t>files fingerprinted</a:t>
            </a:r>
          </a:p>
        </p:txBody>
      </p:sp>
      <p:sp>
        <p:nvSpPr>
          <p:cNvPr id="26" name="TextBox 25"/>
          <p:cNvSpPr txBox="1"/>
          <p:nvPr/>
        </p:nvSpPr>
        <p:spPr>
          <a:xfrm>
            <a:off x="8321040" y="5349240"/>
            <a:ext cx="3108960" cy="640080"/>
          </a:xfrm>
          <a:prstGeom prst="rect">
            <a:avLst/>
          </a:prstGeom>
          <a:noFill/>
        </p:spPr>
        <p:txBody>
          <a:bodyPr wrap="square" lIns="0" tIns="0" rIns="0" bIns="0" anchor="t">
            <a:spAutoFit/>
          </a:bodyPr>
          <a:lstStyle/>
          <a:p>
            <a:pPr algn="l">
              <a:lnSpc>
                <a:spcPct val="100000"/>
              </a:lnSpc>
            </a:pPr>
            <a:r>
              <a:rPr sz="1200" b="0">
                <a:solidFill>
                  <a:srgbClr val="6B7785"/>
                </a:solidFill>
                <a:latin typeface="Segoe UI"/>
              </a:rPr>
              <a:t>re-sent copies are spotted
and never loaded twice</a:t>
            </a:r>
          </a:p>
        </p:txBody>
      </p:sp>
      <p:sp>
        <p:nvSpPr>
          <p:cNvPr id="27" name="TextBox 26"/>
          <p:cNvSpPr txBox="1"/>
          <p:nvPr/>
        </p:nvSpPr>
        <p:spPr>
          <a:xfrm>
            <a:off x="548640" y="6428232"/>
            <a:ext cx="5486400" cy="228600"/>
          </a:xfrm>
          <a:prstGeom prst="rect">
            <a:avLst/>
          </a:prstGeom>
          <a:noFill/>
        </p:spPr>
        <p:txBody>
          <a:bodyPr wrap="square" lIns="0" tIns="0" rIns="0" bIns="0" anchor="t">
            <a:spAutoFit/>
          </a:bodyPr>
          <a:lstStyle/>
          <a:p>
            <a:pPr algn="l">
              <a:lnSpc>
                <a:spcPct val="100000"/>
              </a:lnSpc>
            </a:pPr>
            <a:r>
              <a:rPr sz="1000" b="0">
                <a:solidFill>
                  <a:srgbClr val="6B7785"/>
                </a:solidFill>
                <a:latin typeface="Segoe UI"/>
              </a:rPr>
              <a:t>Cricket Analytics Platform</a:t>
            </a:r>
          </a:p>
        </p:txBody>
      </p:sp>
      <p:sp>
        <p:nvSpPr>
          <p:cNvPr id="28" name="TextBox 27"/>
          <p:cNvSpPr txBox="1"/>
          <p:nvPr/>
        </p:nvSpPr>
        <p:spPr>
          <a:xfrm>
            <a:off x="10725912" y="6428232"/>
            <a:ext cx="914400" cy="228600"/>
          </a:xfrm>
          <a:prstGeom prst="rect">
            <a:avLst/>
          </a:prstGeom>
          <a:noFill/>
        </p:spPr>
        <p:txBody>
          <a:bodyPr wrap="square" lIns="0" tIns="0" rIns="0" bIns="0" anchor="t">
            <a:spAutoFit/>
          </a:bodyPr>
          <a:lstStyle/>
          <a:p>
            <a:pPr algn="r">
              <a:lnSpc>
                <a:spcPct val="100000"/>
              </a:lnSpc>
            </a:pPr>
            <a:r>
              <a:rPr sz="1000" b="0">
                <a:solidFill>
                  <a:srgbClr val="6B7785"/>
                </a:solidFill>
                <a:latin typeface="Segoe UI"/>
              </a:rPr>
              <a:t>17</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rgbClr val="EEF2F6"/>
        </a:solidFill>
        <a:effectLst/>
      </p:bgPr>
    </p:bg>
    <p:spTree>
      <p:nvGrpSpPr>
        <p:cNvPr id="1" name=""/>
        <p:cNvGrpSpPr/>
        <p:nvPr/>
      </p:nvGrpSpPr>
      <p:grpSpPr>
        <a:xfrm>
          <a:off x="0" y="0"/>
          <a:ext cx="0" cy="0"/>
          <a:chOff x="0" y="0"/>
          <a:chExt cx="0" cy="0"/>
        </a:xfrm>
      </p:grpSpPr>
      <p:sp>
        <p:nvSpPr>
          <p:cNvPr id="2" name="TextBox 1"/>
          <p:cNvSpPr txBox="1"/>
          <p:nvPr/>
        </p:nvSpPr>
        <p:spPr>
          <a:xfrm>
            <a:off x="548640" y="146304"/>
            <a:ext cx="10058400" cy="256032"/>
          </a:xfrm>
          <a:prstGeom prst="rect">
            <a:avLst/>
          </a:prstGeom>
          <a:noFill/>
        </p:spPr>
        <p:txBody>
          <a:bodyPr wrap="square" lIns="0" tIns="0" rIns="0" bIns="0" anchor="t">
            <a:spAutoFit/>
          </a:bodyPr>
          <a:lstStyle/>
          <a:p>
            <a:pPr algn="l">
              <a:lnSpc>
                <a:spcPct val="100000"/>
              </a:lnSpc>
            </a:pPr>
            <a:r>
              <a:rPr sz="1000" b="1">
                <a:solidFill>
                  <a:srgbClr val="F2A900"/>
                </a:solidFill>
                <a:latin typeface="Segoe UI"/>
              </a:rPr>
              <a:t>09  ·  SECURITY CONSIDERATIONS</a:t>
            </a:r>
            <a:r>
              <a:rPr sz="1000" b="0">
                <a:solidFill>
                  <a:srgbClr val="6B7785"/>
                </a:solidFill>
                <a:latin typeface="Segoe UI"/>
              </a:rPr>
              <a:t>     Brief §11</a:t>
            </a:r>
          </a:p>
        </p:txBody>
      </p:sp>
      <p:sp>
        <p:nvSpPr>
          <p:cNvPr id="3" name="TextBox 2"/>
          <p:cNvSpPr txBox="1"/>
          <p:nvPr/>
        </p:nvSpPr>
        <p:spPr>
          <a:xfrm>
            <a:off x="548640" y="411480"/>
            <a:ext cx="11064240" cy="640080"/>
          </a:xfrm>
          <a:prstGeom prst="rect">
            <a:avLst/>
          </a:prstGeom>
          <a:noFill/>
        </p:spPr>
        <p:txBody>
          <a:bodyPr wrap="square" lIns="0" tIns="0" rIns="0" bIns="0" anchor="t">
            <a:spAutoFit/>
          </a:bodyPr>
          <a:lstStyle/>
          <a:p>
            <a:pPr algn="l">
              <a:lnSpc>
                <a:spcPct val="100000"/>
              </a:lnSpc>
            </a:pPr>
            <a:r>
              <a:rPr sz="3200" b="0">
                <a:solidFill>
                  <a:srgbClr val="1F4E79"/>
                </a:solidFill>
                <a:latin typeface="Segoe UI Semibold"/>
              </a:rPr>
              <a:t>Security considerations</a:t>
            </a:r>
          </a:p>
        </p:txBody>
      </p:sp>
      <p:sp>
        <p:nvSpPr>
          <p:cNvPr id="4" name="TextBox 3"/>
          <p:cNvSpPr txBox="1"/>
          <p:nvPr/>
        </p:nvSpPr>
        <p:spPr>
          <a:xfrm>
            <a:off x="548640" y="1024128"/>
            <a:ext cx="11064240" cy="411480"/>
          </a:xfrm>
          <a:prstGeom prst="rect">
            <a:avLst/>
          </a:prstGeom>
          <a:noFill/>
        </p:spPr>
        <p:txBody>
          <a:bodyPr wrap="square" lIns="0" tIns="0" rIns="0" bIns="0" anchor="t">
            <a:spAutoFit/>
          </a:bodyPr>
          <a:lstStyle/>
          <a:p>
            <a:pPr algn="l">
              <a:lnSpc>
                <a:spcPct val="100000"/>
              </a:lnSpc>
            </a:pPr>
            <a:r>
              <a:rPr sz="1500" b="0">
                <a:solidFill>
                  <a:srgbClr val="6B7785"/>
                </a:solidFill>
                <a:latin typeface="Segoe UI"/>
              </a:rPr>
              <a:t>Least privilege: each identity can do one job, and nothing more</a:t>
            </a:r>
          </a:p>
        </p:txBody>
      </p:sp>
      <p:sp>
        <p:nvSpPr>
          <p:cNvPr id="5" name="TextBox 4"/>
          <p:cNvSpPr txBox="1"/>
          <p:nvPr/>
        </p:nvSpPr>
        <p:spPr>
          <a:xfrm>
            <a:off x="548640" y="1572768"/>
            <a:ext cx="3108960" cy="274320"/>
          </a:xfrm>
          <a:prstGeom prst="rect">
            <a:avLst/>
          </a:prstGeom>
          <a:noFill/>
        </p:spPr>
        <p:txBody>
          <a:bodyPr wrap="square" lIns="0" tIns="0" rIns="0" bIns="0" anchor="t">
            <a:spAutoFit/>
          </a:bodyPr>
          <a:lstStyle/>
          <a:p>
            <a:pPr algn="l">
              <a:lnSpc>
                <a:spcPct val="100000"/>
              </a:lnSpc>
            </a:pPr>
            <a:r>
              <a:rPr sz="1000" b="1">
                <a:solidFill>
                  <a:srgbClr val="6B7785"/>
                </a:solidFill>
                <a:latin typeface="Segoe UI"/>
              </a:rPr>
              <a:t>IDENTITY</a:t>
            </a:r>
          </a:p>
        </p:txBody>
      </p:sp>
      <p:sp>
        <p:nvSpPr>
          <p:cNvPr id="6" name="TextBox 5"/>
          <p:cNvSpPr txBox="1"/>
          <p:nvPr/>
        </p:nvSpPr>
        <p:spPr>
          <a:xfrm>
            <a:off x="6675120" y="1572768"/>
            <a:ext cx="2377440" cy="274320"/>
          </a:xfrm>
          <a:prstGeom prst="rect">
            <a:avLst/>
          </a:prstGeom>
          <a:noFill/>
        </p:spPr>
        <p:txBody>
          <a:bodyPr wrap="square" lIns="0" tIns="0" rIns="0" bIns="0" anchor="t">
            <a:spAutoFit/>
          </a:bodyPr>
          <a:lstStyle/>
          <a:p>
            <a:pPr algn="l">
              <a:lnSpc>
                <a:spcPct val="100000"/>
              </a:lnSpc>
            </a:pPr>
            <a:r>
              <a:rPr sz="1000" b="1">
                <a:solidFill>
                  <a:srgbClr val="6B7785"/>
                </a:solidFill>
                <a:latin typeface="Segoe UI"/>
              </a:rPr>
              <a:t>CAN ACCESS</a:t>
            </a:r>
          </a:p>
        </p:txBody>
      </p:sp>
      <p:sp>
        <p:nvSpPr>
          <p:cNvPr id="7" name="Oval 6"/>
          <p:cNvSpPr/>
          <p:nvPr/>
        </p:nvSpPr>
        <p:spPr>
          <a:xfrm>
            <a:off x="585215" y="1947672"/>
            <a:ext cx="566928" cy="566928"/>
          </a:xfrm>
          <a:prstGeom prst="ellipse">
            <a:avLst/>
          </a:prstGeom>
          <a:solidFill>
            <a:srgbClr val="1F4E7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Oval 7"/>
          <p:cNvSpPr/>
          <p:nvPr/>
        </p:nvSpPr>
        <p:spPr>
          <a:xfrm>
            <a:off x="806317" y="2089404"/>
            <a:ext cx="124724" cy="124724"/>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Round Same Side Corner Rectangle 8"/>
          <p:cNvSpPr/>
          <p:nvPr/>
        </p:nvSpPr>
        <p:spPr>
          <a:xfrm>
            <a:off x="738286" y="2242474"/>
            <a:ext cx="260786" cy="136062"/>
          </a:xfrm>
          <a:prstGeom prst="round2Same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1325880" y="1920240"/>
            <a:ext cx="2651760" cy="365760"/>
          </a:xfrm>
          <a:prstGeom prst="rect">
            <a:avLst/>
          </a:prstGeom>
          <a:noFill/>
        </p:spPr>
        <p:txBody>
          <a:bodyPr wrap="square" lIns="0" tIns="0" rIns="0" bIns="0" anchor="t">
            <a:spAutoFit/>
          </a:bodyPr>
          <a:lstStyle/>
          <a:p>
            <a:pPr algn="l">
              <a:lnSpc>
                <a:spcPct val="100000"/>
              </a:lnSpc>
            </a:pPr>
            <a:r>
              <a:rPr sz="1300" b="0">
                <a:solidFill>
                  <a:srgbClr val="24323F"/>
                </a:solidFill>
                <a:latin typeface="Segoe UI Semibold"/>
              </a:rPr>
              <a:t>cricket_source_reader</a:t>
            </a:r>
          </a:p>
        </p:txBody>
      </p:sp>
      <p:sp>
        <p:nvSpPr>
          <p:cNvPr id="11" name="TextBox 10"/>
          <p:cNvSpPr txBox="1"/>
          <p:nvPr/>
        </p:nvSpPr>
        <p:spPr>
          <a:xfrm>
            <a:off x="1325880" y="2267712"/>
            <a:ext cx="2651760" cy="274320"/>
          </a:xfrm>
          <a:prstGeom prst="rect">
            <a:avLst/>
          </a:prstGeom>
          <a:noFill/>
        </p:spPr>
        <p:txBody>
          <a:bodyPr wrap="square" lIns="0" tIns="0" rIns="0" bIns="0" anchor="t">
            <a:spAutoFit/>
          </a:bodyPr>
          <a:lstStyle/>
          <a:p>
            <a:pPr algn="l">
              <a:lnSpc>
                <a:spcPct val="100000"/>
              </a:lnSpc>
            </a:pPr>
            <a:r>
              <a:rPr sz="1000" b="0">
                <a:solidFill>
                  <a:srgbClr val="6B7785"/>
                </a:solidFill>
                <a:latin typeface="Segoe UI"/>
              </a:rPr>
              <a:t>used by Alteryx 01</a:t>
            </a:r>
          </a:p>
        </p:txBody>
      </p:sp>
      <p:sp>
        <p:nvSpPr>
          <p:cNvPr id="12" name="Rounded Rectangle 11"/>
          <p:cNvSpPr/>
          <p:nvPr/>
        </p:nvSpPr>
        <p:spPr>
          <a:xfrm>
            <a:off x="3977639" y="2048256"/>
            <a:ext cx="2514600" cy="384048"/>
          </a:xfrm>
          <a:prstGeom prst="roundRect">
            <a:avLst>
              <a:gd name="adj" fmla="val 5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3977639" y="2048256"/>
            <a:ext cx="2514600" cy="384048"/>
          </a:xfrm>
          <a:prstGeom prst="rect">
            <a:avLst/>
          </a:prstGeom>
          <a:noFill/>
        </p:spPr>
        <p:txBody>
          <a:bodyPr wrap="square" lIns="0" tIns="0" rIns="0" bIns="0" anchor="ctr">
            <a:spAutoFit/>
          </a:bodyPr>
          <a:lstStyle/>
          <a:p>
            <a:pPr algn="ctr">
              <a:lnSpc>
                <a:spcPct val="100000"/>
              </a:lnSpc>
            </a:pPr>
            <a:r>
              <a:rPr sz="1000" b="1">
                <a:solidFill>
                  <a:srgbClr val="1F4E79"/>
                </a:solidFill>
                <a:latin typeface="Segoe UI"/>
              </a:rPr>
              <a:t>SELECT only</a:t>
            </a:r>
          </a:p>
        </p:txBody>
      </p:sp>
      <p:cxnSp>
        <p:nvCxnSpPr>
          <p:cNvPr id="14" name="Connector 13"/>
          <p:cNvCxnSpPr/>
          <p:nvPr/>
        </p:nvCxnSpPr>
        <p:spPr>
          <a:xfrm>
            <a:off x="6510528" y="2240280"/>
            <a:ext cx="164592" cy="0"/>
          </a:xfrm>
          <a:prstGeom prst="line">
            <a:avLst/>
          </a:prstGeom>
          <a:ln w="25400">
            <a:solidFill>
              <a:srgbClr val="F2A900"/>
            </a:solidFill>
            <a:tailEnd type="triangle" w="med" len="med"/>
          </a:ln>
        </p:spPr>
        <p:style>
          <a:lnRef idx="2">
            <a:schemeClr val="accent1"/>
          </a:lnRef>
          <a:fillRef idx="0">
            <a:schemeClr val="accent1"/>
          </a:fillRef>
          <a:effectRef idx="1">
            <a:schemeClr val="accent1"/>
          </a:effectRef>
          <a:fontRef idx="minor">
            <a:schemeClr val="tx1"/>
          </a:fontRef>
        </p:style>
      </p:cxnSp>
      <p:sp>
        <p:nvSpPr>
          <p:cNvPr id="15" name="Rounded Rectangle 14"/>
          <p:cNvSpPr/>
          <p:nvPr/>
        </p:nvSpPr>
        <p:spPr>
          <a:xfrm>
            <a:off x="6675120" y="1956816"/>
            <a:ext cx="2514600" cy="566928"/>
          </a:xfrm>
          <a:prstGeom prst="roundRect">
            <a:avLst>
              <a:gd name="adj" fmla="val 6000"/>
            </a:avLst>
          </a:prstGeom>
          <a:solidFill>
            <a:srgbClr val="1F4E7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6675120" y="1956816"/>
            <a:ext cx="2514600" cy="566928"/>
          </a:xfrm>
          <a:prstGeom prst="rect">
            <a:avLst/>
          </a:prstGeom>
          <a:noFill/>
        </p:spPr>
        <p:txBody>
          <a:bodyPr wrap="square" lIns="0" tIns="0" rIns="0" bIns="0" anchor="ctr">
            <a:spAutoFit/>
          </a:bodyPr>
          <a:lstStyle/>
          <a:p>
            <a:pPr algn="ctr">
              <a:lnSpc>
                <a:spcPct val="100000"/>
              </a:lnSpc>
            </a:pPr>
            <a:r>
              <a:rPr sz="1100" b="1">
                <a:solidFill>
                  <a:srgbClr val="FFFFFF"/>
                </a:solidFill>
                <a:latin typeface="Segoe UI"/>
              </a:rPr>
              <a:t>CricketSource · dbo</a:t>
            </a:r>
          </a:p>
        </p:txBody>
      </p:sp>
      <p:sp>
        <p:nvSpPr>
          <p:cNvPr id="17" name="Oval 16"/>
          <p:cNvSpPr/>
          <p:nvPr/>
        </p:nvSpPr>
        <p:spPr>
          <a:xfrm>
            <a:off x="585215" y="2734056"/>
            <a:ext cx="566928" cy="566928"/>
          </a:xfrm>
          <a:prstGeom prst="ellipse">
            <a:avLst/>
          </a:prstGeom>
          <a:solidFill>
            <a:srgbClr val="1F4E7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Oval 17"/>
          <p:cNvSpPr/>
          <p:nvPr/>
        </p:nvSpPr>
        <p:spPr>
          <a:xfrm>
            <a:off x="806317" y="2875787"/>
            <a:ext cx="124724" cy="124724"/>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Round Same Side Corner Rectangle 18"/>
          <p:cNvSpPr/>
          <p:nvPr/>
        </p:nvSpPr>
        <p:spPr>
          <a:xfrm>
            <a:off x="738286" y="3028858"/>
            <a:ext cx="260786" cy="136062"/>
          </a:xfrm>
          <a:prstGeom prst="round2Same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1325880" y="2706624"/>
            <a:ext cx="2651760" cy="365760"/>
          </a:xfrm>
          <a:prstGeom prst="rect">
            <a:avLst/>
          </a:prstGeom>
          <a:noFill/>
        </p:spPr>
        <p:txBody>
          <a:bodyPr wrap="square" lIns="0" tIns="0" rIns="0" bIns="0" anchor="t">
            <a:spAutoFit/>
          </a:bodyPr>
          <a:lstStyle/>
          <a:p>
            <a:pPr algn="l">
              <a:lnSpc>
                <a:spcPct val="100000"/>
              </a:lnSpc>
            </a:pPr>
            <a:r>
              <a:rPr sz="1300" b="0">
                <a:solidFill>
                  <a:srgbClr val="24323F"/>
                </a:solidFill>
                <a:latin typeface="Segoe UI Semibold"/>
              </a:rPr>
              <a:t>cricket_etl_writer</a:t>
            </a:r>
          </a:p>
        </p:txBody>
      </p:sp>
      <p:sp>
        <p:nvSpPr>
          <p:cNvPr id="21" name="TextBox 20"/>
          <p:cNvSpPr txBox="1"/>
          <p:nvPr/>
        </p:nvSpPr>
        <p:spPr>
          <a:xfrm>
            <a:off x="1325880" y="3054096"/>
            <a:ext cx="2651760" cy="274320"/>
          </a:xfrm>
          <a:prstGeom prst="rect">
            <a:avLst/>
          </a:prstGeom>
          <a:noFill/>
        </p:spPr>
        <p:txBody>
          <a:bodyPr wrap="square" lIns="0" tIns="0" rIns="0" bIns="0" anchor="t">
            <a:spAutoFit/>
          </a:bodyPr>
          <a:lstStyle/>
          <a:p>
            <a:pPr algn="l">
              <a:lnSpc>
                <a:spcPct val="100000"/>
              </a:lnSpc>
            </a:pPr>
            <a:r>
              <a:rPr sz="1000" b="0">
                <a:solidFill>
                  <a:srgbClr val="6B7785"/>
                </a:solidFill>
                <a:latin typeface="Segoe UI"/>
              </a:rPr>
              <a:t>used by Alteryx 01–05</a:t>
            </a:r>
          </a:p>
        </p:txBody>
      </p:sp>
      <p:sp>
        <p:nvSpPr>
          <p:cNvPr id="22" name="Rounded Rectangle 21"/>
          <p:cNvSpPr/>
          <p:nvPr/>
        </p:nvSpPr>
        <p:spPr>
          <a:xfrm>
            <a:off x="3977639" y="2834640"/>
            <a:ext cx="2514600" cy="384048"/>
          </a:xfrm>
          <a:prstGeom prst="roundRect">
            <a:avLst>
              <a:gd name="adj" fmla="val 5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3977639" y="2834640"/>
            <a:ext cx="2514600" cy="384048"/>
          </a:xfrm>
          <a:prstGeom prst="rect">
            <a:avLst/>
          </a:prstGeom>
          <a:noFill/>
        </p:spPr>
        <p:txBody>
          <a:bodyPr wrap="square" lIns="0" tIns="0" rIns="0" bIns="0" anchor="ctr">
            <a:spAutoFit/>
          </a:bodyPr>
          <a:lstStyle/>
          <a:p>
            <a:pPr algn="ctr">
              <a:lnSpc>
                <a:spcPct val="100000"/>
              </a:lnSpc>
            </a:pPr>
            <a:r>
              <a:rPr sz="1000" b="1">
                <a:solidFill>
                  <a:srgbClr val="1F4E79"/>
                </a:solidFill>
                <a:latin typeface="Segoe UI"/>
              </a:rPr>
              <a:t>Read / write · rules read-only · no DDL</a:t>
            </a:r>
          </a:p>
        </p:txBody>
      </p:sp>
      <p:cxnSp>
        <p:nvCxnSpPr>
          <p:cNvPr id="24" name="Connector 23"/>
          <p:cNvCxnSpPr/>
          <p:nvPr/>
        </p:nvCxnSpPr>
        <p:spPr>
          <a:xfrm>
            <a:off x="6510528" y="3026664"/>
            <a:ext cx="164592" cy="0"/>
          </a:xfrm>
          <a:prstGeom prst="line">
            <a:avLst/>
          </a:prstGeom>
          <a:ln w="25400">
            <a:solidFill>
              <a:srgbClr val="F2A900"/>
            </a:solidFill>
            <a:tailEnd type="triangle" w="med" len="med"/>
          </a:ln>
        </p:spPr>
        <p:style>
          <a:lnRef idx="2">
            <a:schemeClr val="accent1"/>
          </a:lnRef>
          <a:fillRef idx="0">
            <a:schemeClr val="accent1"/>
          </a:fillRef>
          <a:effectRef idx="1">
            <a:schemeClr val="accent1"/>
          </a:effectRef>
          <a:fontRef idx="minor">
            <a:schemeClr val="tx1"/>
          </a:fontRef>
        </p:style>
      </p:cxnSp>
      <p:sp>
        <p:nvSpPr>
          <p:cNvPr id="25" name="Rounded Rectangle 24"/>
          <p:cNvSpPr/>
          <p:nvPr/>
        </p:nvSpPr>
        <p:spPr>
          <a:xfrm>
            <a:off x="6675120" y="2743200"/>
            <a:ext cx="2514600" cy="566928"/>
          </a:xfrm>
          <a:prstGeom prst="roundRect">
            <a:avLst>
              <a:gd name="adj" fmla="val 6000"/>
            </a:avLst>
          </a:prstGeom>
          <a:solidFill>
            <a:srgbClr val="1F4E7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Box 25"/>
          <p:cNvSpPr txBox="1"/>
          <p:nvPr/>
        </p:nvSpPr>
        <p:spPr>
          <a:xfrm>
            <a:off x="6675120" y="2743200"/>
            <a:ext cx="2514600" cy="566928"/>
          </a:xfrm>
          <a:prstGeom prst="rect">
            <a:avLst/>
          </a:prstGeom>
          <a:noFill/>
        </p:spPr>
        <p:txBody>
          <a:bodyPr wrap="square" lIns="0" tIns="0" rIns="0" bIns="0" anchor="ctr">
            <a:spAutoFit/>
          </a:bodyPr>
          <a:lstStyle/>
          <a:p>
            <a:pPr algn="ctr">
              <a:lnSpc>
                <a:spcPct val="100000"/>
              </a:lnSpc>
            </a:pPr>
            <a:r>
              <a:rPr sz="1100" b="1">
                <a:solidFill>
                  <a:srgbClr val="FFFFFF"/>
                </a:solidFill>
                <a:latin typeface="Segoe UI"/>
              </a:rPr>
              <a:t>CricketDW · stg, dw, audit</a:t>
            </a:r>
          </a:p>
        </p:txBody>
      </p:sp>
      <p:sp>
        <p:nvSpPr>
          <p:cNvPr id="27" name="Oval 26"/>
          <p:cNvSpPr/>
          <p:nvPr/>
        </p:nvSpPr>
        <p:spPr>
          <a:xfrm>
            <a:off x="585215" y="3520440"/>
            <a:ext cx="566928" cy="566928"/>
          </a:xfrm>
          <a:prstGeom prst="ellipse">
            <a:avLst/>
          </a:prstGeom>
          <a:solidFill>
            <a:srgbClr val="1F4E7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Oval 27"/>
          <p:cNvSpPr/>
          <p:nvPr/>
        </p:nvSpPr>
        <p:spPr>
          <a:xfrm>
            <a:off x="806317" y="3662172"/>
            <a:ext cx="124724" cy="124724"/>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Round Same Side Corner Rectangle 28"/>
          <p:cNvSpPr/>
          <p:nvPr/>
        </p:nvSpPr>
        <p:spPr>
          <a:xfrm>
            <a:off x="738286" y="3815242"/>
            <a:ext cx="260786" cy="136062"/>
          </a:xfrm>
          <a:prstGeom prst="round2Same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TextBox 29"/>
          <p:cNvSpPr txBox="1"/>
          <p:nvPr/>
        </p:nvSpPr>
        <p:spPr>
          <a:xfrm>
            <a:off x="1325880" y="3493008"/>
            <a:ext cx="2651760" cy="365760"/>
          </a:xfrm>
          <a:prstGeom prst="rect">
            <a:avLst/>
          </a:prstGeom>
          <a:noFill/>
        </p:spPr>
        <p:txBody>
          <a:bodyPr wrap="square" lIns="0" tIns="0" rIns="0" bIns="0" anchor="t">
            <a:spAutoFit/>
          </a:bodyPr>
          <a:lstStyle/>
          <a:p>
            <a:pPr algn="l">
              <a:lnSpc>
                <a:spcPct val="100000"/>
              </a:lnSpc>
            </a:pPr>
            <a:r>
              <a:rPr sz="1300" b="0">
                <a:solidFill>
                  <a:srgbClr val="24323F"/>
                </a:solidFill>
                <a:latin typeface="Segoe UI Semibold"/>
              </a:rPr>
              <a:t>cricket_rpt_reader</a:t>
            </a:r>
          </a:p>
        </p:txBody>
      </p:sp>
      <p:sp>
        <p:nvSpPr>
          <p:cNvPr id="31" name="TextBox 30"/>
          <p:cNvSpPr txBox="1"/>
          <p:nvPr/>
        </p:nvSpPr>
        <p:spPr>
          <a:xfrm>
            <a:off x="1325880" y="3840480"/>
            <a:ext cx="2651760" cy="274320"/>
          </a:xfrm>
          <a:prstGeom prst="rect">
            <a:avLst/>
          </a:prstGeom>
          <a:noFill/>
        </p:spPr>
        <p:txBody>
          <a:bodyPr wrap="square" lIns="0" tIns="0" rIns="0" bIns="0" anchor="t">
            <a:spAutoFit/>
          </a:bodyPr>
          <a:lstStyle/>
          <a:p>
            <a:pPr algn="l">
              <a:lnSpc>
                <a:spcPct val="100000"/>
              </a:lnSpc>
            </a:pPr>
            <a:r>
              <a:rPr sz="1000" b="0">
                <a:solidFill>
                  <a:srgbClr val="6B7785"/>
                </a:solidFill>
                <a:latin typeface="Segoe UI"/>
              </a:rPr>
              <a:t>used by Alteryx 06</a:t>
            </a:r>
          </a:p>
        </p:txBody>
      </p:sp>
      <p:sp>
        <p:nvSpPr>
          <p:cNvPr id="32" name="Rounded Rectangle 31"/>
          <p:cNvSpPr/>
          <p:nvPr/>
        </p:nvSpPr>
        <p:spPr>
          <a:xfrm>
            <a:off x="3977639" y="3621024"/>
            <a:ext cx="2514600" cy="384048"/>
          </a:xfrm>
          <a:prstGeom prst="roundRect">
            <a:avLst>
              <a:gd name="adj" fmla="val 5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TextBox 32"/>
          <p:cNvSpPr txBox="1"/>
          <p:nvPr/>
        </p:nvSpPr>
        <p:spPr>
          <a:xfrm>
            <a:off x="3977639" y="3621024"/>
            <a:ext cx="2514600" cy="384048"/>
          </a:xfrm>
          <a:prstGeom prst="rect">
            <a:avLst/>
          </a:prstGeom>
          <a:noFill/>
        </p:spPr>
        <p:txBody>
          <a:bodyPr wrap="square" lIns="0" tIns="0" rIns="0" bIns="0" anchor="ctr">
            <a:spAutoFit/>
          </a:bodyPr>
          <a:lstStyle/>
          <a:p>
            <a:pPr algn="ctr">
              <a:lnSpc>
                <a:spcPct val="100000"/>
              </a:lnSpc>
            </a:pPr>
            <a:r>
              <a:rPr sz="1000" b="1">
                <a:solidFill>
                  <a:srgbClr val="1F4E79"/>
                </a:solidFill>
                <a:latin typeface="Segoe UI"/>
              </a:rPr>
              <a:t>SELECT + EXECUTE on rpt only</a:t>
            </a:r>
          </a:p>
        </p:txBody>
      </p:sp>
      <p:cxnSp>
        <p:nvCxnSpPr>
          <p:cNvPr id="34" name="Connector 33"/>
          <p:cNvCxnSpPr/>
          <p:nvPr/>
        </p:nvCxnSpPr>
        <p:spPr>
          <a:xfrm>
            <a:off x="6510528" y="3813048"/>
            <a:ext cx="164592" cy="0"/>
          </a:xfrm>
          <a:prstGeom prst="line">
            <a:avLst/>
          </a:prstGeom>
          <a:ln w="25400">
            <a:solidFill>
              <a:srgbClr val="F2A900"/>
            </a:solidFill>
            <a:tailEnd type="triangle" w="med" len="med"/>
          </a:ln>
        </p:spPr>
        <p:style>
          <a:lnRef idx="2">
            <a:schemeClr val="accent1"/>
          </a:lnRef>
          <a:fillRef idx="0">
            <a:schemeClr val="accent1"/>
          </a:fillRef>
          <a:effectRef idx="1">
            <a:schemeClr val="accent1"/>
          </a:effectRef>
          <a:fontRef idx="minor">
            <a:schemeClr val="tx1"/>
          </a:fontRef>
        </p:style>
      </p:cxnSp>
      <p:sp>
        <p:nvSpPr>
          <p:cNvPr id="35" name="Rounded Rectangle 34"/>
          <p:cNvSpPr/>
          <p:nvPr/>
        </p:nvSpPr>
        <p:spPr>
          <a:xfrm>
            <a:off x="6675120" y="3529584"/>
            <a:ext cx="2514600" cy="566928"/>
          </a:xfrm>
          <a:prstGeom prst="roundRect">
            <a:avLst>
              <a:gd name="adj" fmla="val 6000"/>
            </a:avLst>
          </a:prstGeom>
          <a:solidFill>
            <a:srgbClr val="1F4E7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6" name="TextBox 35"/>
          <p:cNvSpPr txBox="1"/>
          <p:nvPr/>
        </p:nvSpPr>
        <p:spPr>
          <a:xfrm>
            <a:off x="6675120" y="3529584"/>
            <a:ext cx="2514600" cy="566928"/>
          </a:xfrm>
          <a:prstGeom prst="rect">
            <a:avLst/>
          </a:prstGeom>
          <a:noFill/>
        </p:spPr>
        <p:txBody>
          <a:bodyPr wrap="square" lIns="0" tIns="0" rIns="0" bIns="0" anchor="ctr">
            <a:spAutoFit/>
          </a:bodyPr>
          <a:lstStyle/>
          <a:p>
            <a:pPr algn="ctr">
              <a:lnSpc>
                <a:spcPct val="100000"/>
              </a:lnSpc>
            </a:pPr>
            <a:r>
              <a:rPr sz="1100" b="1">
                <a:solidFill>
                  <a:srgbClr val="FFFFFF"/>
                </a:solidFill>
                <a:latin typeface="Segoe UI"/>
              </a:rPr>
              <a:t>CricketDW · rpt views</a:t>
            </a:r>
          </a:p>
        </p:txBody>
      </p:sp>
      <p:sp>
        <p:nvSpPr>
          <p:cNvPr id="37" name="Oval 36"/>
          <p:cNvSpPr/>
          <p:nvPr/>
        </p:nvSpPr>
        <p:spPr>
          <a:xfrm>
            <a:off x="585215" y="4306824"/>
            <a:ext cx="566928" cy="566928"/>
          </a:xfrm>
          <a:prstGeom prst="ellipse">
            <a:avLst/>
          </a:prstGeom>
          <a:solidFill>
            <a:srgbClr val="F2A9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8" name="Plus 37"/>
          <p:cNvSpPr/>
          <p:nvPr/>
        </p:nvSpPr>
        <p:spPr>
          <a:xfrm>
            <a:off x="766632" y="4488240"/>
            <a:ext cx="204094" cy="204094"/>
          </a:xfrm>
          <a:prstGeom prst="mathPlus">
            <a:avLst/>
          </a:prstGeom>
          <a:solidFill>
            <a:srgbClr val="1F4E7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9" name="Plus 38"/>
          <p:cNvSpPr/>
          <p:nvPr/>
        </p:nvSpPr>
        <p:spPr>
          <a:xfrm>
            <a:off x="670255" y="4391863"/>
            <a:ext cx="102047" cy="102047"/>
          </a:xfrm>
          <a:prstGeom prst="mathPlus">
            <a:avLst/>
          </a:prstGeom>
          <a:solidFill>
            <a:srgbClr val="1F4E7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0" name="Plus 39"/>
          <p:cNvSpPr/>
          <p:nvPr/>
        </p:nvSpPr>
        <p:spPr>
          <a:xfrm>
            <a:off x="965057" y="4391863"/>
            <a:ext cx="102047" cy="102047"/>
          </a:xfrm>
          <a:prstGeom prst="mathPlus">
            <a:avLst/>
          </a:prstGeom>
          <a:solidFill>
            <a:srgbClr val="1F4E7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1" name="Plus 40"/>
          <p:cNvSpPr/>
          <p:nvPr/>
        </p:nvSpPr>
        <p:spPr>
          <a:xfrm>
            <a:off x="670255" y="4686665"/>
            <a:ext cx="102047" cy="102047"/>
          </a:xfrm>
          <a:prstGeom prst="mathPlus">
            <a:avLst/>
          </a:prstGeom>
          <a:solidFill>
            <a:srgbClr val="1F4E7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2" name="Plus 41"/>
          <p:cNvSpPr/>
          <p:nvPr/>
        </p:nvSpPr>
        <p:spPr>
          <a:xfrm>
            <a:off x="965057" y="4686665"/>
            <a:ext cx="102047" cy="102047"/>
          </a:xfrm>
          <a:prstGeom prst="mathPlus">
            <a:avLst/>
          </a:prstGeom>
          <a:solidFill>
            <a:srgbClr val="1F4E7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3" name="TextBox 42"/>
          <p:cNvSpPr txBox="1"/>
          <p:nvPr/>
        </p:nvSpPr>
        <p:spPr>
          <a:xfrm>
            <a:off x="1325880" y="4279392"/>
            <a:ext cx="2651760" cy="365760"/>
          </a:xfrm>
          <a:prstGeom prst="rect">
            <a:avLst/>
          </a:prstGeom>
          <a:noFill/>
        </p:spPr>
        <p:txBody>
          <a:bodyPr wrap="square" lIns="0" tIns="0" rIns="0" bIns="0" anchor="t">
            <a:spAutoFit/>
          </a:bodyPr>
          <a:lstStyle/>
          <a:p>
            <a:pPr algn="l">
              <a:lnSpc>
                <a:spcPct val="100000"/>
              </a:lnSpc>
            </a:pPr>
            <a:r>
              <a:rPr sz="1300" b="0">
                <a:solidFill>
                  <a:srgbClr val="24323F"/>
                </a:solidFill>
                <a:latin typeface="Segoe UI Semibold"/>
              </a:rPr>
              <a:t>Tableau</a:t>
            </a:r>
          </a:p>
        </p:txBody>
      </p:sp>
      <p:sp>
        <p:nvSpPr>
          <p:cNvPr id="44" name="TextBox 43"/>
          <p:cNvSpPr txBox="1"/>
          <p:nvPr/>
        </p:nvSpPr>
        <p:spPr>
          <a:xfrm>
            <a:off x="1325880" y="4626864"/>
            <a:ext cx="2651760" cy="274320"/>
          </a:xfrm>
          <a:prstGeom prst="rect">
            <a:avLst/>
          </a:prstGeom>
          <a:noFill/>
        </p:spPr>
        <p:txBody>
          <a:bodyPr wrap="square" lIns="0" tIns="0" rIns="0" bIns="0" anchor="t">
            <a:spAutoFit/>
          </a:bodyPr>
          <a:lstStyle/>
          <a:p>
            <a:pPr algn="l">
              <a:lnSpc>
                <a:spcPct val="100000"/>
              </a:lnSpc>
            </a:pPr>
            <a:r>
              <a:rPr sz="1000" b="0">
                <a:solidFill>
                  <a:srgbClr val="6B7785"/>
                </a:solidFill>
                <a:latin typeface="Segoe UI"/>
              </a:rPr>
              <a:t>used by dashboards</a:t>
            </a:r>
          </a:p>
        </p:txBody>
      </p:sp>
      <p:sp>
        <p:nvSpPr>
          <p:cNvPr id="45" name="Rounded Rectangle 44"/>
          <p:cNvSpPr/>
          <p:nvPr/>
        </p:nvSpPr>
        <p:spPr>
          <a:xfrm>
            <a:off x="3977639" y="4407408"/>
            <a:ext cx="2514600" cy="384048"/>
          </a:xfrm>
          <a:prstGeom prst="roundRect">
            <a:avLst>
              <a:gd name="adj" fmla="val 5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6" name="TextBox 45"/>
          <p:cNvSpPr txBox="1"/>
          <p:nvPr/>
        </p:nvSpPr>
        <p:spPr>
          <a:xfrm>
            <a:off x="3977639" y="4407408"/>
            <a:ext cx="2514600" cy="384048"/>
          </a:xfrm>
          <a:prstGeom prst="rect">
            <a:avLst/>
          </a:prstGeom>
          <a:noFill/>
        </p:spPr>
        <p:txBody>
          <a:bodyPr wrap="square" lIns="0" tIns="0" rIns="0" bIns="0" anchor="ctr">
            <a:spAutoFit/>
          </a:bodyPr>
          <a:lstStyle/>
          <a:p>
            <a:pPr algn="ctr">
              <a:lnSpc>
                <a:spcPct val="100000"/>
              </a:lnSpc>
            </a:pPr>
            <a:r>
              <a:rPr sz="1000" b="1">
                <a:solidFill>
                  <a:srgbClr val="1F4E79"/>
                </a:solidFill>
                <a:latin typeface="Segoe UI"/>
              </a:rPr>
              <a:t>No database credentials at all</a:t>
            </a:r>
          </a:p>
        </p:txBody>
      </p:sp>
      <p:cxnSp>
        <p:nvCxnSpPr>
          <p:cNvPr id="47" name="Connector 46"/>
          <p:cNvCxnSpPr/>
          <p:nvPr/>
        </p:nvCxnSpPr>
        <p:spPr>
          <a:xfrm>
            <a:off x="6510528" y="4599432"/>
            <a:ext cx="164592" cy="0"/>
          </a:xfrm>
          <a:prstGeom prst="line">
            <a:avLst/>
          </a:prstGeom>
          <a:ln w="25400">
            <a:solidFill>
              <a:srgbClr val="F2A900"/>
            </a:solidFill>
            <a:tailEnd type="triangle" w="med" len="med"/>
          </a:ln>
        </p:spPr>
        <p:style>
          <a:lnRef idx="2">
            <a:schemeClr val="accent1"/>
          </a:lnRef>
          <a:fillRef idx="0">
            <a:schemeClr val="accent1"/>
          </a:fillRef>
          <a:effectRef idx="1">
            <a:schemeClr val="accent1"/>
          </a:effectRef>
          <a:fontRef idx="minor">
            <a:schemeClr val="tx1"/>
          </a:fontRef>
        </p:style>
      </p:cxnSp>
      <p:sp>
        <p:nvSpPr>
          <p:cNvPr id="48" name="Rounded Rectangle 47"/>
          <p:cNvSpPr/>
          <p:nvPr/>
        </p:nvSpPr>
        <p:spPr>
          <a:xfrm>
            <a:off x="6675120" y="4315968"/>
            <a:ext cx="2514600" cy="566928"/>
          </a:xfrm>
          <a:prstGeom prst="roundRect">
            <a:avLst>
              <a:gd name="adj" fmla="val 6000"/>
            </a:avLst>
          </a:prstGeom>
          <a:solidFill>
            <a:srgbClr val="1F4E7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9" name="TextBox 48"/>
          <p:cNvSpPr txBox="1"/>
          <p:nvPr/>
        </p:nvSpPr>
        <p:spPr>
          <a:xfrm>
            <a:off x="6675120" y="4315968"/>
            <a:ext cx="2514600" cy="566928"/>
          </a:xfrm>
          <a:prstGeom prst="rect">
            <a:avLst/>
          </a:prstGeom>
          <a:noFill/>
        </p:spPr>
        <p:txBody>
          <a:bodyPr wrap="square" lIns="0" tIns="0" rIns="0" bIns="0" anchor="ctr">
            <a:spAutoFit/>
          </a:bodyPr>
          <a:lstStyle/>
          <a:p>
            <a:pPr algn="ctr">
              <a:lnSpc>
                <a:spcPct val="100000"/>
              </a:lnSpc>
            </a:pPr>
            <a:r>
              <a:rPr sz="1100" b="1">
                <a:solidFill>
                  <a:srgbClr val="FFFFFF"/>
                </a:solidFill>
                <a:latin typeface="Segoe UI"/>
              </a:rPr>
              <a:t>04_Prepared · .hyper files</a:t>
            </a:r>
          </a:p>
        </p:txBody>
      </p:sp>
      <p:sp>
        <p:nvSpPr>
          <p:cNvPr id="50" name="Rounded Rectangle 49"/>
          <p:cNvSpPr/>
          <p:nvPr/>
        </p:nvSpPr>
        <p:spPr>
          <a:xfrm>
            <a:off x="9418320" y="1901952"/>
            <a:ext cx="2194560" cy="658368"/>
          </a:xfrm>
          <a:prstGeom prst="roundRect">
            <a:avLst>
              <a:gd name="adj" fmla="val 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1" name="TextBox 50"/>
          <p:cNvSpPr txBox="1"/>
          <p:nvPr/>
        </p:nvSpPr>
        <p:spPr>
          <a:xfrm>
            <a:off x="9555480" y="1920240"/>
            <a:ext cx="2011680" cy="320040"/>
          </a:xfrm>
          <a:prstGeom prst="rect">
            <a:avLst/>
          </a:prstGeom>
          <a:noFill/>
        </p:spPr>
        <p:txBody>
          <a:bodyPr wrap="square" lIns="0" tIns="0" rIns="0" bIns="0" anchor="t">
            <a:spAutoFit/>
          </a:bodyPr>
          <a:lstStyle/>
          <a:p>
            <a:pPr algn="l">
              <a:lnSpc>
                <a:spcPct val="100000"/>
              </a:lnSpc>
            </a:pPr>
            <a:r>
              <a:rPr sz="1200" b="0">
                <a:solidFill>
                  <a:srgbClr val="1F4E79"/>
                </a:solidFill>
                <a:latin typeface="Segoe UI Semibold"/>
              </a:rPr>
              <a:t>Roles, not people</a:t>
            </a:r>
          </a:p>
        </p:txBody>
      </p:sp>
      <p:sp>
        <p:nvSpPr>
          <p:cNvPr id="52" name="TextBox 51"/>
          <p:cNvSpPr txBox="1"/>
          <p:nvPr/>
        </p:nvSpPr>
        <p:spPr>
          <a:xfrm>
            <a:off x="9555480" y="2212848"/>
            <a:ext cx="2011680" cy="320040"/>
          </a:xfrm>
          <a:prstGeom prst="rect">
            <a:avLst/>
          </a:prstGeom>
          <a:noFill/>
        </p:spPr>
        <p:txBody>
          <a:bodyPr wrap="square" lIns="0" tIns="0" rIns="0" bIns="0" anchor="t">
            <a:spAutoFit/>
          </a:bodyPr>
          <a:lstStyle/>
          <a:p>
            <a:pPr algn="l">
              <a:lnSpc>
                <a:spcPct val="100000"/>
              </a:lnSpc>
            </a:pPr>
            <a:r>
              <a:rPr sz="900" b="0">
                <a:solidFill>
                  <a:srgbClr val="6B7785"/>
                </a:solidFill>
                <a:latin typeface="Segoe UI"/>
              </a:rPr>
              <a:t>grants go to database roles</a:t>
            </a:r>
          </a:p>
        </p:txBody>
      </p:sp>
      <p:sp>
        <p:nvSpPr>
          <p:cNvPr id="53" name="Rounded Rectangle 52"/>
          <p:cNvSpPr/>
          <p:nvPr/>
        </p:nvSpPr>
        <p:spPr>
          <a:xfrm>
            <a:off x="9418320" y="2688336"/>
            <a:ext cx="2194560" cy="658368"/>
          </a:xfrm>
          <a:prstGeom prst="roundRect">
            <a:avLst>
              <a:gd name="adj" fmla="val 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4" name="TextBox 53"/>
          <p:cNvSpPr txBox="1"/>
          <p:nvPr/>
        </p:nvSpPr>
        <p:spPr>
          <a:xfrm>
            <a:off x="9555480" y="2706624"/>
            <a:ext cx="2011680" cy="320040"/>
          </a:xfrm>
          <a:prstGeom prst="rect">
            <a:avLst/>
          </a:prstGeom>
          <a:noFill/>
        </p:spPr>
        <p:txBody>
          <a:bodyPr wrap="square" lIns="0" tIns="0" rIns="0" bIns="0" anchor="t">
            <a:spAutoFit/>
          </a:bodyPr>
          <a:lstStyle/>
          <a:p>
            <a:pPr algn="l">
              <a:lnSpc>
                <a:spcPct val="100000"/>
              </a:lnSpc>
            </a:pPr>
            <a:r>
              <a:rPr sz="1200" b="0">
                <a:solidFill>
                  <a:srgbClr val="1F4E79"/>
                </a:solidFill>
                <a:latin typeface="Segoe UI Semibold"/>
              </a:rPr>
              <a:t>No secrets in git</a:t>
            </a:r>
          </a:p>
        </p:txBody>
      </p:sp>
      <p:sp>
        <p:nvSpPr>
          <p:cNvPr id="55" name="TextBox 54"/>
          <p:cNvSpPr txBox="1"/>
          <p:nvPr/>
        </p:nvSpPr>
        <p:spPr>
          <a:xfrm>
            <a:off x="9555480" y="2999232"/>
            <a:ext cx="2011680" cy="320040"/>
          </a:xfrm>
          <a:prstGeom prst="rect">
            <a:avLst/>
          </a:prstGeom>
          <a:noFill/>
        </p:spPr>
        <p:txBody>
          <a:bodyPr wrap="square" lIns="0" tIns="0" rIns="0" bIns="0" anchor="t">
            <a:spAutoFit/>
          </a:bodyPr>
          <a:lstStyle/>
          <a:p>
            <a:pPr algn="l">
              <a:lnSpc>
                <a:spcPct val="100000"/>
              </a:lnSpc>
            </a:pPr>
            <a:r>
              <a:rPr sz="900" b="0">
                <a:solidFill>
                  <a:srgbClr val="6B7785"/>
                </a:solidFill>
                <a:latin typeface="Segoe UI"/>
              </a:rPr>
              <a:t>passwords only in local config</a:t>
            </a:r>
          </a:p>
        </p:txBody>
      </p:sp>
      <p:sp>
        <p:nvSpPr>
          <p:cNvPr id="56" name="Rounded Rectangle 55"/>
          <p:cNvSpPr/>
          <p:nvPr/>
        </p:nvSpPr>
        <p:spPr>
          <a:xfrm>
            <a:off x="9418320" y="3474720"/>
            <a:ext cx="2194560" cy="658368"/>
          </a:xfrm>
          <a:prstGeom prst="roundRect">
            <a:avLst>
              <a:gd name="adj" fmla="val 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7" name="TextBox 56"/>
          <p:cNvSpPr txBox="1"/>
          <p:nvPr/>
        </p:nvSpPr>
        <p:spPr>
          <a:xfrm>
            <a:off x="9555480" y="3493008"/>
            <a:ext cx="2011680" cy="320040"/>
          </a:xfrm>
          <a:prstGeom prst="rect">
            <a:avLst/>
          </a:prstGeom>
          <a:noFill/>
        </p:spPr>
        <p:txBody>
          <a:bodyPr wrap="square" lIns="0" tIns="0" rIns="0" bIns="0" anchor="t">
            <a:spAutoFit/>
          </a:bodyPr>
          <a:lstStyle/>
          <a:p>
            <a:pPr algn="l">
              <a:lnSpc>
                <a:spcPct val="100000"/>
              </a:lnSpc>
            </a:pPr>
            <a:r>
              <a:rPr sz="1200" b="0">
                <a:solidFill>
                  <a:srgbClr val="1F4E79"/>
                </a:solidFill>
                <a:latin typeface="Segoe UI Semibold"/>
              </a:rPr>
              <a:t>Rules protected</a:t>
            </a:r>
          </a:p>
        </p:txBody>
      </p:sp>
      <p:sp>
        <p:nvSpPr>
          <p:cNvPr id="58" name="TextBox 57"/>
          <p:cNvSpPr txBox="1"/>
          <p:nvPr/>
        </p:nvSpPr>
        <p:spPr>
          <a:xfrm>
            <a:off x="9555480" y="3785615"/>
            <a:ext cx="2011680" cy="320040"/>
          </a:xfrm>
          <a:prstGeom prst="rect">
            <a:avLst/>
          </a:prstGeom>
          <a:noFill/>
        </p:spPr>
        <p:txBody>
          <a:bodyPr wrap="square" lIns="0" tIns="0" rIns="0" bIns="0" anchor="t">
            <a:spAutoFit/>
          </a:bodyPr>
          <a:lstStyle/>
          <a:p>
            <a:pPr algn="l">
              <a:lnSpc>
                <a:spcPct val="100000"/>
              </a:lnSpc>
            </a:pPr>
            <a:r>
              <a:rPr sz="900" b="0">
                <a:solidFill>
                  <a:srgbClr val="6B7785"/>
                </a:solidFill>
                <a:latin typeface="Segoe UI"/>
              </a:rPr>
              <a:t>pipeline cannot edit its own rules</a:t>
            </a:r>
          </a:p>
        </p:txBody>
      </p:sp>
      <p:sp>
        <p:nvSpPr>
          <p:cNvPr id="59" name="Rounded Rectangle 58"/>
          <p:cNvSpPr/>
          <p:nvPr/>
        </p:nvSpPr>
        <p:spPr>
          <a:xfrm>
            <a:off x="9418320" y="4261104"/>
            <a:ext cx="2194560" cy="658368"/>
          </a:xfrm>
          <a:prstGeom prst="roundRect">
            <a:avLst>
              <a:gd name="adj" fmla="val 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0" name="TextBox 59"/>
          <p:cNvSpPr txBox="1"/>
          <p:nvPr/>
        </p:nvSpPr>
        <p:spPr>
          <a:xfrm>
            <a:off x="9555480" y="4279392"/>
            <a:ext cx="2011680" cy="320040"/>
          </a:xfrm>
          <a:prstGeom prst="rect">
            <a:avLst/>
          </a:prstGeom>
          <a:noFill/>
        </p:spPr>
        <p:txBody>
          <a:bodyPr wrap="square" lIns="0" tIns="0" rIns="0" bIns="0" anchor="t">
            <a:spAutoFit/>
          </a:bodyPr>
          <a:lstStyle/>
          <a:p>
            <a:pPr algn="l">
              <a:lnSpc>
                <a:spcPct val="100000"/>
              </a:lnSpc>
            </a:pPr>
            <a:r>
              <a:rPr sz="1200" b="0">
                <a:solidFill>
                  <a:srgbClr val="1F4E79"/>
                </a:solidFill>
                <a:latin typeface="Segoe UI Semibold"/>
              </a:rPr>
              <a:t>Proven</a:t>
            </a:r>
          </a:p>
        </p:txBody>
      </p:sp>
      <p:sp>
        <p:nvSpPr>
          <p:cNvPr id="61" name="TextBox 60"/>
          <p:cNvSpPr txBox="1"/>
          <p:nvPr/>
        </p:nvSpPr>
        <p:spPr>
          <a:xfrm>
            <a:off x="9555480" y="4572000"/>
            <a:ext cx="2011680" cy="320040"/>
          </a:xfrm>
          <a:prstGeom prst="rect">
            <a:avLst/>
          </a:prstGeom>
          <a:noFill/>
        </p:spPr>
        <p:txBody>
          <a:bodyPr wrap="square" lIns="0" tIns="0" rIns="0" bIns="0" anchor="t">
            <a:spAutoFit/>
          </a:bodyPr>
          <a:lstStyle/>
          <a:p>
            <a:pPr algn="l">
              <a:lnSpc>
                <a:spcPct val="100000"/>
              </a:lnSpc>
            </a:pPr>
            <a:r>
              <a:rPr sz="900" b="0">
                <a:solidFill>
                  <a:srgbClr val="6B7785"/>
                </a:solidFill>
                <a:latin typeface="Segoe UI"/>
              </a:rPr>
              <a:t>19 impersonation checks pass</a:t>
            </a:r>
          </a:p>
        </p:txBody>
      </p:sp>
      <p:sp>
        <p:nvSpPr>
          <p:cNvPr id="62" name="Rounded Rectangle 61"/>
          <p:cNvSpPr/>
          <p:nvPr/>
        </p:nvSpPr>
        <p:spPr>
          <a:xfrm>
            <a:off x="548640" y="5166360"/>
            <a:ext cx="11064240" cy="822960"/>
          </a:xfrm>
          <a:prstGeom prst="roundRect">
            <a:avLst>
              <a:gd name="adj" fmla="val 6000"/>
            </a:avLst>
          </a:prstGeom>
          <a:solidFill>
            <a:srgbClr val="1F4E7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3" name="TextBox 62"/>
          <p:cNvSpPr txBox="1"/>
          <p:nvPr/>
        </p:nvSpPr>
        <p:spPr>
          <a:xfrm>
            <a:off x="548640" y="5166360"/>
            <a:ext cx="11064240" cy="822960"/>
          </a:xfrm>
          <a:prstGeom prst="rect">
            <a:avLst/>
          </a:prstGeom>
          <a:noFill/>
        </p:spPr>
        <p:txBody>
          <a:bodyPr wrap="square" lIns="0" tIns="0" rIns="0" bIns="0" anchor="ctr">
            <a:spAutoFit/>
          </a:bodyPr>
          <a:lstStyle/>
          <a:p>
            <a:pPr algn="ctr">
              <a:lnSpc>
                <a:spcPct val="100000"/>
              </a:lnSpc>
            </a:pPr>
            <a:r>
              <a:rPr sz="1300" b="1">
                <a:solidFill>
                  <a:srgbClr val="F2A900"/>
                </a:solidFill>
                <a:latin typeface="Segoe UI"/>
              </a:rPr>
              <a:t>In production  </a:t>
            </a:r>
            <a:r>
              <a:rPr sz="1300" b="0">
                <a:solidFill>
                  <a:srgbClr val="FFFFFF"/>
                </a:solidFill>
                <a:latin typeface="Segoe UI"/>
              </a:rPr>
              <a:t>AD-group roles · service accounts, no passwords · single sign-on · row-level security per user</a:t>
            </a:r>
          </a:p>
        </p:txBody>
      </p:sp>
      <p:sp>
        <p:nvSpPr>
          <p:cNvPr id="64" name="TextBox 63"/>
          <p:cNvSpPr txBox="1"/>
          <p:nvPr/>
        </p:nvSpPr>
        <p:spPr>
          <a:xfrm>
            <a:off x="548640" y="6428232"/>
            <a:ext cx="5486400" cy="228600"/>
          </a:xfrm>
          <a:prstGeom prst="rect">
            <a:avLst/>
          </a:prstGeom>
          <a:noFill/>
        </p:spPr>
        <p:txBody>
          <a:bodyPr wrap="square" lIns="0" tIns="0" rIns="0" bIns="0" anchor="t">
            <a:spAutoFit/>
          </a:bodyPr>
          <a:lstStyle/>
          <a:p>
            <a:pPr algn="l">
              <a:lnSpc>
                <a:spcPct val="100000"/>
              </a:lnSpc>
            </a:pPr>
            <a:r>
              <a:rPr sz="1000" b="0">
                <a:solidFill>
                  <a:srgbClr val="6B7785"/>
                </a:solidFill>
                <a:latin typeface="Segoe UI"/>
              </a:rPr>
              <a:t>Cricket Analytics Platform</a:t>
            </a:r>
          </a:p>
        </p:txBody>
      </p:sp>
      <p:sp>
        <p:nvSpPr>
          <p:cNvPr id="65" name="TextBox 64"/>
          <p:cNvSpPr txBox="1"/>
          <p:nvPr/>
        </p:nvSpPr>
        <p:spPr>
          <a:xfrm>
            <a:off x="10725912" y="6428232"/>
            <a:ext cx="914400" cy="228600"/>
          </a:xfrm>
          <a:prstGeom prst="rect">
            <a:avLst/>
          </a:prstGeom>
          <a:noFill/>
        </p:spPr>
        <p:txBody>
          <a:bodyPr wrap="square" lIns="0" tIns="0" rIns="0" bIns="0" anchor="t">
            <a:spAutoFit/>
          </a:bodyPr>
          <a:lstStyle/>
          <a:p>
            <a:pPr algn="r">
              <a:lnSpc>
                <a:spcPct val="100000"/>
              </a:lnSpc>
            </a:pPr>
            <a:r>
              <a:rPr sz="1000" b="0">
                <a:solidFill>
                  <a:srgbClr val="6B7785"/>
                </a:solidFill>
                <a:latin typeface="Segoe UI"/>
              </a:rPr>
              <a:t>18</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rgbClr val="EEF2F6"/>
        </a:solidFill>
        <a:effectLst/>
      </p:bgPr>
    </p:bg>
    <p:spTree>
      <p:nvGrpSpPr>
        <p:cNvPr id="1" name=""/>
        <p:cNvGrpSpPr/>
        <p:nvPr/>
      </p:nvGrpSpPr>
      <p:grpSpPr>
        <a:xfrm>
          <a:off x="0" y="0"/>
          <a:ext cx="0" cy="0"/>
          <a:chOff x="0" y="0"/>
          <a:chExt cx="0" cy="0"/>
        </a:xfrm>
      </p:grpSpPr>
      <p:sp>
        <p:nvSpPr>
          <p:cNvPr id="2" name="TextBox 1"/>
          <p:cNvSpPr txBox="1"/>
          <p:nvPr/>
        </p:nvSpPr>
        <p:spPr>
          <a:xfrm>
            <a:off x="548640" y="146304"/>
            <a:ext cx="10058400" cy="256032"/>
          </a:xfrm>
          <a:prstGeom prst="rect">
            <a:avLst/>
          </a:prstGeom>
          <a:noFill/>
        </p:spPr>
        <p:txBody>
          <a:bodyPr wrap="square" lIns="0" tIns="0" rIns="0" bIns="0" anchor="t">
            <a:spAutoFit/>
          </a:bodyPr>
          <a:lstStyle/>
          <a:p>
            <a:pPr algn="l">
              <a:lnSpc>
                <a:spcPct val="100000"/>
              </a:lnSpc>
            </a:pPr>
            <a:r>
              <a:rPr sz="1000" b="1">
                <a:solidFill>
                  <a:srgbClr val="F2A900"/>
                </a:solidFill>
                <a:latin typeface="Segoe UI"/>
              </a:rPr>
              <a:t>10  ·  PERFORMANCE CONSIDERATIONS</a:t>
            </a:r>
            <a:r>
              <a:rPr sz="1000" b="0">
                <a:solidFill>
                  <a:srgbClr val="6B7785"/>
                </a:solidFill>
                <a:latin typeface="Segoe UI"/>
              </a:rPr>
              <a:t>     Brief §10</a:t>
            </a:r>
          </a:p>
        </p:txBody>
      </p:sp>
      <p:sp>
        <p:nvSpPr>
          <p:cNvPr id="3" name="TextBox 2"/>
          <p:cNvSpPr txBox="1"/>
          <p:nvPr/>
        </p:nvSpPr>
        <p:spPr>
          <a:xfrm>
            <a:off x="548640" y="411480"/>
            <a:ext cx="11064240" cy="640080"/>
          </a:xfrm>
          <a:prstGeom prst="rect">
            <a:avLst/>
          </a:prstGeom>
          <a:noFill/>
        </p:spPr>
        <p:txBody>
          <a:bodyPr wrap="square" lIns="0" tIns="0" rIns="0" bIns="0" anchor="t">
            <a:spAutoFit/>
          </a:bodyPr>
          <a:lstStyle/>
          <a:p>
            <a:pPr algn="l">
              <a:lnSpc>
                <a:spcPct val="100000"/>
              </a:lnSpc>
            </a:pPr>
            <a:r>
              <a:rPr sz="3200" b="0">
                <a:solidFill>
                  <a:srgbClr val="1F4E79"/>
                </a:solidFill>
                <a:latin typeface="Segoe UI Semibold"/>
              </a:rPr>
              <a:t>Performance considerations</a:t>
            </a:r>
          </a:p>
        </p:txBody>
      </p:sp>
      <p:sp>
        <p:nvSpPr>
          <p:cNvPr id="4" name="TextBox 3"/>
          <p:cNvSpPr txBox="1"/>
          <p:nvPr/>
        </p:nvSpPr>
        <p:spPr>
          <a:xfrm>
            <a:off x="548640" y="1024128"/>
            <a:ext cx="11064240" cy="411480"/>
          </a:xfrm>
          <a:prstGeom prst="rect">
            <a:avLst/>
          </a:prstGeom>
          <a:noFill/>
        </p:spPr>
        <p:txBody>
          <a:bodyPr wrap="square" lIns="0" tIns="0" rIns="0" bIns="0" anchor="t">
            <a:spAutoFit/>
          </a:bodyPr>
          <a:lstStyle/>
          <a:p>
            <a:pPr algn="l">
              <a:lnSpc>
                <a:spcPct val="100000"/>
              </a:lnSpc>
            </a:pPr>
            <a:r>
              <a:rPr sz="1500" b="0">
                <a:solidFill>
                  <a:srgbClr val="6B7785"/>
                </a:solidFill>
                <a:latin typeface="Segoe UI"/>
              </a:rPr>
              <a:t>Measured at each layer: what we changed, and the effect</a:t>
            </a:r>
          </a:p>
        </p:txBody>
      </p:sp>
      <p:sp>
        <p:nvSpPr>
          <p:cNvPr id="5" name="Rounded Rectangle 4"/>
          <p:cNvSpPr/>
          <p:nvPr/>
        </p:nvSpPr>
        <p:spPr>
          <a:xfrm>
            <a:off x="548640" y="1645920"/>
            <a:ext cx="4754880" cy="4480560"/>
          </a:xfrm>
          <a:prstGeom prst="roundRect">
            <a:avLst>
              <a:gd name="adj" fmla="val 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777240" y="1783080"/>
            <a:ext cx="4389120" cy="320040"/>
          </a:xfrm>
          <a:prstGeom prst="rect">
            <a:avLst/>
          </a:prstGeom>
          <a:noFill/>
        </p:spPr>
        <p:txBody>
          <a:bodyPr wrap="square" lIns="0" tIns="0" rIns="0" bIns="0" anchor="t">
            <a:spAutoFit/>
          </a:bodyPr>
          <a:lstStyle/>
          <a:p>
            <a:pPr algn="l">
              <a:lnSpc>
                <a:spcPct val="100000"/>
              </a:lnSpc>
            </a:pPr>
            <a:r>
              <a:rPr sz="1300" b="0">
                <a:solidFill>
                  <a:srgbClr val="24323F"/>
                </a:solidFill>
                <a:latin typeface="Segoe UI Semibold"/>
              </a:rPr>
              <a:t>Runs per over, per query (ms)</a:t>
            </a:r>
          </a:p>
        </p:txBody>
      </p:sp>
      <p:graphicFrame>
        <p:nvGraphicFramePr>
          <p:cNvPr id="7" name="Chart 6"/>
          <p:cNvGraphicFramePr>
            <a:graphicFrameLocks noGrp="1"/>
          </p:cNvGraphicFramePr>
          <p:nvPr/>
        </p:nvGraphicFramePr>
        <p:xfrm>
          <a:off x="777240" y="2194560"/>
          <a:ext cx="4297680" cy="3108960"/>
        </p:xfrm>
        <a:graphic>
          <a:graphicData uri="http://schemas.openxmlformats.org/drawingml/2006/chart">
            <c:chart xmlns:c="http://schemas.openxmlformats.org/drawingml/2006/chart" xmlns:r="http://schemas.openxmlformats.org/officeDocument/2006/relationships" r:id="rId3"/>
          </a:graphicData>
        </a:graphic>
      </p:graphicFrame>
      <p:sp>
        <p:nvSpPr>
          <p:cNvPr id="8" name="TextBox 7"/>
          <p:cNvSpPr txBox="1"/>
          <p:nvPr/>
        </p:nvSpPr>
        <p:spPr>
          <a:xfrm>
            <a:off x="777240" y="5440680"/>
            <a:ext cx="4297680" cy="457200"/>
          </a:xfrm>
          <a:prstGeom prst="rect">
            <a:avLst/>
          </a:prstGeom>
          <a:noFill/>
        </p:spPr>
        <p:txBody>
          <a:bodyPr wrap="square" lIns="0" tIns="0" rIns="0" bIns="0" anchor="t">
            <a:spAutoFit/>
          </a:bodyPr>
          <a:lstStyle/>
          <a:p>
            <a:pPr algn="ctr">
              <a:lnSpc>
                <a:spcPct val="100000"/>
              </a:lnSpc>
            </a:pPr>
            <a:r>
              <a:rPr sz="2400" b="0">
                <a:solidFill>
                  <a:srgbClr val="F2A900"/>
                </a:solidFill>
                <a:latin typeface="Segoe UI Semibold"/>
              </a:rPr>
              <a:t>9x faster</a:t>
            </a:r>
          </a:p>
        </p:txBody>
      </p:sp>
      <p:sp>
        <p:nvSpPr>
          <p:cNvPr id="9" name="Rounded Rectangle 8"/>
          <p:cNvSpPr/>
          <p:nvPr/>
        </p:nvSpPr>
        <p:spPr>
          <a:xfrm>
            <a:off x="5532120" y="1645920"/>
            <a:ext cx="6080760" cy="786384"/>
          </a:xfrm>
          <a:prstGeom prst="roundRect">
            <a:avLst>
              <a:gd name="adj" fmla="val 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Rounded Rectangle 9"/>
          <p:cNvSpPr/>
          <p:nvPr/>
        </p:nvSpPr>
        <p:spPr>
          <a:xfrm>
            <a:off x="5669280" y="1847088"/>
            <a:ext cx="960120" cy="384048"/>
          </a:xfrm>
          <a:prstGeom prst="roundRect">
            <a:avLst>
              <a:gd name="adj" fmla="val 50000"/>
            </a:avLst>
          </a:prstGeom>
          <a:solidFill>
            <a:srgbClr val="1F4E7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5669280" y="1847088"/>
            <a:ext cx="960120" cy="384048"/>
          </a:xfrm>
          <a:prstGeom prst="rect">
            <a:avLst/>
          </a:prstGeom>
          <a:noFill/>
        </p:spPr>
        <p:txBody>
          <a:bodyPr wrap="square" lIns="0" tIns="0" rIns="0" bIns="0" anchor="ctr">
            <a:spAutoFit/>
          </a:bodyPr>
          <a:lstStyle/>
          <a:p>
            <a:pPr algn="ctr">
              <a:lnSpc>
                <a:spcPct val="100000"/>
              </a:lnSpc>
            </a:pPr>
            <a:r>
              <a:rPr sz="1000" b="1">
                <a:solidFill>
                  <a:srgbClr val="FFFFFF"/>
                </a:solidFill>
                <a:latin typeface="Segoe UI"/>
              </a:rPr>
              <a:t>SQL</a:t>
            </a:r>
          </a:p>
        </p:txBody>
      </p:sp>
      <p:sp>
        <p:nvSpPr>
          <p:cNvPr id="12" name="TextBox 11"/>
          <p:cNvSpPr txBox="1"/>
          <p:nvPr/>
        </p:nvSpPr>
        <p:spPr>
          <a:xfrm>
            <a:off x="6766560" y="1700784"/>
            <a:ext cx="4754880" cy="365760"/>
          </a:xfrm>
          <a:prstGeom prst="rect">
            <a:avLst/>
          </a:prstGeom>
          <a:noFill/>
        </p:spPr>
        <p:txBody>
          <a:bodyPr wrap="square" lIns="0" tIns="0" rIns="0" bIns="0" anchor="t">
            <a:spAutoFit/>
          </a:bodyPr>
          <a:lstStyle/>
          <a:p>
            <a:pPr algn="l">
              <a:lnSpc>
                <a:spcPct val="100000"/>
              </a:lnSpc>
            </a:pPr>
            <a:r>
              <a:rPr sz="1200" b="0">
                <a:solidFill>
                  <a:srgbClr val="24323F"/>
                </a:solidFill>
                <a:latin typeface="Segoe UI"/>
              </a:rPr>
              <a:t>Pre-aggregated over table; indexes on fact keys and season</a:t>
            </a:r>
          </a:p>
        </p:txBody>
      </p:sp>
      <p:sp>
        <p:nvSpPr>
          <p:cNvPr id="13" name="TextBox 12"/>
          <p:cNvSpPr txBox="1"/>
          <p:nvPr/>
        </p:nvSpPr>
        <p:spPr>
          <a:xfrm>
            <a:off x="6766560" y="2048256"/>
            <a:ext cx="4754880" cy="320040"/>
          </a:xfrm>
          <a:prstGeom prst="rect">
            <a:avLst/>
          </a:prstGeom>
          <a:noFill/>
        </p:spPr>
        <p:txBody>
          <a:bodyPr wrap="square" lIns="0" tIns="0" rIns="0" bIns="0" anchor="t">
            <a:spAutoFit/>
          </a:bodyPr>
          <a:lstStyle/>
          <a:p>
            <a:pPr algn="l">
              <a:lnSpc>
                <a:spcPct val="100000"/>
              </a:lnSpc>
            </a:pPr>
            <a:r>
              <a:rPr sz="1100" b="1">
                <a:solidFill>
                  <a:srgbClr val="1F4E79"/>
                </a:solidFill>
                <a:latin typeface="Segoe UI"/>
              </a:rPr>
              <a:t>9x faster · all views in 176 ms</a:t>
            </a:r>
          </a:p>
        </p:txBody>
      </p:sp>
      <p:sp>
        <p:nvSpPr>
          <p:cNvPr id="14" name="Rounded Rectangle 13"/>
          <p:cNvSpPr/>
          <p:nvPr/>
        </p:nvSpPr>
        <p:spPr>
          <a:xfrm>
            <a:off x="5532120" y="2551176"/>
            <a:ext cx="6080760" cy="786384"/>
          </a:xfrm>
          <a:prstGeom prst="roundRect">
            <a:avLst>
              <a:gd name="adj" fmla="val 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Rounded Rectangle 14"/>
          <p:cNvSpPr/>
          <p:nvPr/>
        </p:nvSpPr>
        <p:spPr>
          <a:xfrm>
            <a:off x="5669280" y="2752344"/>
            <a:ext cx="960120" cy="384048"/>
          </a:xfrm>
          <a:prstGeom prst="roundRect">
            <a:avLst>
              <a:gd name="adj" fmla="val 50000"/>
            </a:avLst>
          </a:prstGeom>
          <a:solidFill>
            <a:srgbClr val="1F4E7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5669280" y="2752344"/>
            <a:ext cx="960120" cy="384048"/>
          </a:xfrm>
          <a:prstGeom prst="rect">
            <a:avLst/>
          </a:prstGeom>
          <a:noFill/>
        </p:spPr>
        <p:txBody>
          <a:bodyPr wrap="square" lIns="0" tIns="0" rIns="0" bIns="0" anchor="ctr">
            <a:spAutoFit/>
          </a:bodyPr>
          <a:lstStyle/>
          <a:p>
            <a:pPr algn="ctr">
              <a:lnSpc>
                <a:spcPct val="100000"/>
              </a:lnSpc>
            </a:pPr>
            <a:r>
              <a:rPr sz="1000" b="1">
                <a:solidFill>
                  <a:srgbClr val="FFFFFF"/>
                </a:solidFill>
                <a:latin typeface="Segoe UI"/>
              </a:rPr>
              <a:t>Alteryx</a:t>
            </a:r>
          </a:p>
        </p:txBody>
      </p:sp>
      <p:sp>
        <p:nvSpPr>
          <p:cNvPr id="17" name="TextBox 16"/>
          <p:cNvSpPr txBox="1"/>
          <p:nvPr/>
        </p:nvSpPr>
        <p:spPr>
          <a:xfrm>
            <a:off x="6766560" y="2606040"/>
            <a:ext cx="4754880" cy="365760"/>
          </a:xfrm>
          <a:prstGeom prst="rect">
            <a:avLst/>
          </a:prstGeom>
          <a:noFill/>
        </p:spPr>
        <p:txBody>
          <a:bodyPr wrap="square" lIns="0" tIns="0" rIns="0" bIns="0" anchor="t">
            <a:spAutoFit/>
          </a:bodyPr>
          <a:lstStyle/>
          <a:p>
            <a:pPr algn="l">
              <a:lnSpc>
                <a:spcPct val="100000"/>
              </a:lnSpc>
            </a:pPr>
            <a:r>
              <a:rPr sz="1200" b="0">
                <a:solidFill>
                  <a:srgbClr val="24323F"/>
                </a:solidFill>
                <a:latin typeface="Segoe UI"/>
              </a:rPr>
              <a:t>Only new or changed files validated (content hash)</a:t>
            </a:r>
          </a:p>
        </p:txBody>
      </p:sp>
      <p:sp>
        <p:nvSpPr>
          <p:cNvPr id="18" name="TextBox 17"/>
          <p:cNvSpPr txBox="1"/>
          <p:nvPr/>
        </p:nvSpPr>
        <p:spPr>
          <a:xfrm>
            <a:off x="6766560" y="2953512"/>
            <a:ext cx="4754880" cy="320040"/>
          </a:xfrm>
          <a:prstGeom prst="rect">
            <a:avLst/>
          </a:prstGeom>
          <a:noFill/>
        </p:spPr>
        <p:txBody>
          <a:bodyPr wrap="square" lIns="0" tIns="0" rIns="0" bIns="0" anchor="t">
            <a:spAutoFit/>
          </a:bodyPr>
          <a:lstStyle/>
          <a:p>
            <a:pPr algn="l">
              <a:lnSpc>
                <a:spcPct val="100000"/>
              </a:lnSpc>
            </a:pPr>
            <a:r>
              <a:rPr sz="1100" b="1">
                <a:solidFill>
                  <a:srgbClr val="1F4E79"/>
                </a:solidFill>
                <a:latin typeface="Segoe UI"/>
              </a:rPr>
              <a:t>a rerun skips 128 unchanged files</a:t>
            </a:r>
          </a:p>
        </p:txBody>
      </p:sp>
      <p:sp>
        <p:nvSpPr>
          <p:cNvPr id="19" name="Rounded Rectangle 18"/>
          <p:cNvSpPr/>
          <p:nvPr/>
        </p:nvSpPr>
        <p:spPr>
          <a:xfrm>
            <a:off x="5532120" y="3456432"/>
            <a:ext cx="6080760" cy="786384"/>
          </a:xfrm>
          <a:prstGeom prst="roundRect">
            <a:avLst>
              <a:gd name="adj" fmla="val 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Rounded Rectangle 19"/>
          <p:cNvSpPr/>
          <p:nvPr/>
        </p:nvSpPr>
        <p:spPr>
          <a:xfrm>
            <a:off x="5669280" y="3657600"/>
            <a:ext cx="960120" cy="384048"/>
          </a:xfrm>
          <a:prstGeom prst="roundRect">
            <a:avLst>
              <a:gd name="adj" fmla="val 50000"/>
            </a:avLst>
          </a:prstGeom>
          <a:solidFill>
            <a:srgbClr val="1F4E7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5669280" y="3657600"/>
            <a:ext cx="960120" cy="384048"/>
          </a:xfrm>
          <a:prstGeom prst="rect">
            <a:avLst/>
          </a:prstGeom>
          <a:noFill/>
        </p:spPr>
        <p:txBody>
          <a:bodyPr wrap="square" lIns="0" tIns="0" rIns="0" bIns="0" anchor="ctr">
            <a:spAutoFit/>
          </a:bodyPr>
          <a:lstStyle/>
          <a:p>
            <a:pPr algn="ctr">
              <a:lnSpc>
                <a:spcPct val="100000"/>
              </a:lnSpc>
            </a:pPr>
            <a:r>
              <a:rPr sz="1000" b="1">
                <a:solidFill>
                  <a:srgbClr val="FFFFFF"/>
                </a:solidFill>
                <a:latin typeface="Segoe UI"/>
              </a:rPr>
              <a:t>Alteryx</a:t>
            </a:r>
          </a:p>
        </p:txBody>
      </p:sp>
      <p:sp>
        <p:nvSpPr>
          <p:cNvPr id="22" name="TextBox 21"/>
          <p:cNvSpPr txBox="1"/>
          <p:nvPr/>
        </p:nvSpPr>
        <p:spPr>
          <a:xfrm>
            <a:off x="6766560" y="3511296"/>
            <a:ext cx="4754880" cy="365760"/>
          </a:xfrm>
          <a:prstGeom prst="rect">
            <a:avLst/>
          </a:prstGeom>
          <a:noFill/>
        </p:spPr>
        <p:txBody>
          <a:bodyPr wrap="square" lIns="0" tIns="0" rIns="0" bIns="0" anchor="t">
            <a:spAutoFit/>
          </a:bodyPr>
          <a:lstStyle/>
          <a:p>
            <a:pPr algn="l">
              <a:lnSpc>
                <a:spcPct val="100000"/>
              </a:lnSpc>
            </a:pPr>
            <a:r>
              <a:rPr sz="1200" b="0">
                <a:solidFill>
                  <a:srgbClr val="24323F"/>
                </a:solidFill>
                <a:latin typeface="Segoe UI"/>
              </a:rPr>
              <a:t>43 rules run set-based inside SQL Server</a:t>
            </a:r>
          </a:p>
        </p:txBody>
      </p:sp>
      <p:sp>
        <p:nvSpPr>
          <p:cNvPr id="23" name="TextBox 22"/>
          <p:cNvSpPr txBox="1"/>
          <p:nvPr/>
        </p:nvSpPr>
        <p:spPr>
          <a:xfrm>
            <a:off x="6766560" y="3858768"/>
            <a:ext cx="4754880" cy="320040"/>
          </a:xfrm>
          <a:prstGeom prst="rect">
            <a:avLst/>
          </a:prstGeom>
          <a:noFill/>
        </p:spPr>
        <p:txBody>
          <a:bodyPr wrap="square" lIns="0" tIns="0" rIns="0" bIns="0" anchor="t">
            <a:spAutoFit/>
          </a:bodyPr>
          <a:lstStyle/>
          <a:p>
            <a:pPr algn="l">
              <a:lnSpc>
                <a:spcPct val="100000"/>
              </a:lnSpc>
            </a:pPr>
            <a:r>
              <a:rPr sz="1100" b="1">
                <a:solidFill>
                  <a:srgbClr val="1F4E79"/>
                </a:solidFill>
                <a:latin typeface="Segoe UI"/>
              </a:rPr>
              <a:t>one query per rule, not row by row</a:t>
            </a:r>
          </a:p>
        </p:txBody>
      </p:sp>
      <p:sp>
        <p:nvSpPr>
          <p:cNvPr id="24" name="Rounded Rectangle 23"/>
          <p:cNvSpPr/>
          <p:nvPr/>
        </p:nvSpPr>
        <p:spPr>
          <a:xfrm>
            <a:off x="5532120" y="4361688"/>
            <a:ext cx="6080760" cy="786384"/>
          </a:xfrm>
          <a:prstGeom prst="roundRect">
            <a:avLst>
              <a:gd name="adj" fmla="val 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Rounded Rectangle 24"/>
          <p:cNvSpPr/>
          <p:nvPr/>
        </p:nvSpPr>
        <p:spPr>
          <a:xfrm>
            <a:off x="5669280" y="4562855"/>
            <a:ext cx="960120" cy="384048"/>
          </a:xfrm>
          <a:prstGeom prst="roundRect">
            <a:avLst>
              <a:gd name="adj" fmla="val 50000"/>
            </a:avLst>
          </a:prstGeom>
          <a:solidFill>
            <a:srgbClr val="1F4E7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Box 25"/>
          <p:cNvSpPr txBox="1"/>
          <p:nvPr/>
        </p:nvSpPr>
        <p:spPr>
          <a:xfrm>
            <a:off x="5669280" y="4562855"/>
            <a:ext cx="960120" cy="384048"/>
          </a:xfrm>
          <a:prstGeom prst="rect">
            <a:avLst/>
          </a:prstGeom>
          <a:noFill/>
        </p:spPr>
        <p:txBody>
          <a:bodyPr wrap="square" lIns="0" tIns="0" rIns="0" bIns="0" anchor="ctr">
            <a:spAutoFit/>
          </a:bodyPr>
          <a:lstStyle/>
          <a:p>
            <a:pPr algn="ctr">
              <a:lnSpc>
                <a:spcPct val="100000"/>
              </a:lnSpc>
            </a:pPr>
            <a:r>
              <a:rPr sz="1000" b="1">
                <a:solidFill>
                  <a:srgbClr val="FFFFFF"/>
                </a:solidFill>
                <a:latin typeface="Segoe UI"/>
              </a:rPr>
              <a:t>Load</a:t>
            </a:r>
          </a:p>
        </p:txBody>
      </p:sp>
      <p:sp>
        <p:nvSpPr>
          <p:cNvPr id="27" name="TextBox 26"/>
          <p:cNvSpPr txBox="1"/>
          <p:nvPr/>
        </p:nvSpPr>
        <p:spPr>
          <a:xfrm>
            <a:off x="6766560" y="4416551"/>
            <a:ext cx="4754880" cy="365760"/>
          </a:xfrm>
          <a:prstGeom prst="rect">
            <a:avLst/>
          </a:prstGeom>
          <a:noFill/>
        </p:spPr>
        <p:txBody>
          <a:bodyPr wrap="square" lIns="0" tIns="0" rIns="0" bIns="0" anchor="t">
            <a:spAutoFit/>
          </a:bodyPr>
          <a:lstStyle/>
          <a:p>
            <a:pPr algn="l">
              <a:lnSpc>
                <a:spcPct val="100000"/>
              </a:lnSpc>
            </a:pPr>
            <a:r>
              <a:rPr sz="1200" b="0">
                <a:solidFill>
                  <a:srgbClr val="24323F"/>
                </a:solidFill>
                <a:latin typeface="Segoe UI"/>
              </a:rPr>
              <a:t>One stream, one stored-procedure publish</a:t>
            </a:r>
          </a:p>
        </p:txBody>
      </p:sp>
      <p:sp>
        <p:nvSpPr>
          <p:cNvPr id="28" name="TextBox 27"/>
          <p:cNvSpPr txBox="1"/>
          <p:nvPr/>
        </p:nvSpPr>
        <p:spPr>
          <a:xfrm>
            <a:off x="6766560" y="4764024"/>
            <a:ext cx="4754880" cy="320040"/>
          </a:xfrm>
          <a:prstGeom prst="rect">
            <a:avLst/>
          </a:prstGeom>
          <a:noFill/>
        </p:spPr>
        <p:txBody>
          <a:bodyPr wrap="square" lIns="0" tIns="0" rIns="0" bIns="0" anchor="t">
            <a:spAutoFit/>
          </a:bodyPr>
          <a:lstStyle/>
          <a:p>
            <a:pPr algn="l">
              <a:lnSpc>
                <a:spcPct val="100000"/>
              </a:lnSpc>
            </a:pPr>
            <a:r>
              <a:rPr sz="1100" b="1">
                <a:solidFill>
                  <a:srgbClr val="1F4E79"/>
                </a:solidFill>
                <a:latin typeface="Segoe UI"/>
              </a:rPr>
              <a:t>one transaction per run</a:t>
            </a:r>
          </a:p>
        </p:txBody>
      </p:sp>
      <p:sp>
        <p:nvSpPr>
          <p:cNvPr id="29" name="Rounded Rectangle 28"/>
          <p:cNvSpPr/>
          <p:nvPr/>
        </p:nvSpPr>
        <p:spPr>
          <a:xfrm>
            <a:off x="5532120" y="5266944"/>
            <a:ext cx="6080760" cy="786384"/>
          </a:xfrm>
          <a:prstGeom prst="roundRect">
            <a:avLst>
              <a:gd name="adj" fmla="val 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Rounded Rectangle 29"/>
          <p:cNvSpPr/>
          <p:nvPr/>
        </p:nvSpPr>
        <p:spPr>
          <a:xfrm>
            <a:off x="5669280" y="5468112"/>
            <a:ext cx="960120" cy="384048"/>
          </a:xfrm>
          <a:prstGeom prst="roundRect">
            <a:avLst>
              <a:gd name="adj" fmla="val 50000"/>
            </a:avLst>
          </a:prstGeom>
          <a:solidFill>
            <a:srgbClr val="F2A9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TextBox 30"/>
          <p:cNvSpPr txBox="1"/>
          <p:nvPr/>
        </p:nvSpPr>
        <p:spPr>
          <a:xfrm>
            <a:off x="5669280" y="5468112"/>
            <a:ext cx="960120" cy="384048"/>
          </a:xfrm>
          <a:prstGeom prst="rect">
            <a:avLst/>
          </a:prstGeom>
          <a:noFill/>
        </p:spPr>
        <p:txBody>
          <a:bodyPr wrap="square" lIns="0" tIns="0" rIns="0" bIns="0" anchor="ctr">
            <a:spAutoFit/>
          </a:bodyPr>
          <a:lstStyle/>
          <a:p>
            <a:pPr algn="ctr">
              <a:lnSpc>
                <a:spcPct val="100000"/>
              </a:lnSpc>
            </a:pPr>
            <a:r>
              <a:rPr sz="1000" b="1">
                <a:solidFill>
                  <a:srgbClr val="1F4E79"/>
                </a:solidFill>
                <a:latin typeface="Segoe UI"/>
              </a:rPr>
              <a:t>Tableau</a:t>
            </a:r>
          </a:p>
        </p:txBody>
      </p:sp>
      <p:sp>
        <p:nvSpPr>
          <p:cNvPr id="32" name="TextBox 31"/>
          <p:cNvSpPr txBox="1"/>
          <p:nvPr/>
        </p:nvSpPr>
        <p:spPr>
          <a:xfrm>
            <a:off x="6766560" y="5321807"/>
            <a:ext cx="4754880" cy="365760"/>
          </a:xfrm>
          <a:prstGeom prst="rect">
            <a:avLst/>
          </a:prstGeom>
          <a:noFill/>
        </p:spPr>
        <p:txBody>
          <a:bodyPr wrap="square" lIns="0" tIns="0" rIns="0" bIns="0" anchor="t">
            <a:spAutoFit/>
          </a:bodyPr>
          <a:lstStyle/>
          <a:p>
            <a:pPr algn="l">
              <a:lnSpc>
                <a:spcPct val="100000"/>
              </a:lnSpc>
            </a:pPr>
            <a:r>
              <a:rPr sz="1200" b="0">
                <a:solidFill>
                  <a:srgbClr val="24323F"/>
                </a:solidFill>
                <a:latin typeface="Segoe UI"/>
              </a:rPr>
              <a:t>One extract per view, already at dashboard grain</a:t>
            </a:r>
          </a:p>
        </p:txBody>
      </p:sp>
      <p:sp>
        <p:nvSpPr>
          <p:cNvPr id="33" name="TextBox 32"/>
          <p:cNvSpPr txBox="1"/>
          <p:nvPr/>
        </p:nvSpPr>
        <p:spPr>
          <a:xfrm>
            <a:off x="6766560" y="5669280"/>
            <a:ext cx="4754880" cy="320040"/>
          </a:xfrm>
          <a:prstGeom prst="rect">
            <a:avLst/>
          </a:prstGeom>
          <a:noFill/>
        </p:spPr>
        <p:txBody>
          <a:bodyPr wrap="square" lIns="0" tIns="0" rIns="0" bIns="0" anchor="t">
            <a:spAutoFit/>
          </a:bodyPr>
          <a:lstStyle/>
          <a:p>
            <a:pPr algn="l">
              <a:lnSpc>
                <a:spcPct val="100000"/>
              </a:lnSpc>
            </a:pPr>
            <a:r>
              <a:rPr sz="1100" b="1">
                <a:solidFill>
                  <a:srgbClr val="1F4E79"/>
                </a:solidFill>
                <a:latin typeface="Segoe UI"/>
              </a:rPr>
              <a:t>Match centre queries: 0.19 s</a:t>
            </a:r>
          </a:p>
        </p:txBody>
      </p:sp>
      <p:sp>
        <p:nvSpPr>
          <p:cNvPr id="34" name="TextBox 33"/>
          <p:cNvSpPr txBox="1"/>
          <p:nvPr/>
        </p:nvSpPr>
        <p:spPr>
          <a:xfrm>
            <a:off x="548640" y="6428232"/>
            <a:ext cx="5486400" cy="228600"/>
          </a:xfrm>
          <a:prstGeom prst="rect">
            <a:avLst/>
          </a:prstGeom>
          <a:noFill/>
        </p:spPr>
        <p:txBody>
          <a:bodyPr wrap="square" lIns="0" tIns="0" rIns="0" bIns="0" anchor="t">
            <a:spAutoFit/>
          </a:bodyPr>
          <a:lstStyle/>
          <a:p>
            <a:pPr algn="l">
              <a:lnSpc>
                <a:spcPct val="100000"/>
              </a:lnSpc>
            </a:pPr>
            <a:r>
              <a:rPr sz="1000" b="0">
                <a:solidFill>
                  <a:srgbClr val="6B7785"/>
                </a:solidFill>
                <a:latin typeface="Segoe UI"/>
              </a:rPr>
              <a:t>Cricket Analytics Platform</a:t>
            </a:r>
          </a:p>
        </p:txBody>
      </p:sp>
      <p:sp>
        <p:nvSpPr>
          <p:cNvPr id="35" name="TextBox 34"/>
          <p:cNvSpPr txBox="1"/>
          <p:nvPr/>
        </p:nvSpPr>
        <p:spPr>
          <a:xfrm>
            <a:off x="10725912" y="6428232"/>
            <a:ext cx="914400" cy="228600"/>
          </a:xfrm>
          <a:prstGeom prst="rect">
            <a:avLst/>
          </a:prstGeom>
          <a:noFill/>
        </p:spPr>
        <p:txBody>
          <a:bodyPr wrap="square" lIns="0" tIns="0" rIns="0" bIns="0" anchor="t">
            <a:spAutoFit/>
          </a:bodyPr>
          <a:lstStyle/>
          <a:p>
            <a:pPr algn="r">
              <a:lnSpc>
                <a:spcPct val="100000"/>
              </a:lnSpc>
            </a:pPr>
            <a:r>
              <a:rPr sz="1000" b="0">
                <a:solidFill>
                  <a:srgbClr val="6B7785"/>
                </a:solidFill>
                <a:latin typeface="Segoe UI"/>
              </a:rPr>
              <a:t>19</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rgbClr val="EEF2F6"/>
        </a:solidFill>
        <a:effectLst/>
      </p:bgPr>
    </p:bg>
    <p:spTree>
      <p:nvGrpSpPr>
        <p:cNvPr id="1" name=""/>
        <p:cNvGrpSpPr/>
        <p:nvPr/>
      </p:nvGrpSpPr>
      <p:grpSpPr>
        <a:xfrm>
          <a:off x="0" y="0"/>
          <a:ext cx="0" cy="0"/>
          <a:chOff x="0" y="0"/>
          <a:chExt cx="0" cy="0"/>
        </a:xfrm>
      </p:grpSpPr>
      <p:sp>
        <p:nvSpPr>
          <p:cNvPr id="2" name="TextBox 1"/>
          <p:cNvSpPr txBox="1"/>
          <p:nvPr/>
        </p:nvSpPr>
        <p:spPr>
          <a:xfrm>
            <a:off x="548640" y="146304"/>
            <a:ext cx="10058400" cy="256032"/>
          </a:xfrm>
          <a:prstGeom prst="rect">
            <a:avLst/>
          </a:prstGeom>
          <a:noFill/>
        </p:spPr>
        <p:txBody>
          <a:bodyPr wrap="square" lIns="0" tIns="0" rIns="0" bIns="0" anchor="t">
            <a:spAutoFit/>
          </a:bodyPr>
          <a:lstStyle/>
          <a:p>
            <a:pPr algn="l">
              <a:lnSpc>
                <a:spcPct val="100000"/>
              </a:lnSpc>
            </a:pPr>
            <a:r>
              <a:rPr sz="1000" b="1">
                <a:solidFill>
                  <a:srgbClr val="F2A900"/>
                </a:solidFill>
                <a:latin typeface="Segoe UI"/>
              </a:rPr>
              <a:t>11  ·  DEPLOYMENT APPROACH</a:t>
            </a:r>
            <a:r>
              <a:rPr sz="1000" b="0">
                <a:solidFill>
                  <a:srgbClr val="6B7785"/>
                </a:solidFill>
                <a:latin typeface="Segoe UI"/>
              </a:rPr>
              <a:t>     Brief §12</a:t>
            </a:r>
          </a:p>
        </p:txBody>
      </p:sp>
      <p:sp>
        <p:nvSpPr>
          <p:cNvPr id="3" name="TextBox 2"/>
          <p:cNvSpPr txBox="1"/>
          <p:nvPr/>
        </p:nvSpPr>
        <p:spPr>
          <a:xfrm>
            <a:off x="548640" y="411480"/>
            <a:ext cx="11064240" cy="640080"/>
          </a:xfrm>
          <a:prstGeom prst="rect">
            <a:avLst/>
          </a:prstGeom>
          <a:noFill/>
        </p:spPr>
        <p:txBody>
          <a:bodyPr wrap="square" lIns="0" tIns="0" rIns="0" bIns="0" anchor="t">
            <a:spAutoFit/>
          </a:bodyPr>
          <a:lstStyle/>
          <a:p>
            <a:pPr algn="l">
              <a:lnSpc>
                <a:spcPct val="100000"/>
              </a:lnSpc>
            </a:pPr>
            <a:r>
              <a:rPr sz="3200" b="0">
                <a:solidFill>
                  <a:srgbClr val="1F4E79"/>
                </a:solidFill>
                <a:latin typeface="Segoe UI Semibold"/>
              </a:rPr>
              <a:t>Deployment approach</a:t>
            </a:r>
          </a:p>
        </p:txBody>
      </p:sp>
      <p:sp>
        <p:nvSpPr>
          <p:cNvPr id="4" name="TextBox 3"/>
          <p:cNvSpPr txBox="1"/>
          <p:nvPr/>
        </p:nvSpPr>
        <p:spPr>
          <a:xfrm>
            <a:off x="548640" y="1024128"/>
            <a:ext cx="11064240" cy="411480"/>
          </a:xfrm>
          <a:prstGeom prst="rect">
            <a:avLst/>
          </a:prstGeom>
          <a:noFill/>
        </p:spPr>
        <p:txBody>
          <a:bodyPr wrap="square" lIns="0" tIns="0" rIns="0" bIns="0" anchor="t">
            <a:spAutoFit/>
          </a:bodyPr>
          <a:lstStyle/>
          <a:p>
            <a:pPr algn="l">
              <a:lnSpc>
                <a:spcPct val="100000"/>
              </a:lnSpc>
            </a:pPr>
            <a:r>
              <a:rPr sz="1500" b="0">
                <a:solidFill>
                  <a:srgbClr val="6B7785"/>
                </a:solidFill>
                <a:latin typeface="Segoe UI"/>
              </a:rPr>
              <a:t>Rebuilt on any Windows PC from the README, with one setting to enter</a:t>
            </a:r>
          </a:p>
        </p:txBody>
      </p:sp>
      <p:sp>
        <p:nvSpPr>
          <p:cNvPr id="5" name="Oval 4"/>
          <p:cNvSpPr/>
          <p:nvPr/>
        </p:nvSpPr>
        <p:spPr>
          <a:xfrm>
            <a:off x="891540" y="1805940"/>
            <a:ext cx="868680" cy="868680"/>
          </a:xfrm>
          <a:prstGeom prst="ellipse">
            <a:avLst/>
          </a:prstGeom>
          <a:solidFill>
            <a:srgbClr val="1F4E7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Cloud 5"/>
          <p:cNvSpPr/>
          <p:nvPr/>
        </p:nvSpPr>
        <p:spPr>
          <a:xfrm>
            <a:off x="1065276" y="2066544"/>
            <a:ext cx="521208" cy="347472"/>
          </a:xfrm>
          <a:prstGeom prst="cloud">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411479" y="2788920"/>
            <a:ext cx="1828800" cy="365760"/>
          </a:xfrm>
          <a:prstGeom prst="rect">
            <a:avLst/>
          </a:prstGeom>
          <a:noFill/>
        </p:spPr>
        <p:txBody>
          <a:bodyPr wrap="square" lIns="0" tIns="0" rIns="0" bIns="0" anchor="t">
            <a:spAutoFit/>
          </a:bodyPr>
          <a:lstStyle/>
          <a:p>
            <a:pPr algn="ctr">
              <a:lnSpc>
                <a:spcPct val="100000"/>
              </a:lnSpc>
            </a:pPr>
            <a:r>
              <a:rPr sz="1600" b="0">
                <a:solidFill>
                  <a:srgbClr val="24323F"/>
                </a:solidFill>
                <a:latin typeface="Segoe UI Semibold"/>
              </a:rPr>
              <a:t>Install</a:t>
            </a:r>
          </a:p>
        </p:txBody>
      </p:sp>
      <p:sp>
        <p:nvSpPr>
          <p:cNvPr id="8" name="TextBox 7"/>
          <p:cNvSpPr txBox="1"/>
          <p:nvPr/>
        </p:nvSpPr>
        <p:spPr>
          <a:xfrm>
            <a:off x="411479" y="3172968"/>
            <a:ext cx="1828800" cy="822960"/>
          </a:xfrm>
          <a:prstGeom prst="rect">
            <a:avLst/>
          </a:prstGeom>
          <a:noFill/>
        </p:spPr>
        <p:txBody>
          <a:bodyPr wrap="square" lIns="0" tIns="0" rIns="0" bIns="0" anchor="t">
            <a:spAutoFit/>
          </a:bodyPr>
          <a:lstStyle/>
          <a:p>
            <a:pPr algn="ctr">
              <a:lnSpc>
                <a:spcPct val="100000"/>
              </a:lnSpc>
            </a:pPr>
            <a:r>
              <a:rPr sz="1100" b="0">
                <a:solidFill>
                  <a:srgbClr val="6B7785"/>
                </a:solidFill>
                <a:latin typeface="Segoe UI"/>
              </a:rPr>
              <a:t>SQL Server Express,
Alteryx trial, Tableau
Public, Python</a:t>
            </a:r>
          </a:p>
        </p:txBody>
      </p:sp>
      <p:cxnSp>
        <p:nvCxnSpPr>
          <p:cNvPr id="9" name="Connector 8"/>
          <p:cNvCxnSpPr/>
          <p:nvPr/>
        </p:nvCxnSpPr>
        <p:spPr>
          <a:xfrm>
            <a:off x="1856231" y="2240280"/>
            <a:ext cx="841249" cy="0"/>
          </a:xfrm>
          <a:prstGeom prst="line">
            <a:avLst/>
          </a:prstGeom>
          <a:ln w="22225">
            <a:solidFill>
              <a:srgbClr val="C3CBD4"/>
            </a:solidFill>
            <a:tailEnd type="triangle" w="med" len="med"/>
          </a:ln>
        </p:spPr>
        <p:style>
          <a:lnRef idx="2">
            <a:schemeClr val="accent1"/>
          </a:lnRef>
          <a:fillRef idx="0">
            <a:schemeClr val="accent1"/>
          </a:fillRef>
          <a:effectRef idx="1">
            <a:schemeClr val="accent1"/>
          </a:effectRef>
          <a:fontRef idx="minor">
            <a:schemeClr val="tx1"/>
          </a:fontRef>
        </p:style>
      </p:cxnSp>
      <p:sp>
        <p:nvSpPr>
          <p:cNvPr id="10" name="Oval 9"/>
          <p:cNvSpPr/>
          <p:nvPr/>
        </p:nvSpPr>
        <p:spPr>
          <a:xfrm>
            <a:off x="2793492" y="1805940"/>
            <a:ext cx="868680" cy="868680"/>
          </a:xfrm>
          <a:prstGeom prst="ellipse">
            <a:avLst/>
          </a:prstGeom>
          <a:solidFill>
            <a:srgbClr val="1F4E7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Folded Corner 10"/>
          <p:cNvSpPr/>
          <p:nvPr/>
        </p:nvSpPr>
        <p:spPr>
          <a:xfrm>
            <a:off x="3054096" y="2005736"/>
            <a:ext cx="347472" cy="469087"/>
          </a:xfrm>
          <a:prstGeom prst="foldedCorner">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Rectangle 11"/>
          <p:cNvSpPr/>
          <p:nvPr/>
        </p:nvSpPr>
        <p:spPr>
          <a:xfrm>
            <a:off x="3114903" y="2136038"/>
            <a:ext cx="225856" cy="30403"/>
          </a:xfrm>
          <a:prstGeom prst="rect">
            <a:avLst/>
          </a:prstGeom>
          <a:solidFill>
            <a:srgbClr val="1F4E7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Rectangle 12"/>
          <p:cNvSpPr/>
          <p:nvPr/>
        </p:nvSpPr>
        <p:spPr>
          <a:xfrm>
            <a:off x="3114903" y="2231593"/>
            <a:ext cx="225856" cy="30403"/>
          </a:xfrm>
          <a:prstGeom prst="rect">
            <a:avLst/>
          </a:prstGeom>
          <a:solidFill>
            <a:srgbClr val="1F4E7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Rectangle 13"/>
          <p:cNvSpPr/>
          <p:nvPr/>
        </p:nvSpPr>
        <p:spPr>
          <a:xfrm>
            <a:off x="3114903" y="2327148"/>
            <a:ext cx="225856" cy="30403"/>
          </a:xfrm>
          <a:prstGeom prst="rect">
            <a:avLst/>
          </a:prstGeom>
          <a:solidFill>
            <a:srgbClr val="1F4E7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2313432" y="2788920"/>
            <a:ext cx="1828800" cy="365760"/>
          </a:xfrm>
          <a:prstGeom prst="rect">
            <a:avLst/>
          </a:prstGeom>
          <a:noFill/>
        </p:spPr>
        <p:txBody>
          <a:bodyPr wrap="square" lIns="0" tIns="0" rIns="0" bIns="0" anchor="t">
            <a:spAutoFit/>
          </a:bodyPr>
          <a:lstStyle/>
          <a:p>
            <a:pPr algn="ctr">
              <a:lnSpc>
                <a:spcPct val="100000"/>
              </a:lnSpc>
            </a:pPr>
            <a:r>
              <a:rPr sz="1600" b="0">
                <a:solidFill>
                  <a:srgbClr val="24323F"/>
                </a:solidFill>
                <a:latin typeface="Segoe UI Semibold"/>
              </a:rPr>
              <a:t>Configure</a:t>
            </a:r>
          </a:p>
        </p:txBody>
      </p:sp>
      <p:sp>
        <p:nvSpPr>
          <p:cNvPr id="16" name="TextBox 15"/>
          <p:cNvSpPr txBox="1"/>
          <p:nvPr/>
        </p:nvSpPr>
        <p:spPr>
          <a:xfrm>
            <a:off x="2313432" y="3172968"/>
            <a:ext cx="1828800" cy="822960"/>
          </a:xfrm>
          <a:prstGeom prst="rect">
            <a:avLst/>
          </a:prstGeom>
          <a:noFill/>
        </p:spPr>
        <p:txBody>
          <a:bodyPr wrap="square" lIns="0" tIns="0" rIns="0" bIns="0" anchor="t">
            <a:spAutoFit/>
          </a:bodyPr>
          <a:lstStyle/>
          <a:p>
            <a:pPr algn="ctr">
              <a:lnSpc>
                <a:spcPct val="100000"/>
              </a:lnSpc>
            </a:pPr>
            <a:r>
              <a:rPr sz="1100" b="0">
                <a:solidFill>
                  <a:srgbClr val="6B7785"/>
                </a:solidFill>
                <a:latin typeface="Segoe UI"/>
              </a:rPr>
              <a:t>One file, one value:
SQL_INSTANCE</a:t>
            </a:r>
          </a:p>
        </p:txBody>
      </p:sp>
      <p:cxnSp>
        <p:nvCxnSpPr>
          <p:cNvPr id="17" name="Connector 16"/>
          <p:cNvCxnSpPr/>
          <p:nvPr/>
        </p:nvCxnSpPr>
        <p:spPr>
          <a:xfrm>
            <a:off x="3758184" y="2240280"/>
            <a:ext cx="841248" cy="0"/>
          </a:xfrm>
          <a:prstGeom prst="line">
            <a:avLst/>
          </a:prstGeom>
          <a:ln w="22225">
            <a:solidFill>
              <a:srgbClr val="C3CBD4"/>
            </a:solidFill>
            <a:tailEnd type="triangle" w="med" len="med"/>
          </a:ln>
        </p:spPr>
        <p:style>
          <a:lnRef idx="2">
            <a:schemeClr val="accent1"/>
          </a:lnRef>
          <a:fillRef idx="0">
            <a:schemeClr val="accent1"/>
          </a:fillRef>
          <a:effectRef idx="1">
            <a:schemeClr val="accent1"/>
          </a:effectRef>
          <a:fontRef idx="minor">
            <a:schemeClr val="tx1"/>
          </a:fontRef>
        </p:style>
      </p:cxnSp>
      <p:sp>
        <p:nvSpPr>
          <p:cNvPr id="18" name="Oval 17"/>
          <p:cNvSpPr/>
          <p:nvPr/>
        </p:nvSpPr>
        <p:spPr>
          <a:xfrm>
            <a:off x="4695444" y="1805940"/>
            <a:ext cx="868680" cy="868680"/>
          </a:xfrm>
          <a:prstGeom prst="ellipse">
            <a:avLst/>
          </a:prstGeom>
          <a:solidFill>
            <a:srgbClr val="1F4E7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Can 18"/>
          <p:cNvSpPr/>
          <p:nvPr/>
        </p:nvSpPr>
        <p:spPr>
          <a:xfrm>
            <a:off x="4938674" y="2014423"/>
            <a:ext cx="382219" cy="451713"/>
          </a:xfrm>
          <a:prstGeom prst="can">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4215384" y="2788920"/>
            <a:ext cx="1828800" cy="365760"/>
          </a:xfrm>
          <a:prstGeom prst="rect">
            <a:avLst/>
          </a:prstGeom>
          <a:noFill/>
        </p:spPr>
        <p:txBody>
          <a:bodyPr wrap="square" lIns="0" tIns="0" rIns="0" bIns="0" anchor="t">
            <a:spAutoFit/>
          </a:bodyPr>
          <a:lstStyle/>
          <a:p>
            <a:pPr algn="ctr">
              <a:lnSpc>
                <a:spcPct val="100000"/>
              </a:lnSpc>
            </a:pPr>
            <a:r>
              <a:rPr sz="1600" b="0">
                <a:solidFill>
                  <a:srgbClr val="24323F"/>
                </a:solidFill>
                <a:latin typeface="Segoe UI Semibold"/>
              </a:rPr>
              <a:t>Build</a:t>
            </a:r>
          </a:p>
        </p:txBody>
      </p:sp>
      <p:sp>
        <p:nvSpPr>
          <p:cNvPr id="21" name="TextBox 20"/>
          <p:cNvSpPr txBox="1"/>
          <p:nvPr/>
        </p:nvSpPr>
        <p:spPr>
          <a:xfrm>
            <a:off x="4215384" y="3172968"/>
            <a:ext cx="1828800" cy="822960"/>
          </a:xfrm>
          <a:prstGeom prst="rect">
            <a:avLst/>
          </a:prstGeom>
          <a:noFill/>
        </p:spPr>
        <p:txBody>
          <a:bodyPr wrap="square" lIns="0" tIns="0" rIns="0" bIns="0" anchor="t">
            <a:spAutoFit/>
          </a:bodyPr>
          <a:lstStyle/>
          <a:p>
            <a:pPr algn="ctr">
              <a:lnSpc>
                <a:spcPct val="100000"/>
              </a:lnSpc>
            </a:pPr>
            <a:r>
              <a:rPr sz="1100" b="0">
                <a:solidFill>
                  <a:srgbClr val="6B7785"/>
                </a:solidFill>
                <a:latin typeface="Segoe UI"/>
              </a:rPr>
              <a:t>setup_database.bat
11 scripts, seeded</a:t>
            </a:r>
          </a:p>
        </p:txBody>
      </p:sp>
      <p:cxnSp>
        <p:nvCxnSpPr>
          <p:cNvPr id="22" name="Connector 21"/>
          <p:cNvCxnSpPr/>
          <p:nvPr/>
        </p:nvCxnSpPr>
        <p:spPr>
          <a:xfrm>
            <a:off x="5660136" y="2240280"/>
            <a:ext cx="841248" cy="0"/>
          </a:xfrm>
          <a:prstGeom prst="line">
            <a:avLst/>
          </a:prstGeom>
          <a:ln w="22225">
            <a:solidFill>
              <a:srgbClr val="C3CBD4"/>
            </a:solidFill>
            <a:tailEnd type="triangle" w="med" len="med"/>
          </a:ln>
        </p:spPr>
        <p:style>
          <a:lnRef idx="2">
            <a:schemeClr val="accent1"/>
          </a:lnRef>
          <a:fillRef idx="0">
            <a:schemeClr val="accent1"/>
          </a:fillRef>
          <a:effectRef idx="1">
            <a:schemeClr val="accent1"/>
          </a:effectRef>
          <a:fontRef idx="minor">
            <a:schemeClr val="tx1"/>
          </a:fontRef>
        </p:style>
      </p:cxnSp>
      <p:sp>
        <p:nvSpPr>
          <p:cNvPr id="23" name="Oval 22"/>
          <p:cNvSpPr/>
          <p:nvPr/>
        </p:nvSpPr>
        <p:spPr>
          <a:xfrm>
            <a:off x="6597396" y="1805940"/>
            <a:ext cx="868680" cy="868680"/>
          </a:xfrm>
          <a:prstGeom prst="ellipse">
            <a:avLst/>
          </a:prstGeom>
          <a:solidFill>
            <a:srgbClr val="1F4E7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cxnSp>
        <p:nvCxnSpPr>
          <p:cNvPr id="24" name="Connector 23"/>
          <p:cNvCxnSpPr/>
          <p:nvPr/>
        </p:nvCxnSpPr>
        <p:spPr>
          <a:xfrm flipV="1">
            <a:off x="6823252" y="2049170"/>
            <a:ext cx="312725" cy="191110"/>
          </a:xfrm>
          <a:prstGeom prst="line">
            <a:avLst/>
          </a:prstGeom>
          <a:ln w="30162">
            <a:solidFill>
              <a:srgbClr val="FFFFFF"/>
            </a:solidFill>
          </a:ln>
        </p:spPr>
        <p:style>
          <a:lnRef idx="2">
            <a:schemeClr val="accent1"/>
          </a:lnRef>
          <a:fillRef idx="0">
            <a:schemeClr val="accent1"/>
          </a:fillRef>
          <a:effectRef idx="1">
            <a:schemeClr val="accent1"/>
          </a:effectRef>
          <a:fontRef idx="minor">
            <a:schemeClr val="tx1"/>
          </a:fontRef>
        </p:style>
      </p:cxnSp>
      <p:cxnSp>
        <p:nvCxnSpPr>
          <p:cNvPr id="25" name="Connector 24"/>
          <p:cNvCxnSpPr/>
          <p:nvPr/>
        </p:nvCxnSpPr>
        <p:spPr>
          <a:xfrm>
            <a:off x="6823252" y="2240280"/>
            <a:ext cx="312725" cy="191109"/>
          </a:xfrm>
          <a:prstGeom prst="line">
            <a:avLst/>
          </a:prstGeom>
          <a:ln w="30162">
            <a:solidFill>
              <a:srgbClr val="FFFFFF"/>
            </a:solidFill>
          </a:ln>
        </p:spPr>
        <p:style>
          <a:lnRef idx="2">
            <a:schemeClr val="accent1"/>
          </a:lnRef>
          <a:fillRef idx="0">
            <a:schemeClr val="accent1"/>
          </a:fillRef>
          <a:effectRef idx="1">
            <a:schemeClr val="accent1"/>
          </a:effectRef>
          <a:fontRef idx="minor">
            <a:schemeClr val="tx1"/>
          </a:fontRef>
        </p:style>
      </p:cxnSp>
      <p:cxnSp>
        <p:nvCxnSpPr>
          <p:cNvPr id="26" name="Connector 25"/>
          <p:cNvCxnSpPr/>
          <p:nvPr/>
        </p:nvCxnSpPr>
        <p:spPr>
          <a:xfrm>
            <a:off x="7135977" y="2049170"/>
            <a:ext cx="156363" cy="191110"/>
          </a:xfrm>
          <a:prstGeom prst="line">
            <a:avLst/>
          </a:prstGeom>
          <a:ln w="30162">
            <a:solidFill>
              <a:srgbClr val="FFFFFF"/>
            </a:solidFill>
          </a:ln>
        </p:spPr>
        <p:style>
          <a:lnRef idx="2">
            <a:schemeClr val="accent1"/>
          </a:lnRef>
          <a:fillRef idx="0">
            <a:schemeClr val="accent1"/>
          </a:fillRef>
          <a:effectRef idx="1">
            <a:schemeClr val="accent1"/>
          </a:effectRef>
          <a:fontRef idx="minor">
            <a:schemeClr val="tx1"/>
          </a:fontRef>
        </p:style>
      </p:cxnSp>
      <p:cxnSp>
        <p:nvCxnSpPr>
          <p:cNvPr id="27" name="Connector 26"/>
          <p:cNvCxnSpPr/>
          <p:nvPr/>
        </p:nvCxnSpPr>
        <p:spPr>
          <a:xfrm flipV="1">
            <a:off x="7135977" y="2240280"/>
            <a:ext cx="156363" cy="191109"/>
          </a:xfrm>
          <a:prstGeom prst="line">
            <a:avLst/>
          </a:prstGeom>
          <a:ln w="30162">
            <a:solidFill>
              <a:srgbClr val="FFFFFF"/>
            </a:solidFill>
          </a:ln>
        </p:spPr>
        <p:style>
          <a:lnRef idx="2">
            <a:schemeClr val="accent1"/>
          </a:lnRef>
          <a:fillRef idx="0">
            <a:schemeClr val="accent1"/>
          </a:fillRef>
          <a:effectRef idx="1">
            <a:schemeClr val="accent1"/>
          </a:effectRef>
          <a:fontRef idx="minor">
            <a:schemeClr val="tx1"/>
          </a:fontRef>
        </p:style>
      </p:cxnSp>
      <p:sp>
        <p:nvSpPr>
          <p:cNvPr id="28" name="Oval 27"/>
          <p:cNvSpPr/>
          <p:nvPr/>
        </p:nvSpPr>
        <p:spPr>
          <a:xfrm>
            <a:off x="6749415" y="2166442"/>
            <a:ext cx="147675" cy="147675"/>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Oval 28"/>
          <p:cNvSpPr/>
          <p:nvPr/>
        </p:nvSpPr>
        <p:spPr>
          <a:xfrm>
            <a:off x="7062139" y="1975332"/>
            <a:ext cx="147675" cy="147675"/>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Oval 29"/>
          <p:cNvSpPr/>
          <p:nvPr/>
        </p:nvSpPr>
        <p:spPr>
          <a:xfrm>
            <a:off x="7062139" y="2357551"/>
            <a:ext cx="147675" cy="147675"/>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Oval 30"/>
          <p:cNvSpPr/>
          <p:nvPr/>
        </p:nvSpPr>
        <p:spPr>
          <a:xfrm>
            <a:off x="7218502" y="2166442"/>
            <a:ext cx="147675" cy="147675"/>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TextBox 31"/>
          <p:cNvSpPr txBox="1"/>
          <p:nvPr/>
        </p:nvSpPr>
        <p:spPr>
          <a:xfrm>
            <a:off x="6117336" y="2788920"/>
            <a:ext cx="1828800" cy="365760"/>
          </a:xfrm>
          <a:prstGeom prst="rect">
            <a:avLst/>
          </a:prstGeom>
          <a:noFill/>
        </p:spPr>
        <p:txBody>
          <a:bodyPr wrap="square" lIns="0" tIns="0" rIns="0" bIns="0" anchor="t">
            <a:spAutoFit/>
          </a:bodyPr>
          <a:lstStyle/>
          <a:p>
            <a:pPr algn="ctr">
              <a:lnSpc>
                <a:spcPct val="100000"/>
              </a:lnSpc>
            </a:pPr>
            <a:r>
              <a:rPr sz="1600" b="0">
                <a:solidFill>
                  <a:srgbClr val="24323F"/>
                </a:solidFill>
                <a:latin typeface="Segoe UI Semibold"/>
              </a:rPr>
              <a:t>Connect</a:t>
            </a:r>
          </a:p>
        </p:txBody>
      </p:sp>
      <p:sp>
        <p:nvSpPr>
          <p:cNvPr id="33" name="TextBox 32"/>
          <p:cNvSpPr txBox="1"/>
          <p:nvPr/>
        </p:nvSpPr>
        <p:spPr>
          <a:xfrm>
            <a:off x="6117336" y="3172968"/>
            <a:ext cx="1828800" cy="822960"/>
          </a:xfrm>
          <a:prstGeom prst="rect">
            <a:avLst/>
          </a:prstGeom>
          <a:noFill/>
        </p:spPr>
        <p:txBody>
          <a:bodyPr wrap="square" lIns="0" tIns="0" rIns="0" bIns="0" anchor="t">
            <a:spAutoFit/>
          </a:bodyPr>
          <a:lstStyle/>
          <a:p>
            <a:pPr algn="ctr">
              <a:lnSpc>
                <a:spcPct val="100000"/>
              </a:lnSpc>
            </a:pPr>
            <a:r>
              <a:rPr sz="1100" b="0">
                <a:solidFill>
                  <a:srgbClr val="6B7785"/>
                </a:solidFill>
                <a:latin typeface="Segoe UI"/>
              </a:rPr>
              <a:t>DSN script, 2 Alteryx
connections, relink</a:t>
            </a:r>
          </a:p>
        </p:txBody>
      </p:sp>
      <p:cxnSp>
        <p:nvCxnSpPr>
          <p:cNvPr id="34" name="Connector 33"/>
          <p:cNvCxnSpPr/>
          <p:nvPr/>
        </p:nvCxnSpPr>
        <p:spPr>
          <a:xfrm>
            <a:off x="7562088" y="2240280"/>
            <a:ext cx="841248" cy="0"/>
          </a:xfrm>
          <a:prstGeom prst="line">
            <a:avLst/>
          </a:prstGeom>
          <a:ln w="22225">
            <a:solidFill>
              <a:srgbClr val="C3CBD4"/>
            </a:solidFill>
            <a:tailEnd type="triangle" w="med" len="med"/>
          </a:ln>
        </p:spPr>
        <p:style>
          <a:lnRef idx="2">
            <a:schemeClr val="accent1"/>
          </a:lnRef>
          <a:fillRef idx="0">
            <a:schemeClr val="accent1"/>
          </a:fillRef>
          <a:effectRef idx="1">
            <a:schemeClr val="accent1"/>
          </a:effectRef>
          <a:fontRef idx="minor">
            <a:schemeClr val="tx1"/>
          </a:fontRef>
        </p:style>
      </p:cxnSp>
      <p:sp>
        <p:nvSpPr>
          <p:cNvPr id="35" name="Oval 34"/>
          <p:cNvSpPr/>
          <p:nvPr/>
        </p:nvSpPr>
        <p:spPr>
          <a:xfrm>
            <a:off x="8499348" y="1805940"/>
            <a:ext cx="868680" cy="868680"/>
          </a:xfrm>
          <a:prstGeom prst="ellipse">
            <a:avLst/>
          </a:prstGeom>
          <a:solidFill>
            <a:srgbClr val="F2A9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6" name="Lightning Bolt 35"/>
          <p:cNvSpPr/>
          <p:nvPr/>
        </p:nvSpPr>
        <p:spPr>
          <a:xfrm>
            <a:off x="8742578" y="1997049"/>
            <a:ext cx="382219" cy="486460"/>
          </a:xfrm>
          <a:prstGeom prst="lightningBolt">
            <a:avLst/>
          </a:prstGeom>
          <a:solidFill>
            <a:srgbClr val="1F4E7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7" name="TextBox 36"/>
          <p:cNvSpPr txBox="1"/>
          <p:nvPr/>
        </p:nvSpPr>
        <p:spPr>
          <a:xfrm>
            <a:off x="8019288" y="2788920"/>
            <a:ext cx="1828800" cy="365760"/>
          </a:xfrm>
          <a:prstGeom prst="rect">
            <a:avLst/>
          </a:prstGeom>
          <a:noFill/>
        </p:spPr>
        <p:txBody>
          <a:bodyPr wrap="square" lIns="0" tIns="0" rIns="0" bIns="0" anchor="t">
            <a:spAutoFit/>
          </a:bodyPr>
          <a:lstStyle/>
          <a:p>
            <a:pPr algn="ctr">
              <a:lnSpc>
                <a:spcPct val="100000"/>
              </a:lnSpc>
            </a:pPr>
            <a:r>
              <a:rPr sz="1600" b="0">
                <a:solidFill>
                  <a:srgbClr val="24323F"/>
                </a:solidFill>
                <a:latin typeface="Segoe UI Semibold"/>
              </a:rPr>
              <a:t>Run</a:t>
            </a:r>
          </a:p>
        </p:txBody>
      </p:sp>
      <p:sp>
        <p:nvSpPr>
          <p:cNvPr id="38" name="TextBox 37"/>
          <p:cNvSpPr txBox="1"/>
          <p:nvPr/>
        </p:nvSpPr>
        <p:spPr>
          <a:xfrm>
            <a:off x="8019288" y="3172968"/>
            <a:ext cx="1828800" cy="822960"/>
          </a:xfrm>
          <a:prstGeom prst="rect">
            <a:avLst/>
          </a:prstGeom>
          <a:noFill/>
        </p:spPr>
        <p:txBody>
          <a:bodyPr wrap="square" lIns="0" tIns="0" rIns="0" bIns="0" anchor="t">
            <a:spAutoFit/>
          </a:bodyPr>
          <a:lstStyle/>
          <a:p>
            <a:pPr algn="ctr">
              <a:lnSpc>
                <a:spcPct val="100000"/>
              </a:lnSpc>
            </a:pPr>
            <a:r>
              <a:rPr sz="1100" b="0">
                <a:solidFill>
                  <a:srgbClr val="6B7785"/>
                </a:solidFill>
                <a:latin typeface="Segoe UI"/>
              </a:rPr>
              <a:t>Stage files, then
one click in Alteryx</a:t>
            </a:r>
          </a:p>
        </p:txBody>
      </p:sp>
      <p:cxnSp>
        <p:nvCxnSpPr>
          <p:cNvPr id="39" name="Connector 38"/>
          <p:cNvCxnSpPr/>
          <p:nvPr/>
        </p:nvCxnSpPr>
        <p:spPr>
          <a:xfrm>
            <a:off x="9464040" y="2240280"/>
            <a:ext cx="841248" cy="0"/>
          </a:xfrm>
          <a:prstGeom prst="line">
            <a:avLst/>
          </a:prstGeom>
          <a:ln w="22225">
            <a:solidFill>
              <a:srgbClr val="C3CBD4"/>
            </a:solidFill>
            <a:tailEnd type="triangle" w="med" len="med"/>
          </a:ln>
        </p:spPr>
        <p:style>
          <a:lnRef idx="2">
            <a:schemeClr val="accent1"/>
          </a:lnRef>
          <a:fillRef idx="0">
            <a:schemeClr val="accent1"/>
          </a:fillRef>
          <a:effectRef idx="1">
            <a:schemeClr val="accent1"/>
          </a:effectRef>
          <a:fontRef idx="minor">
            <a:schemeClr val="tx1"/>
          </a:fontRef>
        </p:style>
      </p:cxnSp>
      <p:sp>
        <p:nvSpPr>
          <p:cNvPr id="40" name="Oval 39"/>
          <p:cNvSpPr/>
          <p:nvPr/>
        </p:nvSpPr>
        <p:spPr>
          <a:xfrm>
            <a:off x="10401300" y="1805940"/>
            <a:ext cx="868680" cy="868680"/>
          </a:xfrm>
          <a:prstGeom prst="ellipse">
            <a:avLst/>
          </a:prstGeom>
          <a:solidFill>
            <a:srgbClr val="1F4E7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1" name="Rectangle 40"/>
          <p:cNvSpPr/>
          <p:nvPr/>
        </p:nvSpPr>
        <p:spPr>
          <a:xfrm>
            <a:off x="10627156" y="2266340"/>
            <a:ext cx="108585" cy="173736"/>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2" name="Rectangle 41"/>
          <p:cNvSpPr/>
          <p:nvPr/>
        </p:nvSpPr>
        <p:spPr>
          <a:xfrm>
            <a:off x="10779175" y="2144725"/>
            <a:ext cx="108585" cy="295351"/>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3" name="Rectangle 42"/>
          <p:cNvSpPr/>
          <p:nvPr/>
        </p:nvSpPr>
        <p:spPr>
          <a:xfrm>
            <a:off x="10931194" y="2040483"/>
            <a:ext cx="108585" cy="399592"/>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4" name="TextBox 43"/>
          <p:cNvSpPr txBox="1"/>
          <p:nvPr/>
        </p:nvSpPr>
        <p:spPr>
          <a:xfrm>
            <a:off x="9921240" y="2788920"/>
            <a:ext cx="1828800" cy="365760"/>
          </a:xfrm>
          <a:prstGeom prst="rect">
            <a:avLst/>
          </a:prstGeom>
          <a:noFill/>
        </p:spPr>
        <p:txBody>
          <a:bodyPr wrap="square" lIns="0" tIns="0" rIns="0" bIns="0" anchor="t">
            <a:spAutoFit/>
          </a:bodyPr>
          <a:lstStyle/>
          <a:p>
            <a:pPr algn="ctr">
              <a:lnSpc>
                <a:spcPct val="100000"/>
              </a:lnSpc>
            </a:pPr>
            <a:r>
              <a:rPr sz="1600" b="0">
                <a:solidFill>
                  <a:srgbClr val="24323F"/>
                </a:solidFill>
                <a:latin typeface="Segoe UI Semibold"/>
              </a:rPr>
              <a:t>Analyse</a:t>
            </a:r>
          </a:p>
        </p:txBody>
      </p:sp>
      <p:sp>
        <p:nvSpPr>
          <p:cNvPr id="45" name="TextBox 44"/>
          <p:cNvSpPr txBox="1"/>
          <p:nvPr/>
        </p:nvSpPr>
        <p:spPr>
          <a:xfrm>
            <a:off x="9921240" y="3172968"/>
            <a:ext cx="1828800" cy="822960"/>
          </a:xfrm>
          <a:prstGeom prst="rect">
            <a:avLst/>
          </a:prstGeom>
          <a:noFill/>
        </p:spPr>
        <p:txBody>
          <a:bodyPr wrap="square" lIns="0" tIns="0" rIns="0" bIns="0" anchor="t">
            <a:spAutoFit/>
          </a:bodyPr>
          <a:lstStyle/>
          <a:p>
            <a:pPr algn="ctr">
              <a:lnSpc>
                <a:spcPct val="100000"/>
              </a:lnSpc>
            </a:pPr>
            <a:r>
              <a:rPr sz="1100" b="0">
                <a:solidFill>
                  <a:srgbClr val="6B7785"/>
                </a:solidFill>
                <a:latin typeface="Segoe UI"/>
              </a:rPr>
              <a:t>Open the workbook;
no setup needed</a:t>
            </a:r>
          </a:p>
        </p:txBody>
      </p:sp>
      <p:sp>
        <p:nvSpPr>
          <p:cNvPr id="46" name="Rounded Rectangle 45"/>
          <p:cNvSpPr/>
          <p:nvPr/>
        </p:nvSpPr>
        <p:spPr>
          <a:xfrm>
            <a:off x="548640" y="4251960"/>
            <a:ext cx="6675120" cy="1874519"/>
          </a:xfrm>
          <a:prstGeom prst="roundRect">
            <a:avLst>
              <a:gd name="adj" fmla="val 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7" name="TextBox 46"/>
          <p:cNvSpPr txBox="1"/>
          <p:nvPr/>
        </p:nvSpPr>
        <p:spPr>
          <a:xfrm>
            <a:off x="777240" y="4343400"/>
            <a:ext cx="6309360" cy="320040"/>
          </a:xfrm>
          <a:prstGeom prst="rect">
            <a:avLst/>
          </a:prstGeom>
          <a:noFill/>
        </p:spPr>
        <p:txBody>
          <a:bodyPr wrap="square" lIns="0" tIns="0" rIns="0" bIns="0" anchor="t">
            <a:spAutoFit/>
          </a:bodyPr>
          <a:lstStyle/>
          <a:p>
            <a:pPr algn="l">
              <a:lnSpc>
                <a:spcPct val="100000"/>
              </a:lnSpc>
            </a:pPr>
            <a:r>
              <a:rPr sz="1300" b="0">
                <a:solidFill>
                  <a:srgbClr val="24323F"/>
                </a:solidFill>
                <a:latin typeface="Segoe UI Semibold"/>
              </a:rPr>
              <a:t>Repository, numbered in the order you use it</a:t>
            </a:r>
          </a:p>
        </p:txBody>
      </p:sp>
      <p:sp>
        <p:nvSpPr>
          <p:cNvPr id="48" name="Rounded Rectangle 47"/>
          <p:cNvSpPr/>
          <p:nvPr/>
        </p:nvSpPr>
        <p:spPr>
          <a:xfrm>
            <a:off x="777240" y="4800600"/>
            <a:ext cx="1481328" cy="438912"/>
          </a:xfrm>
          <a:prstGeom prst="roundRect">
            <a:avLst>
              <a:gd name="adj" fmla="val 20000"/>
            </a:avLst>
          </a:prstGeom>
          <a:solidFill>
            <a:srgbClr val="EEF2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9" name="TextBox 48"/>
          <p:cNvSpPr txBox="1"/>
          <p:nvPr/>
        </p:nvSpPr>
        <p:spPr>
          <a:xfrm>
            <a:off x="777240" y="4800600"/>
            <a:ext cx="1481328" cy="438912"/>
          </a:xfrm>
          <a:prstGeom prst="rect">
            <a:avLst/>
          </a:prstGeom>
          <a:noFill/>
        </p:spPr>
        <p:txBody>
          <a:bodyPr wrap="square" lIns="0" tIns="0" rIns="0" bIns="0" anchor="ctr">
            <a:spAutoFit/>
          </a:bodyPr>
          <a:lstStyle/>
          <a:p>
            <a:pPr algn="ctr">
              <a:lnSpc>
                <a:spcPct val="100000"/>
              </a:lnSpc>
            </a:pPr>
            <a:r>
              <a:rPr sz="1100" b="1">
                <a:solidFill>
                  <a:srgbClr val="1F4E79"/>
                </a:solidFill>
                <a:latin typeface="Segoe UI"/>
              </a:rPr>
              <a:t>01_Setup</a:t>
            </a:r>
          </a:p>
        </p:txBody>
      </p:sp>
      <p:sp>
        <p:nvSpPr>
          <p:cNvPr id="50" name="Rounded Rectangle 49"/>
          <p:cNvSpPr/>
          <p:nvPr/>
        </p:nvSpPr>
        <p:spPr>
          <a:xfrm>
            <a:off x="2377440" y="4800600"/>
            <a:ext cx="1481328" cy="438912"/>
          </a:xfrm>
          <a:prstGeom prst="roundRect">
            <a:avLst>
              <a:gd name="adj" fmla="val 20000"/>
            </a:avLst>
          </a:prstGeom>
          <a:solidFill>
            <a:srgbClr val="EEF2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1" name="TextBox 50"/>
          <p:cNvSpPr txBox="1"/>
          <p:nvPr/>
        </p:nvSpPr>
        <p:spPr>
          <a:xfrm>
            <a:off x="2377440" y="4800600"/>
            <a:ext cx="1481328" cy="438912"/>
          </a:xfrm>
          <a:prstGeom prst="rect">
            <a:avLst/>
          </a:prstGeom>
          <a:noFill/>
        </p:spPr>
        <p:txBody>
          <a:bodyPr wrap="square" lIns="0" tIns="0" rIns="0" bIns="0" anchor="ctr">
            <a:spAutoFit/>
          </a:bodyPr>
          <a:lstStyle/>
          <a:p>
            <a:pPr algn="ctr">
              <a:lnSpc>
                <a:spcPct val="100000"/>
              </a:lnSpc>
            </a:pPr>
            <a:r>
              <a:rPr sz="1100" b="1">
                <a:solidFill>
                  <a:srgbClr val="1F4E79"/>
                </a:solidFill>
                <a:latin typeface="Segoe UI"/>
              </a:rPr>
              <a:t>02_SampleData</a:t>
            </a:r>
          </a:p>
        </p:txBody>
      </p:sp>
      <p:sp>
        <p:nvSpPr>
          <p:cNvPr id="52" name="Rounded Rectangle 51"/>
          <p:cNvSpPr/>
          <p:nvPr/>
        </p:nvSpPr>
        <p:spPr>
          <a:xfrm>
            <a:off x="3977639" y="4800600"/>
            <a:ext cx="1481328" cy="438912"/>
          </a:xfrm>
          <a:prstGeom prst="roundRect">
            <a:avLst>
              <a:gd name="adj" fmla="val 20000"/>
            </a:avLst>
          </a:prstGeom>
          <a:solidFill>
            <a:srgbClr val="EEF2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3" name="TextBox 52"/>
          <p:cNvSpPr txBox="1"/>
          <p:nvPr/>
        </p:nvSpPr>
        <p:spPr>
          <a:xfrm>
            <a:off x="3977639" y="4800600"/>
            <a:ext cx="1481328" cy="438912"/>
          </a:xfrm>
          <a:prstGeom prst="rect">
            <a:avLst/>
          </a:prstGeom>
          <a:noFill/>
        </p:spPr>
        <p:txBody>
          <a:bodyPr wrap="square" lIns="0" tIns="0" rIns="0" bIns="0" anchor="ctr">
            <a:spAutoFit/>
          </a:bodyPr>
          <a:lstStyle/>
          <a:p>
            <a:pPr algn="ctr">
              <a:lnSpc>
                <a:spcPct val="100000"/>
              </a:lnSpc>
            </a:pPr>
            <a:r>
              <a:rPr sz="1100" b="1">
                <a:solidFill>
                  <a:srgbClr val="1F4E79"/>
                </a:solidFill>
                <a:latin typeface="Segoe UI"/>
              </a:rPr>
              <a:t>03_Alteryx</a:t>
            </a:r>
          </a:p>
        </p:txBody>
      </p:sp>
      <p:sp>
        <p:nvSpPr>
          <p:cNvPr id="54" name="Rounded Rectangle 53"/>
          <p:cNvSpPr/>
          <p:nvPr/>
        </p:nvSpPr>
        <p:spPr>
          <a:xfrm>
            <a:off x="5577840" y="4800600"/>
            <a:ext cx="1481328" cy="438912"/>
          </a:xfrm>
          <a:prstGeom prst="roundRect">
            <a:avLst>
              <a:gd name="adj" fmla="val 20000"/>
            </a:avLst>
          </a:prstGeom>
          <a:solidFill>
            <a:srgbClr val="EEF2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5" name="TextBox 54"/>
          <p:cNvSpPr txBox="1"/>
          <p:nvPr/>
        </p:nvSpPr>
        <p:spPr>
          <a:xfrm>
            <a:off x="5577840" y="4800600"/>
            <a:ext cx="1481328" cy="438912"/>
          </a:xfrm>
          <a:prstGeom prst="rect">
            <a:avLst/>
          </a:prstGeom>
          <a:noFill/>
        </p:spPr>
        <p:txBody>
          <a:bodyPr wrap="square" lIns="0" tIns="0" rIns="0" bIns="0" anchor="ctr">
            <a:spAutoFit/>
          </a:bodyPr>
          <a:lstStyle/>
          <a:p>
            <a:pPr algn="ctr">
              <a:lnSpc>
                <a:spcPct val="100000"/>
              </a:lnSpc>
            </a:pPr>
            <a:r>
              <a:rPr sz="1100" b="1">
                <a:solidFill>
                  <a:srgbClr val="1F4E79"/>
                </a:solidFill>
                <a:latin typeface="Segoe UI"/>
              </a:rPr>
              <a:t>04_Prepared</a:t>
            </a:r>
          </a:p>
        </p:txBody>
      </p:sp>
      <p:sp>
        <p:nvSpPr>
          <p:cNvPr id="56" name="Rounded Rectangle 55"/>
          <p:cNvSpPr/>
          <p:nvPr/>
        </p:nvSpPr>
        <p:spPr>
          <a:xfrm>
            <a:off x="777240" y="5367528"/>
            <a:ext cx="1481328" cy="438912"/>
          </a:xfrm>
          <a:prstGeom prst="roundRect">
            <a:avLst>
              <a:gd name="adj" fmla="val 20000"/>
            </a:avLst>
          </a:prstGeom>
          <a:solidFill>
            <a:srgbClr val="EEF2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7" name="TextBox 56"/>
          <p:cNvSpPr txBox="1"/>
          <p:nvPr/>
        </p:nvSpPr>
        <p:spPr>
          <a:xfrm>
            <a:off x="777240" y="5367528"/>
            <a:ext cx="1481328" cy="438912"/>
          </a:xfrm>
          <a:prstGeom prst="rect">
            <a:avLst/>
          </a:prstGeom>
          <a:noFill/>
        </p:spPr>
        <p:txBody>
          <a:bodyPr wrap="square" lIns="0" tIns="0" rIns="0" bIns="0" anchor="ctr">
            <a:spAutoFit/>
          </a:bodyPr>
          <a:lstStyle/>
          <a:p>
            <a:pPr algn="ctr">
              <a:lnSpc>
                <a:spcPct val="100000"/>
              </a:lnSpc>
            </a:pPr>
            <a:r>
              <a:rPr sz="1100" b="1">
                <a:solidFill>
                  <a:srgbClr val="1F4E79"/>
                </a:solidFill>
                <a:latin typeface="Segoe UI"/>
              </a:rPr>
              <a:t>05_Tableau</a:t>
            </a:r>
          </a:p>
        </p:txBody>
      </p:sp>
      <p:sp>
        <p:nvSpPr>
          <p:cNvPr id="58" name="Rounded Rectangle 57"/>
          <p:cNvSpPr/>
          <p:nvPr/>
        </p:nvSpPr>
        <p:spPr>
          <a:xfrm>
            <a:off x="2377440" y="5367528"/>
            <a:ext cx="1481328" cy="438912"/>
          </a:xfrm>
          <a:prstGeom prst="roundRect">
            <a:avLst>
              <a:gd name="adj" fmla="val 20000"/>
            </a:avLst>
          </a:prstGeom>
          <a:solidFill>
            <a:srgbClr val="EEF2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9" name="TextBox 58"/>
          <p:cNvSpPr txBox="1"/>
          <p:nvPr/>
        </p:nvSpPr>
        <p:spPr>
          <a:xfrm>
            <a:off x="2377440" y="5367528"/>
            <a:ext cx="1481328" cy="438912"/>
          </a:xfrm>
          <a:prstGeom prst="rect">
            <a:avLst/>
          </a:prstGeom>
          <a:noFill/>
        </p:spPr>
        <p:txBody>
          <a:bodyPr wrap="square" lIns="0" tIns="0" rIns="0" bIns="0" anchor="ctr">
            <a:spAutoFit/>
          </a:bodyPr>
          <a:lstStyle/>
          <a:p>
            <a:pPr algn="ctr">
              <a:lnSpc>
                <a:spcPct val="100000"/>
              </a:lnSpc>
            </a:pPr>
            <a:r>
              <a:rPr sz="1100" b="1">
                <a:solidFill>
                  <a:srgbClr val="1F4E79"/>
                </a:solidFill>
                <a:latin typeface="Segoe UI"/>
              </a:rPr>
              <a:t>06_Tests</a:t>
            </a:r>
          </a:p>
        </p:txBody>
      </p:sp>
      <p:sp>
        <p:nvSpPr>
          <p:cNvPr id="60" name="Rounded Rectangle 59"/>
          <p:cNvSpPr/>
          <p:nvPr/>
        </p:nvSpPr>
        <p:spPr>
          <a:xfrm>
            <a:off x="3977639" y="5367528"/>
            <a:ext cx="1481328" cy="438912"/>
          </a:xfrm>
          <a:prstGeom prst="roundRect">
            <a:avLst>
              <a:gd name="adj" fmla="val 20000"/>
            </a:avLst>
          </a:prstGeom>
          <a:solidFill>
            <a:srgbClr val="EEF2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1" name="TextBox 60"/>
          <p:cNvSpPr txBox="1"/>
          <p:nvPr/>
        </p:nvSpPr>
        <p:spPr>
          <a:xfrm>
            <a:off x="3977639" y="5367528"/>
            <a:ext cx="1481328" cy="438912"/>
          </a:xfrm>
          <a:prstGeom prst="rect">
            <a:avLst/>
          </a:prstGeom>
          <a:noFill/>
        </p:spPr>
        <p:txBody>
          <a:bodyPr wrap="square" lIns="0" tIns="0" rIns="0" bIns="0" anchor="ctr">
            <a:spAutoFit/>
          </a:bodyPr>
          <a:lstStyle/>
          <a:p>
            <a:pPr algn="ctr">
              <a:lnSpc>
                <a:spcPct val="100000"/>
              </a:lnSpc>
            </a:pPr>
            <a:r>
              <a:rPr sz="1100" b="1">
                <a:solidFill>
                  <a:srgbClr val="1F4E79"/>
                </a:solidFill>
                <a:latin typeface="Segoe UI"/>
              </a:rPr>
              <a:t>07_Docs</a:t>
            </a:r>
          </a:p>
        </p:txBody>
      </p:sp>
      <p:sp>
        <p:nvSpPr>
          <p:cNvPr id="62" name="Rounded Rectangle 61"/>
          <p:cNvSpPr/>
          <p:nvPr/>
        </p:nvSpPr>
        <p:spPr>
          <a:xfrm>
            <a:off x="5577840" y="5367528"/>
            <a:ext cx="1481328" cy="438912"/>
          </a:xfrm>
          <a:prstGeom prst="roundRect">
            <a:avLst>
              <a:gd name="adj" fmla="val 20000"/>
            </a:avLst>
          </a:prstGeom>
          <a:solidFill>
            <a:srgbClr val="EEF2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3" name="TextBox 62"/>
          <p:cNvSpPr txBox="1"/>
          <p:nvPr/>
        </p:nvSpPr>
        <p:spPr>
          <a:xfrm>
            <a:off x="5577840" y="5367528"/>
            <a:ext cx="1481328" cy="438912"/>
          </a:xfrm>
          <a:prstGeom prst="rect">
            <a:avLst/>
          </a:prstGeom>
          <a:noFill/>
        </p:spPr>
        <p:txBody>
          <a:bodyPr wrap="square" lIns="0" tIns="0" rIns="0" bIns="0" anchor="ctr">
            <a:spAutoFit/>
          </a:bodyPr>
          <a:lstStyle/>
          <a:p>
            <a:pPr algn="ctr">
              <a:lnSpc>
                <a:spcPct val="100000"/>
              </a:lnSpc>
            </a:pPr>
            <a:r>
              <a:rPr sz="1100" b="1">
                <a:solidFill>
                  <a:srgbClr val="1F4E79"/>
                </a:solidFill>
                <a:latin typeface="Segoe UI"/>
              </a:rPr>
              <a:t>config</a:t>
            </a:r>
          </a:p>
        </p:txBody>
      </p:sp>
      <p:sp>
        <p:nvSpPr>
          <p:cNvPr id="64" name="Rounded Rectangle 63"/>
          <p:cNvSpPr/>
          <p:nvPr/>
        </p:nvSpPr>
        <p:spPr>
          <a:xfrm>
            <a:off x="7452360" y="4251960"/>
            <a:ext cx="4160520" cy="393192"/>
          </a:xfrm>
          <a:prstGeom prst="roundRect">
            <a:avLst>
              <a:gd name="adj" fmla="val 50000"/>
            </a:avLst>
          </a:prstGeom>
          <a:solidFill>
            <a:srgbClr val="1F4E7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5" name="TextBox 64"/>
          <p:cNvSpPr txBox="1"/>
          <p:nvPr/>
        </p:nvSpPr>
        <p:spPr>
          <a:xfrm>
            <a:off x="7452360" y="4251960"/>
            <a:ext cx="4160520" cy="393192"/>
          </a:xfrm>
          <a:prstGeom prst="rect">
            <a:avLst/>
          </a:prstGeom>
          <a:noFill/>
        </p:spPr>
        <p:txBody>
          <a:bodyPr wrap="square" lIns="0" tIns="0" rIns="0" bIns="0" anchor="ctr">
            <a:spAutoFit/>
          </a:bodyPr>
          <a:lstStyle/>
          <a:p>
            <a:pPr algn="ctr">
              <a:lnSpc>
                <a:spcPct val="100000"/>
              </a:lnSpc>
            </a:pPr>
            <a:r>
              <a:rPr sz="1200" b="1">
                <a:solidFill>
                  <a:srgbClr val="FFFFFF"/>
                </a:solidFill>
                <a:latin typeface="Segoe UI"/>
              </a:rPr>
              <a:t>✓  No absolute paths</a:t>
            </a:r>
          </a:p>
        </p:txBody>
      </p:sp>
      <p:sp>
        <p:nvSpPr>
          <p:cNvPr id="66" name="Rounded Rectangle 65"/>
          <p:cNvSpPr/>
          <p:nvPr/>
        </p:nvSpPr>
        <p:spPr>
          <a:xfrm>
            <a:off x="7452360" y="4736592"/>
            <a:ext cx="4160520" cy="393192"/>
          </a:xfrm>
          <a:prstGeom prst="roundRect">
            <a:avLst>
              <a:gd name="adj" fmla="val 50000"/>
            </a:avLst>
          </a:prstGeom>
          <a:solidFill>
            <a:srgbClr val="1F4E7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7" name="TextBox 66"/>
          <p:cNvSpPr txBox="1"/>
          <p:nvPr/>
        </p:nvSpPr>
        <p:spPr>
          <a:xfrm>
            <a:off x="7452360" y="4736592"/>
            <a:ext cx="4160520" cy="393192"/>
          </a:xfrm>
          <a:prstGeom prst="rect">
            <a:avLst/>
          </a:prstGeom>
          <a:noFill/>
        </p:spPr>
        <p:txBody>
          <a:bodyPr wrap="square" lIns="0" tIns="0" rIns="0" bIns="0" anchor="ctr">
            <a:spAutoFit/>
          </a:bodyPr>
          <a:lstStyle/>
          <a:p>
            <a:pPr algn="ctr">
              <a:lnSpc>
                <a:spcPct val="100000"/>
              </a:lnSpc>
            </a:pPr>
            <a:r>
              <a:rPr sz="1200" b="1">
                <a:solidFill>
                  <a:srgbClr val="FFFFFF"/>
                </a:solidFill>
                <a:latin typeface="Segoe UI"/>
              </a:rPr>
              <a:t>✓  No credentials in git</a:t>
            </a:r>
          </a:p>
        </p:txBody>
      </p:sp>
      <p:sp>
        <p:nvSpPr>
          <p:cNvPr id="68" name="Rounded Rectangle 67"/>
          <p:cNvSpPr/>
          <p:nvPr/>
        </p:nvSpPr>
        <p:spPr>
          <a:xfrm>
            <a:off x="7452360" y="5221224"/>
            <a:ext cx="4160520" cy="393192"/>
          </a:xfrm>
          <a:prstGeom prst="roundRect">
            <a:avLst>
              <a:gd name="adj" fmla="val 50000"/>
            </a:avLst>
          </a:prstGeom>
          <a:solidFill>
            <a:srgbClr val="1F4E7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9" name="TextBox 68"/>
          <p:cNvSpPr txBox="1"/>
          <p:nvPr/>
        </p:nvSpPr>
        <p:spPr>
          <a:xfrm>
            <a:off x="7452360" y="5221224"/>
            <a:ext cx="4160520" cy="393192"/>
          </a:xfrm>
          <a:prstGeom prst="rect">
            <a:avLst/>
          </a:prstGeom>
          <a:noFill/>
        </p:spPr>
        <p:txBody>
          <a:bodyPr wrap="square" lIns="0" tIns="0" rIns="0" bIns="0" anchor="ctr">
            <a:spAutoFit/>
          </a:bodyPr>
          <a:lstStyle/>
          <a:p>
            <a:pPr algn="ctr">
              <a:lnSpc>
                <a:spcPct val="100000"/>
              </a:lnSpc>
            </a:pPr>
            <a:r>
              <a:rPr sz="1200" b="1">
                <a:solidFill>
                  <a:srgbClr val="FFFFFF"/>
                </a:solidFill>
                <a:latin typeface="Segoe UI"/>
              </a:rPr>
              <a:t>✓  Relative workbook paths</a:t>
            </a:r>
          </a:p>
        </p:txBody>
      </p:sp>
      <p:sp>
        <p:nvSpPr>
          <p:cNvPr id="70" name="Rounded Rectangle 69"/>
          <p:cNvSpPr/>
          <p:nvPr/>
        </p:nvSpPr>
        <p:spPr>
          <a:xfrm>
            <a:off x="7452360" y="5705856"/>
            <a:ext cx="4160520" cy="393192"/>
          </a:xfrm>
          <a:prstGeom prst="roundRect">
            <a:avLst>
              <a:gd name="adj" fmla="val 50000"/>
            </a:avLst>
          </a:prstGeom>
          <a:solidFill>
            <a:srgbClr val="1F4E7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1" name="TextBox 70"/>
          <p:cNvSpPr txBox="1"/>
          <p:nvPr/>
        </p:nvSpPr>
        <p:spPr>
          <a:xfrm>
            <a:off x="7452360" y="5705856"/>
            <a:ext cx="4160520" cy="393192"/>
          </a:xfrm>
          <a:prstGeom prst="rect">
            <a:avLst/>
          </a:prstGeom>
          <a:noFill/>
        </p:spPr>
        <p:txBody>
          <a:bodyPr wrap="square" lIns="0" tIns="0" rIns="0" bIns="0" anchor="ctr">
            <a:spAutoFit/>
          </a:bodyPr>
          <a:lstStyle/>
          <a:p>
            <a:pPr algn="ctr">
              <a:lnSpc>
                <a:spcPct val="100000"/>
              </a:lnSpc>
            </a:pPr>
            <a:r>
              <a:rPr sz="1200" b="1">
                <a:solidFill>
                  <a:srgbClr val="FFFFFF"/>
                </a:solidFill>
                <a:latin typeface="Segoe UI"/>
              </a:rPr>
              <a:t>✓  Re-runnable setup</a:t>
            </a:r>
          </a:p>
        </p:txBody>
      </p:sp>
      <p:sp>
        <p:nvSpPr>
          <p:cNvPr id="72" name="TextBox 71"/>
          <p:cNvSpPr txBox="1"/>
          <p:nvPr/>
        </p:nvSpPr>
        <p:spPr>
          <a:xfrm>
            <a:off x="548640" y="6428232"/>
            <a:ext cx="5486400" cy="228600"/>
          </a:xfrm>
          <a:prstGeom prst="rect">
            <a:avLst/>
          </a:prstGeom>
          <a:noFill/>
        </p:spPr>
        <p:txBody>
          <a:bodyPr wrap="square" lIns="0" tIns="0" rIns="0" bIns="0" anchor="t">
            <a:spAutoFit/>
          </a:bodyPr>
          <a:lstStyle/>
          <a:p>
            <a:pPr algn="l">
              <a:lnSpc>
                <a:spcPct val="100000"/>
              </a:lnSpc>
            </a:pPr>
            <a:r>
              <a:rPr sz="1000" b="0">
                <a:solidFill>
                  <a:srgbClr val="6B7785"/>
                </a:solidFill>
                <a:latin typeface="Segoe UI"/>
              </a:rPr>
              <a:t>Cricket Analytics Platform</a:t>
            </a:r>
          </a:p>
        </p:txBody>
      </p:sp>
      <p:sp>
        <p:nvSpPr>
          <p:cNvPr id="73" name="TextBox 72"/>
          <p:cNvSpPr txBox="1"/>
          <p:nvPr/>
        </p:nvSpPr>
        <p:spPr>
          <a:xfrm>
            <a:off x="10725912" y="6428232"/>
            <a:ext cx="914400" cy="228600"/>
          </a:xfrm>
          <a:prstGeom prst="rect">
            <a:avLst/>
          </a:prstGeom>
          <a:noFill/>
        </p:spPr>
        <p:txBody>
          <a:bodyPr wrap="square" lIns="0" tIns="0" rIns="0" bIns="0" anchor="t">
            <a:spAutoFit/>
          </a:bodyPr>
          <a:lstStyle/>
          <a:p>
            <a:pPr algn="r">
              <a:lnSpc>
                <a:spcPct val="100000"/>
              </a:lnSpc>
            </a:pPr>
            <a:r>
              <a:rPr sz="1000" b="0">
                <a:solidFill>
                  <a:srgbClr val="6B7785"/>
                </a:solidFill>
                <a:latin typeface="Segoe UI"/>
              </a:rPr>
              <a:t>20</a:t>
            </a: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solidFill>
          <a:srgbClr val="1F4E79"/>
        </a:solidFill>
        <a:effectLst/>
      </p:bgPr>
    </p:bg>
    <p:spTree>
      <p:nvGrpSpPr>
        <p:cNvPr id="1" name=""/>
        <p:cNvGrpSpPr/>
        <p:nvPr/>
      </p:nvGrpSpPr>
      <p:grpSpPr>
        <a:xfrm>
          <a:off x="0" y="0"/>
          <a:ext cx="0" cy="0"/>
          <a:chOff x="0" y="0"/>
          <a:chExt cx="0" cy="0"/>
        </a:xfrm>
      </p:grpSpPr>
      <p:sp>
        <p:nvSpPr>
          <p:cNvPr id="2" name="TextBox 1"/>
          <p:cNvSpPr txBox="1"/>
          <p:nvPr/>
        </p:nvSpPr>
        <p:spPr>
          <a:xfrm>
            <a:off x="548640" y="146304"/>
            <a:ext cx="10058400" cy="256032"/>
          </a:xfrm>
          <a:prstGeom prst="rect">
            <a:avLst/>
          </a:prstGeom>
          <a:noFill/>
        </p:spPr>
        <p:txBody>
          <a:bodyPr wrap="square" lIns="0" tIns="0" rIns="0" bIns="0" anchor="t">
            <a:spAutoFit/>
          </a:bodyPr>
          <a:lstStyle/>
          <a:p>
            <a:pPr algn="l">
              <a:lnSpc>
                <a:spcPct val="100000"/>
              </a:lnSpc>
            </a:pPr>
            <a:r>
              <a:rPr sz="1000" b="1">
                <a:solidFill>
                  <a:srgbClr val="F2A900"/>
                </a:solidFill>
                <a:latin typeface="Segoe UI"/>
              </a:rPr>
              <a:t>11  ·  DEPLOYMENT APPROACH</a:t>
            </a:r>
            <a:r>
              <a:rPr sz="1000" b="0">
                <a:solidFill>
                  <a:srgbClr val="C9D6E3"/>
                </a:solidFill>
                <a:latin typeface="Segoe UI"/>
              </a:rPr>
              <a:t>     Brief §12</a:t>
            </a:r>
          </a:p>
        </p:txBody>
      </p:sp>
      <p:sp>
        <p:nvSpPr>
          <p:cNvPr id="3" name="TextBox 2"/>
          <p:cNvSpPr txBox="1"/>
          <p:nvPr/>
        </p:nvSpPr>
        <p:spPr>
          <a:xfrm>
            <a:off x="548640" y="411480"/>
            <a:ext cx="11064240" cy="640080"/>
          </a:xfrm>
          <a:prstGeom prst="rect">
            <a:avLst/>
          </a:prstGeom>
          <a:noFill/>
        </p:spPr>
        <p:txBody>
          <a:bodyPr wrap="square" lIns="0" tIns="0" rIns="0" bIns="0" anchor="t">
            <a:spAutoFit/>
          </a:bodyPr>
          <a:lstStyle/>
          <a:p>
            <a:pPr algn="l">
              <a:lnSpc>
                <a:spcPct val="100000"/>
              </a:lnSpc>
            </a:pPr>
            <a:r>
              <a:rPr sz="3200" b="0">
                <a:solidFill>
                  <a:srgbClr val="FFFFFF"/>
                </a:solidFill>
                <a:latin typeface="Segoe UI Semibold"/>
              </a:rPr>
              <a:t>Production architecture</a:t>
            </a:r>
          </a:p>
        </p:txBody>
      </p:sp>
      <p:sp>
        <p:nvSpPr>
          <p:cNvPr id="4" name="TextBox 3"/>
          <p:cNvSpPr txBox="1"/>
          <p:nvPr/>
        </p:nvSpPr>
        <p:spPr>
          <a:xfrm>
            <a:off x="548640" y="1024128"/>
            <a:ext cx="11064240" cy="411480"/>
          </a:xfrm>
          <a:prstGeom prst="rect">
            <a:avLst/>
          </a:prstGeom>
          <a:noFill/>
        </p:spPr>
        <p:txBody>
          <a:bodyPr wrap="square" lIns="0" tIns="0" rIns="0" bIns="0" anchor="t">
            <a:spAutoFit/>
          </a:bodyPr>
          <a:lstStyle/>
          <a:p>
            <a:pPr algn="l">
              <a:lnSpc>
                <a:spcPct val="100000"/>
              </a:lnSpc>
            </a:pPr>
            <a:r>
              <a:rPr sz="1500" b="0">
                <a:solidFill>
                  <a:srgbClr val="C9D6E3"/>
                </a:solidFill>
                <a:latin typeface="Segoe UI"/>
              </a:rPr>
              <a:t>The same medallion design, scheduled, secured and shared</a:t>
            </a:r>
          </a:p>
        </p:txBody>
      </p:sp>
      <p:sp>
        <p:nvSpPr>
          <p:cNvPr id="5" name="Rounded Rectangle 4"/>
          <p:cNvSpPr/>
          <p:nvPr/>
        </p:nvSpPr>
        <p:spPr>
          <a:xfrm>
            <a:off x="548640" y="1645920"/>
            <a:ext cx="1508760" cy="3794760"/>
          </a:xfrm>
          <a:prstGeom prst="roundRect">
            <a:avLst>
              <a:gd name="adj" fmla="val 5000"/>
            </a:avLst>
          </a:prstGeom>
          <a:solidFill>
            <a:srgbClr val="17385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Oval 5"/>
          <p:cNvSpPr/>
          <p:nvPr/>
        </p:nvSpPr>
        <p:spPr>
          <a:xfrm>
            <a:off x="946403" y="1819655"/>
            <a:ext cx="713232" cy="713232"/>
          </a:xfrm>
          <a:prstGeom prst="ellipse">
            <a:avLst/>
          </a:prstGeom>
          <a:solidFill>
            <a:srgbClr val="1F4E7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Folded Corner 6"/>
          <p:cNvSpPr/>
          <p:nvPr/>
        </p:nvSpPr>
        <p:spPr>
          <a:xfrm>
            <a:off x="1160373" y="1983699"/>
            <a:ext cx="285292" cy="385145"/>
          </a:xfrm>
          <a:prstGeom prst="foldedCorner">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ectangle 7"/>
          <p:cNvSpPr/>
          <p:nvPr/>
        </p:nvSpPr>
        <p:spPr>
          <a:xfrm>
            <a:off x="1210299" y="2090684"/>
            <a:ext cx="185440" cy="24963"/>
          </a:xfrm>
          <a:prstGeom prst="rect">
            <a:avLst/>
          </a:prstGeom>
          <a:solidFill>
            <a:srgbClr val="1F4E7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Rectangle 8"/>
          <p:cNvSpPr/>
          <p:nvPr/>
        </p:nvSpPr>
        <p:spPr>
          <a:xfrm>
            <a:off x="1210299" y="2169139"/>
            <a:ext cx="185440" cy="24963"/>
          </a:xfrm>
          <a:prstGeom prst="rect">
            <a:avLst/>
          </a:prstGeom>
          <a:solidFill>
            <a:srgbClr val="1F4E7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Rectangle 9"/>
          <p:cNvSpPr/>
          <p:nvPr/>
        </p:nvSpPr>
        <p:spPr>
          <a:xfrm>
            <a:off x="1210299" y="2247595"/>
            <a:ext cx="185440" cy="24963"/>
          </a:xfrm>
          <a:prstGeom prst="rect">
            <a:avLst/>
          </a:prstGeom>
          <a:solidFill>
            <a:srgbClr val="1F4E7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548640" y="2606040"/>
            <a:ext cx="1508760" cy="365760"/>
          </a:xfrm>
          <a:prstGeom prst="rect">
            <a:avLst/>
          </a:prstGeom>
          <a:noFill/>
        </p:spPr>
        <p:txBody>
          <a:bodyPr wrap="square" lIns="0" tIns="0" rIns="0" bIns="0" anchor="t">
            <a:spAutoFit/>
          </a:bodyPr>
          <a:lstStyle/>
          <a:p>
            <a:pPr algn="ctr">
              <a:lnSpc>
                <a:spcPct val="100000"/>
              </a:lnSpc>
            </a:pPr>
            <a:r>
              <a:rPr sz="1400" b="0">
                <a:solidFill>
                  <a:srgbClr val="FFFFFF"/>
                </a:solidFill>
                <a:latin typeface="Segoe UI Semibold"/>
              </a:rPr>
              <a:t>Sources</a:t>
            </a:r>
          </a:p>
        </p:txBody>
      </p:sp>
      <p:sp>
        <p:nvSpPr>
          <p:cNvPr id="12" name="Rounded Rectangle 11"/>
          <p:cNvSpPr/>
          <p:nvPr/>
        </p:nvSpPr>
        <p:spPr>
          <a:xfrm>
            <a:off x="685800" y="3090672"/>
            <a:ext cx="1234439" cy="374904"/>
          </a:xfrm>
          <a:prstGeom prst="roundRect">
            <a:avLst>
              <a:gd name="adj" fmla="val 20000"/>
            </a:avLst>
          </a:prstGeom>
          <a:solidFill>
            <a:srgbClr val="1F4E7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685800" y="3090672"/>
            <a:ext cx="1234439" cy="374904"/>
          </a:xfrm>
          <a:prstGeom prst="rect">
            <a:avLst/>
          </a:prstGeom>
          <a:noFill/>
        </p:spPr>
        <p:txBody>
          <a:bodyPr wrap="square" lIns="0" tIns="0" rIns="0" bIns="0" anchor="ctr">
            <a:spAutoFit/>
          </a:bodyPr>
          <a:lstStyle/>
          <a:p>
            <a:pPr algn="ctr">
              <a:lnSpc>
                <a:spcPct val="100000"/>
              </a:lnSpc>
            </a:pPr>
            <a:r>
              <a:rPr sz="1000" b="0">
                <a:solidFill>
                  <a:srgbClr val="C9D6E3"/>
                </a:solidFill>
                <a:latin typeface="Segoe UI"/>
              </a:rPr>
              <a:t>SQL Server (OLTP)</a:t>
            </a:r>
          </a:p>
        </p:txBody>
      </p:sp>
      <p:sp>
        <p:nvSpPr>
          <p:cNvPr id="14" name="Rounded Rectangle 13"/>
          <p:cNvSpPr/>
          <p:nvPr/>
        </p:nvSpPr>
        <p:spPr>
          <a:xfrm>
            <a:off x="685800" y="3538728"/>
            <a:ext cx="1234439" cy="374904"/>
          </a:xfrm>
          <a:prstGeom prst="roundRect">
            <a:avLst>
              <a:gd name="adj" fmla="val 20000"/>
            </a:avLst>
          </a:prstGeom>
          <a:solidFill>
            <a:srgbClr val="1F4E7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685800" y="3538728"/>
            <a:ext cx="1234439" cy="374904"/>
          </a:xfrm>
          <a:prstGeom prst="rect">
            <a:avLst/>
          </a:prstGeom>
          <a:noFill/>
        </p:spPr>
        <p:txBody>
          <a:bodyPr wrap="square" lIns="0" tIns="0" rIns="0" bIns="0" anchor="ctr">
            <a:spAutoFit/>
          </a:bodyPr>
          <a:lstStyle/>
          <a:p>
            <a:pPr algn="ctr">
              <a:lnSpc>
                <a:spcPct val="100000"/>
              </a:lnSpc>
            </a:pPr>
            <a:r>
              <a:rPr sz="1000" b="0">
                <a:solidFill>
                  <a:srgbClr val="C9D6E3"/>
                </a:solidFill>
                <a:latin typeface="Segoe UI"/>
              </a:rPr>
              <a:t>JSON via SFTP</a:t>
            </a:r>
          </a:p>
        </p:txBody>
      </p:sp>
      <p:sp>
        <p:nvSpPr>
          <p:cNvPr id="16" name="Rounded Rectangle 15"/>
          <p:cNvSpPr/>
          <p:nvPr/>
        </p:nvSpPr>
        <p:spPr>
          <a:xfrm>
            <a:off x="685800" y="3986783"/>
            <a:ext cx="1234439" cy="374904"/>
          </a:xfrm>
          <a:prstGeom prst="roundRect">
            <a:avLst>
              <a:gd name="adj" fmla="val 20000"/>
            </a:avLst>
          </a:prstGeom>
          <a:solidFill>
            <a:srgbClr val="1F4E7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685800" y="3986783"/>
            <a:ext cx="1234439" cy="374904"/>
          </a:xfrm>
          <a:prstGeom prst="rect">
            <a:avLst/>
          </a:prstGeom>
          <a:noFill/>
        </p:spPr>
        <p:txBody>
          <a:bodyPr wrap="square" lIns="0" tIns="0" rIns="0" bIns="0" anchor="ctr">
            <a:spAutoFit/>
          </a:bodyPr>
          <a:lstStyle/>
          <a:p>
            <a:pPr algn="ctr">
              <a:lnSpc>
                <a:spcPct val="100000"/>
              </a:lnSpc>
            </a:pPr>
            <a:r>
              <a:rPr sz="1000" b="0">
                <a:solidFill>
                  <a:srgbClr val="C9D6E3"/>
                </a:solidFill>
                <a:latin typeface="Segoe UI"/>
              </a:rPr>
              <a:t>CSV landing share</a:t>
            </a:r>
          </a:p>
        </p:txBody>
      </p:sp>
      <p:cxnSp>
        <p:nvCxnSpPr>
          <p:cNvPr id="18" name="Connector 17"/>
          <p:cNvCxnSpPr/>
          <p:nvPr/>
        </p:nvCxnSpPr>
        <p:spPr>
          <a:xfrm>
            <a:off x="2103120" y="2176272"/>
            <a:ext cx="393192" cy="0"/>
          </a:xfrm>
          <a:prstGeom prst="line">
            <a:avLst/>
          </a:prstGeom>
          <a:ln w="22225">
            <a:solidFill>
              <a:srgbClr val="C9D6E3"/>
            </a:solidFill>
            <a:tailEnd type="triangle" w="med" len="med"/>
          </a:ln>
        </p:spPr>
        <p:style>
          <a:lnRef idx="2">
            <a:schemeClr val="accent1"/>
          </a:lnRef>
          <a:fillRef idx="0">
            <a:schemeClr val="accent1"/>
          </a:fillRef>
          <a:effectRef idx="1">
            <a:schemeClr val="accent1"/>
          </a:effectRef>
          <a:fontRef idx="minor">
            <a:schemeClr val="tx1"/>
          </a:fontRef>
        </p:style>
      </p:cxnSp>
      <p:sp>
        <p:nvSpPr>
          <p:cNvPr id="19" name="TextBox 18"/>
          <p:cNvSpPr txBox="1"/>
          <p:nvPr/>
        </p:nvSpPr>
        <p:spPr>
          <a:xfrm>
            <a:off x="1947672" y="2258568"/>
            <a:ext cx="704088" cy="228600"/>
          </a:xfrm>
          <a:prstGeom prst="rect">
            <a:avLst/>
          </a:prstGeom>
          <a:noFill/>
        </p:spPr>
        <p:txBody>
          <a:bodyPr wrap="square" lIns="0" tIns="0" rIns="0" bIns="0" anchor="t">
            <a:spAutoFit/>
          </a:bodyPr>
          <a:lstStyle/>
          <a:p>
            <a:pPr algn="ctr">
              <a:lnSpc>
                <a:spcPct val="100000"/>
              </a:lnSpc>
            </a:pPr>
            <a:r>
              <a:rPr sz="900" b="0">
                <a:solidFill>
                  <a:srgbClr val="C9D6E3"/>
                </a:solidFill>
                <a:latin typeface="Segoe UI"/>
              </a:rPr>
              <a:t>ingest</a:t>
            </a:r>
          </a:p>
        </p:txBody>
      </p:sp>
      <p:sp>
        <p:nvSpPr>
          <p:cNvPr id="20" name="Rounded Rectangle 19"/>
          <p:cNvSpPr/>
          <p:nvPr/>
        </p:nvSpPr>
        <p:spPr>
          <a:xfrm>
            <a:off x="2542032" y="1645920"/>
            <a:ext cx="1965960" cy="3794760"/>
          </a:xfrm>
          <a:prstGeom prst="roundRect">
            <a:avLst>
              <a:gd name="adj" fmla="val 5000"/>
            </a:avLst>
          </a:prstGeom>
          <a:solidFill>
            <a:srgbClr val="17385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Oval 20"/>
          <p:cNvSpPr/>
          <p:nvPr/>
        </p:nvSpPr>
        <p:spPr>
          <a:xfrm>
            <a:off x="3168395" y="1819655"/>
            <a:ext cx="713232" cy="713232"/>
          </a:xfrm>
          <a:prstGeom prst="ellipse">
            <a:avLst/>
          </a:prstGeom>
          <a:solidFill>
            <a:srgbClr val="1F4E7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cxnSp>
        <p:nvCxnSpPr>
          <p:cNvPr id="22" name="Connector 21"/>
          <p:cNvCxnSpPr/>
          <p:nvPr/>
        </p:nvCxnSpPr>
        <p:spPr>
          <a:xfrm flipV="1">
            <a:off x="3353836" y="2019360"/>
            <a:ext cx="256763" cy="156912"/>
          </a:xfrm>
          <a:prstGeom prst="line">
            <a:avLst/>
          </a:prstGeom>
          <a:ln w="24765">
            <a:solidFill>
              <a:srgbClr val="FFFFFF"/>
            </a:solidFill>
          </a:ln>
        </p:spPr>
        <p:style>
          <a:lnRef idx="2">
            <a:schemeClr val="accent1"/>
          </a:lnRef>
          <a:fillRef idx="0">
            <a:schemeClr val="accent1"/>
          </a:fillRef>
          <a:effectRef idx="1">
            <a:schemeClr val="accent1"/>
          </a:effectRef>
          <a:fontRef idx="minor">
            <a:schemeClr val="tx1"/>
          </a:fontRef>
        </p:style>
      </p:cxnSp>
      <p:cxnSp>
        <p:nvCxnSpPr>
          <p:cNvPr id="23" name="Connector 22"/>
          <p:cNvCxnSpPr/>
          <p:nvPr/>
        </p:nvCxnSpPr>
        <p:spPr>
          <a:xfrm>
            <a:off x="3353836" y="2176272"/>
            <a:ext cx="256763" cy="156911"/>
          </a:xfrm>
          <a:prstGeom prst="line">
            <a:avLst/>
          </a:prstGeom>
          <a:ln w="24765">
            <a:solidFill>
              <a:srgbClr val="FFFFFF"/>
            </a:solidFill>
          </a:ln>
        </p:spPr>
        <p:style>
          <a:lnRef idx="2">
            <a:schemeClr val="accent1"/>
          </a:lnRef>
          <a:fillRef idx="0">
            <a:schemeClr val="accent1"/>
          </a:fillRef>
          <a:effectRef idx="1">
            <a:schemeClr val="accent1"/>
          </a:effectRef>
          <a:fontRef idx="minor">
            <a:schemeClr val="tx1"/>
          </a:fontRef>
        </p:style>
      </p:cxnSp>
      <p:cxnSp>
        <p:nvCxnSpPr>
          <p:cNvPr id="24" name="Connector 23"/>
          <p:cNvCxnSpPr/>
          <p:nvPr/>
        </p:nvCxnSpPr>
        <p:spPr>
          <a:xfrm>
            <a:off x="3610599" y="2019360"/>
            <a:ext cx="128382" cy="156912"/>
          </a:xfrm>
          <a:prstGeom prst="line">
            <a:avLst/>
          </a:prstGeom>
          <a:ln w="24765">
            <a:solidFill>
              <a:srgbClr val="FFFFFF"/>
            </a:solidFill>
          </a:ln>
        </p:spPr>
        <p:style>
          <a:lnRef idx="2">
            <a:schemeClr val="accent1"/>
          </a:lnRef>
          <a:fillRef idx="0">
            <a:schemeClr val="accent1"/>
          </a:fillRef>
          <a:effectRef idx="1">
            <a:schemeClr val="accent1"/>
          </a:effectRef>
          <a:fontRef idx="minor">
            <a:schemeClr val="tx1"/>
          </a:fontRef>
        </p:style>
      </p:cxnSp>
      <p:cxnSp>
        <p:nvCxnSpPr>
          <p:cNvPr id="25" name="Connector 24"/>
          <p:cNvCxnSpPr/>
          <p:nvPr/>
        </p:nvCxnSpPr>
        <p:spPr>
          <a:xfrm flipV="1">
            <a:off x="3610599" y="2176272"/>
            <a:ext cx="128382" cy="156911"/>
          </a:xfrm>
          <a:prstGeom prst="line">
            <a:avLst/>
          </a:prstGeom>
          <a:ln w="24765">
            <a:solidFill>
              <a:srgbClr val="FFFFFF"/>
            </a:solidFill>
          </a:ln>
        </p:spPr>
        <p:style>
          <a:lnRef idx="2">
            <a:schemeClr val="accent1"/>
          </a:lnRef>
          <a:fillRef idx="0">
            <a:schemeClr val="accent1"/>
          </a:fillRef>
          <a:effectRef idx="1">
            <a:schemeClr val="accent1"/>
          </a:effectRef>
          <a:fontRef idx="minor">
            <a:schemeClr val="tx1"/>
          </a:fontRef>
        </p:style>
      </p:cxnSp>
      <p:sp>
        <p:nvSpPr>
          <p:cNvPr id="26" name="Oval 25"/>
          <p:cNvSpPr/>
          <p:nvPr/>
        </p:nvSpPr>
        <p:spPr>
          <a:xfrm>
            <a:off x="3293211" y="2115647"/>
            <a:ext cx="121249" cy="121249"/>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Oval 26"/>
          <p:cNvSpPr/>
          <p:nvPr/>
        </p:nvSpPr>
        <p:spPr>
          <a:xfrm>
            <a:off x="3549975" y="1958736"/>
            <a:ext cx="121249" cy="121249"/>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Oval 27"/>
          <p:cNvSpPr/>
          <p:nvPr/>
        </p:nvSpPr>
        <p:spPr>
          <a:xfrm>
            <a:off x="3549975" y="2272558"/>
            <a:ext cx="121249" cy="121249"/>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Oval 28"/>
          <p:cNvSpPr/>
          <p:nvPr/>
        </p:nvSpPr>
        <p:spPr>
          <a:xfrm>
            <a:off x="3678356" y="2115647"/>
            <a:ext cx="121249" cy="121249"/>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TextBox 29"/>
          <p:cNvSpPr txBox="1"/>
          <p:nvPr/>
        </p:nvSpPr>
        <p:spPr>
          <a:xfrm>
            <a:off x="2542032" y="2606040"/>
            <a:ext cx="1965960" cy="365760"/>
          </a:xfrm>
          <a:prstGeom prst="rect">
            <a:avLst/>
          </a:prstGeom>
          <a:noFill/>
        </p:spPr>
        <p:txBody>
          <a:bodyPr wrap="square" lIns="0" tIns="0" rIns="0" bIns="0" anchor="t">
            <a:spAutoFit/>
          </a:bodyPr>
          <a:lstStyle/>
          <a:p>
            <a:pPr algn="ctr">
              <a:lnSpc>
                <a:spcPct val="100000"/>
              </a:lnSpc>
            </a:pPr>
            <a:r>
              <a:rPr sz="1400" b="0">
                <a:solidFill>
                  <a:srgbClr val="FFFFFF"/>
                </a:solidFill>
                <a:latin typeface="Segoe UI Semibold"/>
              </a:rPr>
              <a:t>Alteryx Server</a:t>
            </a:r>
          </a:p>
        </p:txBody>
      </p:sp>
      <p:sp>
        <p:nvSpPr>
          <p:cNvPr id="31" name="Rounded Rectangle 30"/>
          <p:cNvSpPr/>
          <p:nvPr/>
        </p:nvSpPr>
        <p:spPr>
          <a:xfrm>
            <a:off x="2679191" y="3090672"/>
            <a:ext cx="1691639" cy="374904"/>
          </a:xfrm>
          <a:prstGeom prst="roundRect">
            <a:avLst>
              <a:gd name="adj" fmla="val 20000"/>
            </a:avLst>
          </a:prstGeom>
          <a:solidFill>
            <a:srgbClr val="1F4E7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TextBox 31"/>
          <p:cNvSpPr txBox="1"/>
          <p:nvPr/>
        </p:nvSpPr>
        <p:spPr>
          <a:xfrm>
            <a:off x="2679191" y="3090672"/>
            <a:ext cx="1691639" cy="374904"/>
          </a:xfrm>
          <a:prstGeom prst="rect">
            <a:avLst/>
          </a:prstGeom>
          <a:noFill/>
        </p:spPr>
        <p:txBody>
          <a:bodyPr wrap="square" lIns="0" tIns="0" rIns="0" bIns="0" anchor="ctr">
            <a:spAutoFit/>
          </a:bodyPr>
          <a:lstStyle/>
          <a:p>
            <a:pPr algn="ctr">
              <a:lnSpc>
                <a:spcPct val="100000"/>
              </a:lnSpc>
            </a:pPr>
            <a:r>
              <a:rPr sz="1000" b="0">
                <a:solidFill>
                  <a:srgbClr val="C9D6E3"/>
                </a:solidFill>
                <a:latin typeface="Segoe UI"/>
              </a:rPr>
              <a:t>Scheduler + file watcher</a:t>
            </a:r>
          </a:p>
        </p:txBody>
      </p:sp>
      <p:sp>
        <p:nvSpPr>
          <p:cNvPr id="33" name="Rounded Rectangle 32"/>
          <p:cNvSpPr/>
          <p:nvPr/>
        </p:nvSpPr>
        <p:spPr>
          <a:xfrm>
            <a:off x="2679191" y="3538728"/>
            <a:ext cx="1691639" cy="374904"/>
          </a:xfrm>
          <a:prstGeom prst="roundRect">
            <a:avLst>
              <a:gd name="adj" fmla="val 20000"/>
            </a:avLst>
          </a:prstGeom>
          <a:solidFill>
            <a:srgbClr val="1F4E7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 name="TextBox 33"/>
          <p:cNvSpPr txBox="1"/>
          <p:nvPr/>
        </p:nvSpPr>
        <p:spPr>
          <a:xfrm>
            <a:off x="2679191" y="3538728"/>
            <a:ext cx="1691639" cy="374904"/>
          </a:xfrm>
          <a:prstGeom prst="rect">
            <a:avLst/>
          </a:prstGeom>
          <a:noFill/>
        </p:spPr>
        <p:txBody>
          <a:bodyPr wrap="square" lIns="0" tIns="0" rIns="0" bIns="0" anchor="ctr">
            <a:spAutoFit/>
          </a:bodyPr>
          <a:lstStyle/>
          <a:p>
            <a:pPr algn="ctr">
              <a:lnSpc>
                <a:spcPct val="100000"/>
              </a:lnSpc>
            </a:pPr>
            <a:r>
              <a:rPr sz="1000" b="0">
                <a:solidFill>
                  <a:srgbClr val="C9D6E3"/>
                </a:solidFill>
                <a:latin typeface="Segoe UI"/>
              </a:rPr>
              <a:t>Orchestrator in Gallery</a:t>
            </a:r>
          </a:p>
        </p:txBody>
      </p:sp>
      <p:sp>
        <p:nvSpPr>
          <p:cNvPr id="35" name="Rounded Rectangle 34"/>
          <p:cNvSpPr/>
          <p:nvPr/>
        </p:nvSpPr>
        <p:spPr>
          <a:xfrm>
            <a:off x="2679191" y="3986783"/>
            <a:ext cx="1691639" cy="374904"/>
          </a:xfrm>
          <a:prstGeom prst="roundRect">
            <a:avLst>
              <a:gd name="adj" fmla="val 20000"/>
            </a:avLst>
          </a:prstGeom>
          <a:solidFill>
            <a:srgbClr val="1F4E7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6" name="TextBox 35"/>
          <p:cNvSpPr txBox="1"/>
          <p:nvPr/>
        </p:nvSpPr>
        <p:spPr>
          <a:xfrm>
            <a:off x="2679191" y="3986783"/>
            <a:ext cx="1691639" cy="374904"/>
          </a:xfrm>
          <a:prstGeom prst="rect">
            <a:avLst/>
          </a:prstGeom>
          <a:noFill/>
        </p:spPr>
        <p:txBody>
          <a:bodyPr wrap="square" lIns="0" tIns="0" rIns="0" bIns="0" anchor="ctr">
            <a:spAutoFit/>
          </a:bodyPr>
          <a:lstStyle/>
          <a:p>
            <a:pPr algn="ctr">
              <a:lnSpc>
                <a:spcPct val="100000"/>
              </a:lnSpc>
            </a:pPr>
            <a:r>
              <a:rPr sz="1000" b="0">
                <a:solidFill>
                  <a:srgbClr val="C9D6E3"/>
                </a:solidFill>
                <a:latin typeface="Segoe UI"/>
              </a:rPr>
              <a:t>Service-account DCM</a:t>
            </a:r>
          </a:p>
        </p:txBody>
      </p:sp>
      <p:sp>
        <p:nvSpPr>
          <p:cNvPr id="37" name="Rounded Rectangle 36"/>
          <p:cNvSpPr/>
          <p:nvPr/>
        </p:nvSpPr>
        <p:spPr>
          <a:xfrm>
            <a:off x="2679191" y="4434840"/>
            <a:ext cx="1691639" cy="374904"/>
          </a:xfrm>
          <a:prstGeom prst="roundRect">
            <a:avLst>
              <a:gd name="adj" fmla="val 20000"/>
            </a:avLst>
          </a:prstGeom>
          <a:solidFill>
            <a:srgbClr val="1F4E7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8" name="TextBox 37"/>
          <p:cNvSpPr txBox="1"/>
          <p:nvPr/>
        </p:nvSpPr>
        <p:spPr>
          <a:xfrm>
            <a:off x="2679191" y="4434840"/>
            <a:ext cx="1691639" cy="374904"/>
          </a:xfrm>
          <a:prstGeom prst="rect">
            <a:avLst/>
          </a:prstGeom>
          <a:noFill/>
        </p:spPr>
        <p:txBody>
          <a:bodyPr wrap="square" lIns="0" tIns="0" rIns="0" bIns="0" anchor="ctr">
            <a:spAutoFit/>
          </a:bodyPr>
          <a:lstStyle/>
          <a:p>
            <a:pPr algn="ctr">
              <a:lnSpc>
                <a:spcPct val="100000"/>
              </a:lnSpc>
            </a:pPr>
            <a:r>
              <a:rPr sz="1000" b="0">
                <a:solidFill>
                  <a:srgbClr val="C9D6E3"/>
                </a:solidFill>
                <a:latin typeface="Segoe UI"/>
              </a:rPr>
              <a:t>Run log → audit</a:t>
            </a:r>
          </a:p>
        </p:txBody>
      </p:sp>
      <p:cxnSp>
        <p:nvCxnSpPr>
          <p:cNvPr id="39" name="Connector 38"/>
          <p:cNvCxnSpPr/>
          <p:nvPr/>
        </p:nvCxnSpPr>
        <p:spPr>
          <a:xfrm>
            <a:off x="4553712" y="2176272"/>
            <a:ext cx="393192" cy="0"/>
          </a:xfrm>
          <a:prstGeom prst="line">
            <a:avLst/>
          </a:prstGeom>
          <a:ln w="22225">
            <a:solidFill>
              <a:srgbClr val="C9D6E3"/>
            </a:solidFill>
            <a:tailEnd type="triangle" w="med" len="med"/>
          </a:ln>
        </p:spPr>
        <p:style>
          <a:lnRef idx="2">
            <a:schemeClr val="accent1"/>
          </a:lnRef>
          <a:fillRef idx="0">
            <a:schemeClr val="accent1"/>
          </a:fillRef>
          <a:effectRef idx="1">
            <a:schemeClr val="accent1"/>
          </a:effectRef>
          <a:fontRef idx="minor">
            <a:schemeClr val="tx1"/>
          </a:fontRef>
        </p:style>
      </p:cxnSp>
      <p:sp>
        <p:nvSpPr>
          <p:cNvPr id="40" name="TextBox 39"/>
          <p:cNvSpPr txBox="1"/>
          <p:nvPr/>
        </p:nvSpPr>
        <p:spPr>
          <a:xfrm>
            <a:off x="4398264" y="2258568"/>
            <a:ext cx="704088" cy="228600"/>
          </a:xfrm>
          <a:prstGeom prst="rect">
            <a:avLst/>
          </a:prstGeom>
          <a:noFill/>
        </p:spPr>
        <p:txBody>
          <a:bodyPr wrap="square" lIns="0" tIns="0" rIns="0" bIns="0" anchor="t">
            <a:spAutoFit/>
          </a:bodyPr>
          <a:lstStyle/>
          <a:p>
            <a:pPr algn="ctr">
              <a:lnSpc>
                <a:spcPct val="100000"/>
              </a:lnSpc>
            </a:pPr>
            <a:r>
              <a:rPr sz="900" b="0">
                <a:solidFill>
                  <a:srgbClr val="C9D6E3"/>
                </a:solidFill>
                <a:latin typeface="Segoe UI"/>
              </a:rPr>
              <a:t>load</a:t>
            </a:r>
          </a:p>
        </p:txBody>
      </p:sp>
      <p:sp>
        <p:nvSpPr>
          <p:cNvPr id="41" name="Rounded Rectangle 40"/>
          <p:cNvSpPr/>
          <p:nvPr/>
        </p:nvSpPr>
        <p:spPr>
          <a:xfrm>
            <a:off x="4992623" y="1645920"/>
            <a:ext cx="2148840" cy="3794760"/>
          </a:xfrm>
          <a:prstGeom prst="roundRect">
            <a:avLst>
              <a:gd name="adj" fmla="val 5000"/>
            </a:avLst>
          </a:prstGeom>
          <a:solidFill>
            <a:srgbClr val="17385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2" name="Oval 41"/>
          <p:cNvSpPr/>
          <p:nvPr/>
        </p:nvSpPr>
        <p:spPr>
          <a:xfrm>
            <a:off x="5710427" y="1819655"/>
            <a:ext cx="713232" cy="713232"/>
          </a:xfrm>
          <a:prstGeom prst="ellipse">
            <a:avLst/>
          </a:prstGeom>
          <a:solidFill>
            <a:srgbClr val="1F4E7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3" name="Can 42"/>
          <p:cNvSpPr/>
          <p:nvPr/>
        </p:nvSpPr>
        <p:spPr>
          <a:xfrm>
            <a:off x="5910132" y="1990831"/>
            <a:ext cx="313822" cy="370880"/>
          </a:xfrm>
          <a:prstGeom prst="can">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4" name="TextBox 43"/>
          <p:cNvSpPr txBox="1"/>
          <p:nvPr/>
        </p:nvSpPr>
        <p:spPr>
          <a:xfrm>
            <a:off x="4992623" y="2606040"/>
            <a:ext cx="2148840" cy="365760"/>
          </a:xfrm>
          <a:prstGeom prst="rect">
            <a:avLst/>
          </a:prstGeom>
          <a:noFill/>
        </p:spPr>
        <p:txBody>
          <a:bodyPr wrap="square" lIns="0" tIns="0" rIns="0" bIns="0" anchor="t">
            <a:spAutoFit/>
          </a:bodyPr>
          <a:lstStyle/>
          <a:p>
            <a:pPr algn="ctr">
              <a:lnSpc>
                <a:spcPct val="100000"/>
              </a:lnSpc>
            </a:pPr>
            <a:r>
              <a:rPr sz="1400" b="0">
                <a:solidFill>
                  <a:srgbClr val="FFFFFF"/>
                </a:solidFill>
                <a:latin typeface="Segoe UI Semibold"/>
              </a:rPr>
              <a:t>SQL Server</a:t>
            </a:r>
          </a:p>
        </p:txBody>
      </p:sp>
      <p:sp>
        <p:nvSpPr>
          <p:cNvPr id="45" name="Rounded Rectangle 44"/>
          <p:cNvSpPr/>
          <p:nvPr/>
        </p:nvSpPr>
        <p:spPr>
          <a:xfrm>
            <a:off x="5129783" y="3090672"/>
            <a:ext cx="1874520" cy="374904"/>
          </a:xfrm>
          <a:prstGeom prst="roundRect">
            <a:avLst>
              <a:gd name="adj" fmla="val 20000"/>
            </a:avLst>
          </a:prstGeom>
          <a:solidFill>
            <a:srgbClr val="A9652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6" name="TextBox 45"/>
          <p:cNvSpPr txBox="1"/>
          <p:nvPr/>
        </p:nvSpPr>
        <p:spPr>
          <a:xfrm>
            <a:off x="5129783" y="3090672"/>
            <a:ext cx="1874520" cy="374904"/>
          </a:xfrm>
          <a:prstGeom prst="rect">
            <a:avLst/>
          </a:prstGeom>
          <a:noFill/>
        </p:spPr>
        <p:txBody>
          <a:bodyPr wrap="square" lIns="0" tIns="0" rIns="0" bIns="0" anchor="ctr">
            <a:spAutoFit/>
          </a:bodyPr>
          <a:lstStyle/>
          <a:p>
            <a:pPr algn="ctr">
              <a:lnSpc>
                <a:spcPct val="100000"/>
              </a:lnSpc>
            </a:pPr>
            <a:r>
              <a:rPr sz="1000" b="1">
                <a:solidFill>
                  <a:srgbClr val="FFFFFF"/>
                </a:solidFill>
                <a:latin typeface="Segoe UI"/>
              </a:rPr>
              <a:t>Bronze · raw</a:t>
            </a:r>
          </a:p>
        </p:txBody>
      </p:sp>
      <p:sp>
        <p:nvSpPr>
          <p:cNvPr id="47" name="Rounded Rectangle 46"/>
          <p:cNvSpPr/>
          <p:nvPr/>
        </p:nvSpPr>
        <p:spPr>
          <a:xfrm>
            <a:off x="5129783" y="3538728"/>
            <a:ext cx="1874520" cy="374904"/>
          </a:xfrm>
          <a:prstGeom prst="roundRect">
            <a:avLst>
              <a:gd name="adj" fmla="val 20000"/>
            </a:avLst>
          </a:prstGeom>
          <a:solidFill>
            <a:srgbClr val="7C8A9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8" name="TextBox 47"/>
          <p:cNvSpPr txBox="1"/>
          <p:nvPr/>
        </p:nvSpPr>
        <p:spPr>
          <a:xfrm>
            <a:off x="5129783" y="3538728"/>
            <a:ext cx="1874520" cy="374904"/>
          </a:xfrm>
          <a:prstGeom prst="rect">
            <a:avLst/>
          </a:prstGeom>
          <a:noFill/>
        </p:spPr>
        <p:txBody>
          <a:bodyPr wrap="square" lIns="0" tIns="0" rIns="0" bIns="0" anchor="ctr">
            <a:spAutoFit/>
          </a:bodyPr>
          <a:lstStyle/>
          <a:p>
            <a:pPr algn="ctr">
              <a:lnSpc>
                <a:spcPct val="100000"/>
              </a:lnSpc>
            </a:pPr>
            <a:r>
              <a:rPr sz="1000" b="1">
                <a:solidFill>
                  <a:srgbClr val="FFFFFF"/>
                </a:solidFill>
                <a:latin typeface="Segoe UI"/>
              </a:rPr>
              <a:t>Silver · validated</a:t>
            </a:r>
          </a:p>
        </p:txBody>
      </p:sp>
      <p:sp>
        <p:nvSpPr>
          <p:cNvPr id="49" name="Rounded Rectangle 48"/>
          <p:cNvSpPr/>
          <p:nvPr/>
        </p:nvSpPr>
        <p:spPr>
          <a:xfrm>
            <a:off x="5129783" y="3986783"/>
            <a:ext cx="1874520" cy="374904"/>
          </a:xfrm>
          <a:prstGeom prst="roundRect">
            <a:avLst>
              <a:gd name="adj" fmla="val 20000"/>
            </a:avLst>
          </a:prstGeom>
          <a:solidFill>
            <a:srgbClr val="F2A9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0" name="TextBox 49"/>
          <p:cNvSpPr txBox="1"/>
          <p:nvPr/>
        </p:nvSpPr>
        <p:spPr>
          <a:xfrm>
            <a:off x="5129783" y="3986783"/>
            <a:ext cx="1874520" cy="374904"/>
          </a:xfrm>
          <a:prstGeom prst="rect">
            <a:avLst/>
          </a:prstGeom>
          <a:noFill/>
        </p:spPr>
        <p:txBody>
          <a:bodyPr wrap="square" lIns="0" tIns="0" rIns="0" bIns="0" anchor="ctr">
            <a:spAutoFit/>
          </a:bodyPr>
          <a:lstStyle/>
          <a:p>
            <a:pPr algn="ctr">
              <a:lnSpc>
                <a:spcPct val="100000"/>
              </a:lnSpc>
            </a:pPr>
            <a:r>
              <a:rPr sz="1000" b="1">
                <a:solidFill>
                  <a:srgbClr val="1F4E79"/>
                </a:solidFill>
                <a:latin typeface="Segoe UI"/>
              </a:rPr>
              <a:t>Gold · star schema</a:t>
            </a:r>
          </a:p>
        </p:txBody>
      </p:sp>
      <p:sp>
        <p:nvSpPr>
          <p:cNvPr id="51" name="Rounded Rectangle 50"/>
          <p:cNvSpPr/>
          <p:nvPr/>
        </p:nvSpPr>
        <p:spPr>
          <a:xfrm>
            <a:off x="5129783" y="4434840"/>
            <a:ext cx="1874520" cy="374904"/>
          </a:xfrm>
          <a:prstGeom prst="roundRect">
            <a:avLst>
              <a:gd name="adj" fmla="val 2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2" name="TextBox 51"/>
          <p:cNvSpPr txBox="1"/>
          <p:nvPr/>
        </p:nvSpPr>
        <p:spPr>
          <a:xfrm>
            <a:off x="5129783" y="4434840"/>
            <a:ext cx="1874520" cy="374904"/>
          </a:xfrm>
          <a:prstGeom prst="rect">
            <a:avLst/>
          </a:prstGeom>
          <a:noFill/>
        </p:spPr>
        <p:txBody>
          <a:bodyPr wrap="square" lIns="0" tIns="0" rIns="0" bIns="0" anchor="ctr">
            <a:spAutoFit/>
          </a:bodyPr>
          <a:lstStyle/>
          <a:p>
            <a:pPr algn="ctr">
              <a:lnSpc>
                <a:spcPct val="100000"/>
              </a:lnSpc>
            </a:pPr>
            <a:r>
              <a:rPr sz="1000" b="1">
                <a:solidFill>
                  <a:srgbClr val="1F4E79"/>
                </a:solidFill>
                <a:latin typeface="Segoe UI"/>
              </a:rPr>
              <a:t>Semantic · rpt views</a:t>
            </a:r>
          </a:p>
        </p:txBody>
      </p:sp>
      <p:sp>
        <p:nvSpPr>
          <p:cNvPr id="53" name="Rounded Rectangle 52"/>
          <p:cNvSpPr/>
          <p:nvPr/>
        </p:nvSpPr>
        <p:spPr>
          <a:xfrm>
            <a:off x="5129783" y="4882896"/>
            <a:ext cx="1874520" cy="374904"/>
          </a:xfrm>
          <a:prstGeom prst="roundRect">
            <a:avLst>
              <a:gd name="adj" fmla="val 20000"/>
            </a:avLst>
          </a:prstGeom>
          <a:solidFill>
            <a:srgbClr val="1F4E7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4" name="TextBox 53"/>
          <p:cNvSpPr txBox="1"/>
          <p:nvPr/>
        </p:nvSpPr>
        <p:spPr>
          <a:xfrm>
            <a:off x="5129783" y="4882896"/>
            <a:ext cx="1874520" cy="374904"/>
          </a:xfrm>
          <a:prstGeom prst="rect">
            <a:avLst/>
          </a:prstGeom>
          <a:noFill/>
        </p:spPr>
        <p:txBody>
          <a:bodyPr wrap="square" lIns="0" tIns="0" rIns="0" bIns="0" anchor="ctr">
            <a:spAutoFit/>
          </a:bodyPr>
          <a:lstStyle/>
          <a:p>
            <a:pPr algn="ctr">
              <a:lnSpc>
                <a:spcPct val="100000"/>
              </a:lnSpc>
            </a:pPr>
            <a:r>
              <a:rPr sz="1000" b="1">
                <a:solidFill>
                  <a:srgbClr val="FFFFFF"/>
                </a:solidFill>
                <a:latin typeface="Segoe UI"/>
              </a:rPr>
              <a:t>Metadata &amp; audit</a:t>
            </a:r>
          </a:p>
        </p:txBody>
      </p:sp>
      <p:cxnSp>
        <p:nvCxnSpPr>
          <p:cNvPr id="55" name="Connector 54"/>
          <p:cNvCxnSpPr/>
          <p:nvPr/>
        </p:nvCxnSpPr>
        <p:spPr>
          <a:xfrm>
            <a:off x="7187183" y="2176272"/>
            <a:ext cx="393192" cy="0"/>
          </a:xfrm>
          <a:prstGeom prst="line">
            <a:avLst/>
          </a:prstGeom>
          <a:ln w="22225">
            <a:solidFill>
              <a:srgbClr val="C9D6E3"/>
            </a:solidFill>
            <a:tailEnd type="triangle" w="med" len="med"/>
          </a:ln>
        </p:spPr>
        <p:style>
          <a:lnRef idx="2">
            <a:schemeClr val="accent1"/>
          </a:lnRef>
          <a:fillRef idx="0">
            <a:schemeClr val="accent1"/>
          </a:fillRef>
          <a:effectRef idx="1">
            <a:schemeClr val="accent1"/>
          </a:effectRef>
          <a:fontRef idx="minor">
            <a:schemeClr val="tx1"/>
          </a:fontRef>
        </p:style>
      </p:cxnSp>
      <p:sp>
        <p:nvSpPr>
          <p:cNvPr id="56" name="TextBox 55"/>
          <p:cNvSpPr txBox="1"/>
          <p:nvPr/>
        </p:nvSpPr>
        <p:spPr>
          <a:xfrm>
            <a:off x="7031735" y="2258568"/>
            <a:ext cx="704088" cy="228600"/>
          </a:xfrm>
          <a:prstGeom prst="rect">
            <a:avLst/>
          </a:prstGeom>
          <a:noFill/>
        </p:spPr>
        <p:txBody>
          <a:bodyPr wrap="square" lIns="0" tIns="0" rIns="0" bIns="0" anchor="t">
            <a:spAutoFit/>
          </a:bodyPr>
          <a:lstStyle/>
          <a:p>
            <a:pPr algn="ctr">
              <a:lnSpc>
                <a:spcPct val="100000"/>
              </a:lnSpc>
            </a:pPr>
            <a:r>
              <a:rPr sz="900" b="0">
                <a:solidFill>
                  <a:srgbClr val="C9D6E3"/>
                </a:solidFill>
                <a:latin typeface="Segoe UI"/>
              </a:rPr>
              <a:t>read-only</a:t>
            </a:r>
          </a:p>
        </p:txBody>
      </p:sp>
      <p:sp>
        <p:nvSpPr>
          <p:cNvPr id="57" name="Rounded Rectangle 56"/>
          <p:cNvSpPr/>
          <p:nvPr/>
        </p:nvSpPr>
        <p:spPr>
          <a:xfrm>
            <a:off x="7626096" y="1645920"/>
            <a:ext cx="1965960" cy="3794760"/>
          </a:xfrm>
          <a:prstGeom prst="roundRect">
            <a:avLst>
              <a:gd name="adj" fmla="val 5000"/>
            </a:avLst>
          </a:prstGeom>
          <a:solidFill>
            <a:srgbClr val="17385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8" name="Oval 57"/>
          <p:cNvSpPr/>
          <p:nvPr/>
        </p:nvSpPr>
        <p:spPr>
          <a:xfrm>
            <a:off x="8252459" y="1819655"/>
            <a:ext cx="713232" cy="713232"/>
          </a:xfrm>
          <a:prstGeom prst="ellipse">
            <a:avLst/>
          </a:prstGeom>
          <a:solidFill>
            <a:srgbClr val="1F4E7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9" name="Plus 58"/>
          <p:cNvSpPr/>
          <p:nvPr/>
        </p:nvSpPr>
        <p:spPr>
          <a:xfrm>
            <a:off x="8480694" y="2047890"/>
            <a:ext cx="256763" cy="256763"/>
          </a:xfrm>
          <a:prstGeom prst="mathPlus">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0" name="Plus 59"/>
          <p:cNvSpPr/>
          <p:nvPr/>
        </p:nvSpPr>
        <p:spPr>
          <a:xfrm>
            <a:off x="8359444" y="1926640"/>
            <a:ext cx="128381" cy="128381"/>
          </a:xfrm>
          <a:prstGeom prst="mathPlus">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1" name="Plus 60"/>
          <p:cNvSpPr/>
          <p:nvPr/>
        </p:nvSpPr>
        <p:spPr>
          <a:xfrm>
            <a:off x="8730325" y="1926640"/>
            <a:ext cx="128381" cy="128381"/>
          </a:xfrm>
          <a:prstGeom prst="mathPlus">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2" name="Plus 61"/>
          <p:cNvSpPr/>
          <p:nvPr/>
        </p:nvSpPr>
        <p:spPr>
          <a:xfrm>
            <a:off x="8359444" y="2297521"/>
            <a:ext cx="128381" cy="128381"/>
          </a:xfrm>
          <a:prstGeom prst="mathPlus">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3" name="Plus 62"/>
          <p:cNvSpPr/>
          <p:nvPr/>
        </p:nvSpPr>
        <p:spPr>
          <a:xfrm>
            <a:off x="8730325" y="2297521"/>
            <a:ext cx="128381" cy="128381"/>
          </a:xfrm>
          <a:prstGeom prst="mathPlus">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4" name="TextBox 63"/>
          <p:cNvSpPr txBox="1"/>
          <p:nvPr/>
        </p:nvSpPr>
        <p:spPr>
          <a:xfrm>
            <a:off x="7626096" y="2606040"/>
            <a:ext cx="1965960" cy="365760"/>
          </a:xfrm>
          <a:prstGeom prst="rect">
            <a:avLst/>
          </a:prstGeom>
          <a:noFill/>
        </p:spPr>
        <p:txBody>
          <a:bodyPr wrap="square" lIns="0" tIns="0" rIns="0" bIns="0" anchor="t">
            <a:spAutoFit/>
          </a:bodyPr>
          <a:lstStyle/>
          <a:p>
            <a:pPr algn="ctr">
              <a:lnSpc>
                <a:spcPct val="100000"/>
              </a:lnSpc>
            </a:pPr>
            <a:r>
              <a:rPr sz="1400" b="0">
                <a:solidFill>
                  <a:srgbClr val="FFFFFF"/>
                </a:solidFill>
                <a:latin typeface="Segoe UI Semibold"/>
              </a:rPr>
              <a:t>Tableau Server</a:t>
            </a:r>
          </a:p>
        </p:txBody>
      </p:sp>
      <p:sp>
        <p:nvSpPr>
          <p:cNvPr id="65" name="Rounded Rectangle 64"/>
          <p:cNvSpPr/>
          <p:nvPr/>
        </p:nvSpPr>
        <p:spPr>
          <a:xfrm>
            <a:off x="7763256" y="3090672"/>
            <a:ext cx="1691639" cy="374904"/>
          </a:xfrm>
          <a:prstGeom prst="roundRect">
            <a:avLst>
              <a:gd name="adj" fmla="val 20000"/>
            </a:avLst>
          </a:prstGeom>
          <a:solidFill>
            <a:srgbClr val="1F4E7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6" name="TextBox 65"/>
          <p:cNvSpPr txBox="1"/>
          <p:nvPr/>
        </p:nvSpPr>
        <p:spPr>
          <a:xfrm>
            <a:off x="7763256" y="3090672"/>
            <a:ext cx="1691639" cy="374904"/>
          </a:xfrm>
          <a:prstGeom prst="rect">
            <a:avLst/>
          </a:prstGeom>
          <a:noFill/>
        </p:spPr>
        <p:txBody>
          <a:bodyPr wrap="square" lIns="0" tIns="0" rIns="0" bIns="0" anchor="ctr">
            <a:spAutoFit/>
          </a:bodyPr>
          <a:lstStyle/>
          <a:p>
            <a:pPr algn="ctr">
              <a:lnSpc>
                <a:spcPct val="100000"/>
              </a:lnSpc>
            </a:pPr>
            <a:r>
              <a:rPr sz="1000" b="0">
                <a:solidFill>
                  <a:srgbClr val="C9D6E3"/>
                </a:solidFill>
                <a:latin typeface="Segoe UI"/>
              </a:rPr>
              <a:t>Certified data source</a:t>
            </a:r>
          </a:p>
        </p:txBody>
      </p:sp>
      <p:sp>
        <p:nvSpPr>
          <p:cNvPr id="67" name="Rounded Rectangle 66"/>
          <p:cNvSpPr/>
          <p:nvPr/>
        </p:nvSpPr>
        <p:spPr>
          <a:xfrm>
            <a:off x="7763256" y="3538728"/>
            <a:ext cx="1691639" cy="374904"/>
          </a:xfrm>
          <a:prstGeom prst="roundRect">
            <a:avLst>
              <a:gd name="adj" fmla="val 20000"/>
            </a:avLst>
          </a:prstGeom>
          <a:solidFill>
            <a:srgbClr val="1F4E7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8" name="TextBox 67"/>
          <p:cNvSpPr txBox="1"/>
          <p:nvPr/>
        </p:nvSpPr>
        <p:spPr>
          <a:xfrm>
            <a:off x="7763256" y="3538728"/>
            <a:ext cx="1691639" cy="374904"/>
          </a:xfrm>
          <a:prstGeom prst="rect">
            <a:avLst/>
          </a:prstGeom>
          <a:noFill/>
        </p:spPr>
        <p:txBody>
          <a:bodyPr wrap="square" lIns="0" tIns="0" rIns="0" bIns="0" anchor="ctr">
            <a:spAutoFit/>
          </a:bodyPr>
          <a:lstStyle/>
          <a:p>
            <a:pPr algn="ctr">
              <a:lnSpc>
                <a:spcPct val="100000"/>
              </a:lnSpc>
            </a:pPr>
            <a:r>
              <a:rPr sz="1000" b="0">
                <a:solidFill>
                  <a:srgbClr val="C9D6E3"/>
                </a:solidFill>
                <a:latin typeface="Segoe UI"/>
              </a:rPr>
              <a:t>Extract, full refresh</a:t>
            </a:r>
          </a:p>
        </p:txBody>
      </p:sp>
      <p:sp>
        <p:nvSpPr>
          <p:cNvPr id="69" name="Rounded Rectangle 68"/>
          <p:cNvSpPr/>
          <p:nvPr/>
        </p:nvSpPr>
        <p:spPr>
          <a:xfrm>
            <a:off x="7763256" y="3986783"/>
            <a:ext cx="1691639" cy="374904"/>
          </a:xfrm>
          <a:prstGeom prst="roundRect">
            <a:avLst>
              <a:gd name="adj" fmla="val 20000"/>
            </a:avLst>
          </a:prstGeom>
          <a:solidFill>
            <a:srgbClr val="1F4E7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0" name="TextBox 69"/>
          <p:cNvSpPr txBox="1"/>
          <p:nvPr/>
        </p:nvSpPr>
        <p:spPr>
          <a:xfrm>
            <a:off x="7763256" y="3986783"/>
            <a:ext cx="1691639" cy="374904"/>
          </a:xfrm>
          <a:prstGeom prst="rect">
            <a:avLst/>
          </a:prstGeom>
          <a:noFill/>
        </p:spPr>
        <p:txBody>
          <a:bodyPr wrap="square" lIns="0" tIns="0" rIns="0" bIns="0" anchor="ctr">
            <a:spAutoFit/>
          </a:bodyPr>
          <a:lstStyle/>
          <a:p>
            <a:pPr algn="ctr">
              <a:lnSpc>
                <a:spcPct val="100000"/>
              </a:lnSpc>
            </a:pPr>
            <a:r>
              <a:rPr sz="1000" b="0">
                <a:solidFill>
                  <a:srgbClr val="C9D6E3"/>
                </a:solidFill>
                <a:latin typeface="Segoe UI"/>
              </a:rPr>
              <a:t>Row-level security</a:t>
            </a:r>
          </a:p>
        </p:txBody>
      </p:sp>
      <p:sp>
        <p:nvSpPr>
          <p:cNvPr id="71" name="Rounded Rectangle 70"/>
          <p:cNvSpPr/>
          <p:nvPr/>
        </p:nvSpPr>
        <p:spPr>
          <a:xfrm>
            <a:off x="7763256" y="4434840"/>
            <a:ext cx="1691639" cy="374904"/>
          </a:xfrm>
          <a:prstGeom prst="roundRect">
            <a:avLst>
              <a:gd name="adj" fmla="val 20000"/>
            </a:avLst>
          </a:prstGeom>
          <a:solidFill>
            <a:srgbClr val="1F4E7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2" name="TextBox 71"/>
          <p:cNvSpPr txBox="1"/>
          <p:nvPr/>
        </p:nvSpPr>
        <p:spPr>
          <a:xfrm>
            <a:off x="7763256" y="4434840"/>
            <a:ext cx="1691639" cy="374904"/>
          </a:xfrm>
          <a:prstGeom prst="rect">
            <a:avLst/>
          </a:prstGeom>
          <a:noFill/>
        </p:spPr>
        <p:txBody>
          <a:bodyPr wrap="square" lIns="0" tIns="0" rIns="0" bIns="0" anchor="ctr">
            <a:spAutoFit/>
          </a:bodyPr>
          <a:lstStyle/>
          <a:p>
            <a:pPr algn="ctr">
              <a:lnSpc>
                <a:spcPct val="100000"/>
              </a:lnSpc>
            </a:pPr>
            <a:r>
              <a:rPr sz="1000" b="0">
                <a:solidFill>
                  <a:srgbClr val="C9D6E3"/>
                </a:solidFill>
                <a:latin typeface="Segoe UI"/>
              </a:rPr>
              <a:t>Projects by AD group</a:t>
            </a:r>
          </a:p>
        </p:txBody>
      </p:sp>
      <p:cxnSp>
        <p:nvCxnSpPr>
          <p:cNvPr id="73" name="Connector 72"/>
          <p:cNvCxnSpPr/>
          <p:nvPr/>
        </p:nvCxnSpPr>
        <p:spPr>
          <a:xfrm>
            <a:off x="9637776" y="2176272"/>
            <a:ext cx="393192" cy="0"/>
          </a:xfrm>
          <a:prstGeom prst="line">
            <a:avLst/>
          </a:prstGeom>
          <a:ln w="22225">
            <a:solidFill>
              <a:srgbClr val="C9D6E3"/>
            </a:solidFill>
            <a:tailEnd type="triangle" w="med" len="med"/>
          </a:ln>
        </p:spPr>
        <p:style>
          <a:lnRef idx="2">
            <a:schemeClr val="accent1"/>
          </a:lnRef>
          <a:fillRef idx="0">
            <a:schemeClr val="accent1"/>
          </a:fillRef>
          <a:effectRef idx="1">
            <a:schemeClr val="accent1"/>
          </a:effectRef>
          <a:fontRef idx="minor">
            <a:schemeClr val="tx1"/>
          </a:fontRef>
        </p:style>
      </p:cxnSp>
      <p:sp>
        <p:nvSpPr>
          <p:cNvPr id="74" name="TextBox 73"/>
          <p:cNvSpPr txBox="1"/>
          <p:nvPr/>
        </p:nvSpPr>
        <p:spPr>
          <a:xfrm>
            <a:off x="9482328" y="2258568"/>
            <a:ext cx="704088" cy="228600"/>
          </a:xfrm>
          <a:prstGeom prst="rect">
            <a:avLst/>
          </a:prstGeom>
          <a:noFill/>
        </p:spPr>
        <p:txBody>
          <a:bodyPr wrap="square" lIns="0" tIns="0" rIns="0" bIns="0" anchor="t">
            <a:spAutoFit/>
          </a:bodyPr>
          <a:lstStyle/>
          <a:p>
            <a:pPr algn="ctr">
              <a:lnSpc>
                <a:spcPct val="100000"/>
              </a:lnSpc>
            </a:pPr>
            <a:r>
              <a:rPr sz="900" b="0">
                <a:solidFill>
                  <a:srgbClr val="C9D6E3"/>
                </a:solidFill>
                <a:latin typeface="Segoe UI"/>
              </a:rPr>
              <a:t>HTTPS</a:t>
            </a:r>
          </a:p>
        </p:txBody>
      </p:sp>
      <p:sp>
        <p:nvSpPr>
          <p:cNvPr id="75" name="Rounded Rectangle 74"/>
          <p:cNvSpPr/>
          <p:nvPr/>
        </p:nvSpPr>
        <p:spPr>
          <a:xfrm>
            <a:off x="10076688" y="1645920"/>
            <a:ext cx="1600200" cy="3794760"/>
          </a:xfrm>
          <a:prstGeom prst="roundRect">
            <a:avLst>
              <a:gd name="adj" fmla="val 5000"/>
            </a:avLst>
          </a:prstGeom>
          <a:solidFill>
            <a:srgbClr val="17385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6" name="Oval 75"/>
          <p:cNvSpPr/>
          <p:nvPr/>
        </p:nvSpPr>
        <p:spPr>
          <a:xfrm>
            <a:off x="10520172" y="1819655"/>
            <a:ext cx="713232" cy="713232"/>
          </a:xfrm>
          <a:prstGeom prst="ellipse">
            <a:avLst/>
          </a:prstGeom>
          <a:solidFill>
            <a:srgbClr val="F2A9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7" name="Oval 76"/>
          <p:cNvSpPr/>
          <p:nvPr/>
        </p:nvSpPr>
        <p:spPr>
          <a:xfrm>
            <a:off x="10798332" y="1997964"/>
            <a:ext cx="156911" cy="156911"/>
          </a:xfrm>
          <a:prstGeom prst="ellipse">
            <a:avLst/>
          </a:prstGeom>
          <a:solidFill>
            <a:srgbClr val="1F4E7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8" name="Round Same Side Corner Rectangle 77"/>
          <p:cNvSpPr/>
          <p:nvPr/>
        </p:nvSpPr>
        <p:spPr>
          <a:xfrm>
            <a:off x="10712744" y="2190536"/>
            <a:ext cx="328086" cy="171175"/>
          </a:xfrm>
          <a:prstGeom prst="round2SameRect">
            <a:avLst/>
          </a:prstGeom>
          <a:solidFill>
            <a:srgbClr val="1F4E7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9" name="TextBox 78"/>
          <p:cNvSpPr txBox="1"/>
          <p:nvPr/>
        </p:nvSpPr>
        <p:spPr>
          <a:xfrm>
            <a:off x="10076688" y="2606040"/>
            <a:ext cx="1600200" cy="365760"/>
          </a:xfrm>
          <a:prstGeom prst="rect">
            <a:avLst/>
          </a:prstGeom>
          <a:noFill/>
        </p:spPr>
        <p:txBody>
          <a:bodyPr wrap="square" lIns="0" tIns="0" rIns="0" bIns="0" anchor="t">
            <a:spAutoFit/>
          </a:bodyPr>
          <a:lstStyle/>
          <a:p>
            <a:pPr algn="ctr">
              <a:lnSpc>
                <a:spcPct val="100000"/>
              </a:lnSpc>
            </a:pPr>
            <a:r>
              <a:rPr sz="1400" b="0">
                <a:solidFill>
                  <a:srgbClr val="FFFFFF"/>
                </a:solidFill>
                <a:latin typeface="Segoe UI Semibold"/>
              </a:rPr>
              <a:t>Business users</a:t>
            </a:r>
          </a:p>
        </p:txBody>
      </p:sp>
      <p:sp>
        <p:nvSpPr>
          <p:cNvPr id="80" name="Rounded Rectangle 79"/>
          <p:cNvSpPr/>
          <p:nvPr/>
        </p:nvSpPr>
        <p:spPr>
          <a:xfrm>
            <a:off x="10213848" y="3090672"/>
            <a:ext cx="1325880" cy="374904"/>
          </a:xfrm>
          <a:prstGeom prst="roundRect">
            <a:avLst>
              <a:gd name="adj" fmla="val 20000"/>
            </a:avLst>
          </a:prstGeom>
          <a:solidFill>
            <a:srgbClr val="1F4E7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1" name="TextBox 80"/>
          <p:cNvSpPr txBox="1"/>
          <p:nvPr/>
        </p:nvSpPr>
        <p:spPr>
          <a:xfrm>
            <a:off x="10213848" y="3090672"/>
            <a:ext cx="1325880" cy="374904"/>
          </a:xfrm>
          <a:prstGeom prst="rect">
            <a:avLst/>
          </a:prstGeom>
          <a:noFill/>
        </p:spPr>
        <p:txBody>
          <a:bodyPr wrap="square" lIns="0" tIns="0" rIns="0" bIns="0" anchor="ctr">
            <a:spAutoFit/>
          </a:bodyPr>
          <a:lstStyle/>
          <a:p>
            <a:pPr algn="ctr">
              <a:lnSpc>
                <a:spcPct val="100000"/>
              </a:lnSpc>
            </a:pPr>
            <a:r>
              <a:rPr sz="1000" b="0">
                <a:solidFill>
                  <a:srgbClr val="C9D6E3"/>
                </a:solidFill>
                <a:latin typeface="Segoe UI"/>
              </a:rPr>
              <a:t>Web and mobile</a:t>
            </a:r>
          </a:p>
        </p:txBody>
      </p:sp>
      <p:sp>
        <p:nvSpPr>
          <p:cNvPr id="82" name="Rounded Rectangle 81"/>
          <p:cNvSpPr/>
          <p:nvPr/>
        </p:nvSpPr>
        <p:spPr>
          <a:xfrm>
            <a:off x="10213848" y="3538728"/>
            <a:ext cx="1325880" cy="374904"/>
          </a:xfrm>
          <a:prstGeom prst="roundRect">
            <a:avLst>
              <a:gd name="adj" fmla="val 20000"/>
            </a:avLst>
          </a:prstGeom>
          <a:solidFill>
            <a:srgbClr val="1F4E7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3" name="TextBox 82"/>
          <p:cNvSpPr txBox="1"/>
          <p:nvPr/>
        </p:nvSpPr>
        <p:spPr>
          <a:xfrm>
            <a:off x="10213848" y="3538728"/>
            <a:ext cx="1325880" cy="374904"/>
          </a:xfrm>
          <a:prstGeom prst="rect">
            <a:avLst/>
          </a:prstGeom>
          <a:noFill/>
        </p:spPr>
        <p:txBody>
          <a:bodyPr wrap="square" lIns="0" tIns="0" rIns="0" bIns="0" anchor="ctr">
            <a:spAutoFit/>
          </a:bodyPr>
          <a:lstStyle/>
          <a:p>
            <a:pPr algn="ctr">
              <a:lnSpc>
                <a:spcPct val="100000"/>
              </a:lnSpc>
            </a:pPr>
            <a:r>
              <a:rPr sz="1000" b="0">
                <a:solidFill>
                  <a:srgbClr val="C9D6E3"/>
                </a:solidFill>
                <a:latin typeface="Segoe UI"/>
              </a:rPr>
              <a:t>SSO: SAML / AD</a:t>
            </a:r>
          </a:p>
        </p:txBody>
      </p:sp>
      <p:sp>
        <p:nvSpPr>
          <p:cNvPr id="84" name="Rounded Rectangle 83"/>
          <p:cNvSpPr/>
          <p:nvPr/>
        </p:nvSpPr>
        <p:spPr>
          <a:xfrm>
            <a:off x="10213848" y="3986783"/>
            <a:ext cx="1325880" cy="374904"/>
          </a:xfrm>
          <a:prstGeom prst="roundRect">
            <a:avLst>
              <a:gd name="adj" fmla="val 20000"/>
            </a:avLst>
          </a:prstGeom>
          <a:solidFill>
            <a:srgbClr val="1F4E7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5" name="TextBox 84"/>
          <p:cNvSpPr txBox="1"/>
          <p:nvPr/>
        </p:nvSpPr>
        <p:spPr>
          <a:xfrm>
            <a:off x="10213848" y="3986783"/>
            <a:ext cx="1325880" cy="374904"/>
          </a:xfrm>
          <a:prstGeom prst="rect">
            <a:avLst/>
          </a:prstGeom>
          <a:noFill/>
        </p:spPr>
        <p:txBody>
          <a:bodyPr wrap="square" lIns="0" tIns="0" rIns="0" bIns="0" anchor="ctr">
            <a:spAutoFit/>
          </a:bodyPr>
          <a:lstStyle/>
          <a:p>
            <a:pPr algn="ctr">
              <a:lnSpc>
                <a:spcPct val="100000"/>
              </a:lnSpc>
            </a:pPr>
            <a:r>
              <a:rPr sz="1000" b="0">
                <a:solidFill>
                  <a:srgbClr val="C9D6E3"/>
                </a:solidFill>
                <a:latin typeface="Segoe UI"/>
              </a:rPr>
              <a:t>Subscriptions, alerts</a:t>
            </a:r>
          </a:p>
        </p:txBody>
      </p:sp>
      <p:sp>
        <p:nvSpPr>
          <p:cNvPr id="86" name="Rounded Rectangle 85"/>
          <p:cNvSpPr/>
          <p:nvPr/>
        </p:nvSpPr>
        <p:spPr>
          <a:xfrm>
            <a:off x="548640" y="5596128"/>
            <a:ext cx="3566160" cy="502920"/>
          </a:xfrm>
          <a:prstGeom prst="roundRect">
            <a:avLst>
              <a:gd name="adj" fmla="val 50000"/>
            </a:avLst>
          </a:prstGeom>
          <a:solidFill>
            <a:srgbClr val="17385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7" name="TextBox 86"/>
          <p:cNvSpPr txBox="1"/>
          <p:nvPr/>
        </p:nvSpPr>
        <p:spPr>
          <a:xfrm>
            <a:off x="548640" y="5596128"/>
            <a:ext cx="3566160" cy="502920"/>
          </a:xfrm>
          <a:prstGeom prst="rect">
            <a:avLst/>
          </a:prstGeom>
          <a:noFill/>
        </p:spPr>
        <p:txBody>
          <a:bodyPr wrap="square" lIns="0" tIns="0" rIns="0" bIns="0" anchor="ctr">
            <a:spAutoFit/>
          </a:bodyPr>
          <a:lstStyle/>
          <a:p>
            <a:pPr algn="ctr">
              <a:lnSpc>
                <a:spcPct val="100000"/>
              </a:lnSpc>
            </a:pPr>
            <a:r>
              <a:rPr sz="1100" b="0">
                <a:solidFill>
                  <a:srgbClr val="FFFFFF"/>
                </a:solidFill>
                <a:latin typeface="Segoe UI"/>
              </a:rPr>
              <a:t>Refresh only after a successful load (REST API)</a:t>
            </a:r>
          </a:p>
        </p:txBody>
      </p:sp>
      <p:sp>
        <p:nvSpPr>
          <p:cNvPr id="88" name="Rounded Rectangle 87"/>
          <p:cNvSpPr/>
          <p:nvPr/>
        </p:nvSpPr>
        <p:spPr>
          <a:xfrm>
            <a:off x="4236415" y="5596128"/>
            <a:ext cx="2514600" cy="502920"/>
          </a:xfrm>
          <a:prstGeom prst="roundRect">
            <a:avLst>
              <a:gd name="adj" fmla="val 50000"/>
            </a:avLst>
          </a:prstGeom>
          <a:solidFill>
            <a:srgbClr val="17385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9" name="TextBox 88"/>
          <p:cNvSpPr txBox="1"/>
          <p:nvPr/>
        </p:nvSpPr>
        <p:spPr>
          <a:xfrm>
            <a:off x="4236415" y="5596128"/>
            <a:ext cx="2514600" cy="502920"/>
          </a:xfrm>
          <a:prstGeom prst="rect">
            <a:avLst/>
          </a:prstGeom>
          <a:noFill/>
        </p:spPr>
        <p:txBody>
          <a:bodyPr wrap="square" lIns="0" tIns="0" rIns="0" bIns="0" anchor="ctr">
            <a:spAutoFit/>
          </a:bodyPr>
          <a:lstStyle/>
          <a:p>
            <a:pPr algn="ctr">
              <a:lnSpc>
                <a:spcPct val="100000"/>
              </a:lnSpc>
            </a:pPr>
            <a:r>
              <a:rPr sz="1100" b="0">
                <a:solidFill>
                  <a:srgbClr val="FFFFFF"/>
                </a:solidFill>
                <a:latin typeface="Segoe UI"/>
              </a:rPr>
              <a:t>Dev → Test → Prod from Git</a:t>
            </a:r>
          </a:p>
        </p:txBody>
      </p:sp>
      <p:sp>
        <p:nvSpPr>
          <p:cNvPr id="90" name="Rounded Rectangle 89"/>
          <p:cNvSpPr/>
          <p:nvPr/>
        </p:nvSpPr>
        <p:spPr>
          <a:xfrm>
            <a:off x="6872630" y="5596128"/>
            <a:ext cx="1965960" cy="502920"/>
          </a:xfrm>
          <a:prstGeom prst="roundRect">
            <a:avLst>
              <a:gd name="adj" fmla="val 50000"/>
            </a:avLst>
          </a:prstGeom>
          <a:solidFill>
            <a:srgbClr val="17385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1" name="TextBox 90"/>
          <p:cNvSpPr txBox="1"/>
          <p:nvPr/>
        </p:nvSpPr>
        <p:spPr>
          <a:xfrm>
            <a:off x="6872630" y="5596128"/>
            <a:ext cx="1965960" cy="502920"/>
          </a:xfrm>
          <a:prstGeom prst="rect">
            <a:avLst/>
          </a:prstGeom>
          <a:noFill/>
        </p:spPr>
        <p:txBody>
          <a:bodyPr wrap="square" lIns="0" tIns="0" rIns="0" bIns="0" anchor="ctr">
            <a:spAutoFit/>
          </a:bodyPr>
          <a:lstStyle/>
          <a:p>
            <a:pPr algn="ctr">
              <a:lnSpc>
                <a:spcPct val="100000"/>
              </a:lnSpc>
            </a:pPr>
            <a:r>
              <a:rPr sz="1100" b="0">
                <a:solidFill>
                  <a:srgbClr val="FFFFFF"/>
                </a:solidFill>
                <a:latin typeface="Segoe UI"/>
              </a:rPr>
              <a:t>Secrets in a vault</a:t>
            </a:r>
          </a:p>
        </p:txBody>
      </p:sp>
      <p:sp>
        <p:nvSpPr>
          <p:cNvPr id="92" name="Rounded Rectangle 91"/>
          <p:cNvSpPr/>
          <p:nvPr/>
        </p:nvSpPr>
        <p:spPr>
          <a:xfrm>
            <a:off x="8960205" y="5596128"/>
            <a:ext cx="2651760" cy="502920"/>
          </a:xfrm>
          <a:prstGeom prst="roundRect">
            <a:avLst>
              <a:gd name="adj" fmla="val 50000"/>
            </a:avLst>
          </a:prstGeom>
          <a:solidFill>
            <a:srgbClr val="17385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3" name="TextBox 92"/>
          <p:cNvSpPr txBox="1"/>
          <p:nvPr/>
        </p:nvSpPr>
        <p:spPr>
          <a:xfrm>
            <a:off x="8960205" y="5596128"/>
            <a:ext cx="2651760" cy="502920"/>
          </a:xfrm>
          <a:prstGeom prst="rect">
            <a:avLst/>
          </a:prstGeom>
          <a:noFill/>
        </p:spPr>
        <p:txBody>
          <a:bodyPr wrap="square" lIns="0" tIns="0" rIns="0" bIns="0" anchor="ctr">
            <a:spAutoFit/>
          </a:bodyPr>
          <a:lstStyle/>
          <a:p>
            <a:pPr algn="ctr">
              <a:lnSpc>
                <a:spcPct val="100000"/>
              </a:lnSpc>
            </a:pPr>
            <a:r>
              <a:rPr sz="1100" b="0">
                <a:solidFill>
                  <a:srgbClr val="FFFFFF"/>
                </a:solidFill>
                <a:latin typeface="Segoe UI"/>
              </a:rPr>
              <a:t>Alerts on failed or stuck runs</a:t>
            </a:r>
          </a:p>
        </p:txBody>
      </p:sp>
      <p:sp>
        <p:nvSpPr>
          <p:cNvPr id="94" name="TextBox 93"/>
          <p:cNvSpPr txBox="1"/>
          <p:nvPr/>
        </p:nvSpPr>
        <p:spPr>
          <a:xfrm>
            <a:off x="548640" y="6428232"/>
            <a:ext cx="5486400" cy="228600"/>
          </a:xfrm>
          <a:prstGeom prst="rect">
            <a:avLst/>
          </a:prstGeom>
          <a:noFill/>
        </p:spPr>
        <p:txBody>
          <a:bodyPr wrap="square" lIns="0" tIns="0" rIns="0" bIns="0" anchor="t">
            <a:spAutoFit/>
          </a:bodyPr>
          <a:lstStyle/>
          <a:p>
            <a:pPr algn="l">
              <a:lnSpc>
                <a:spcPct val="100000"/>
              </a:lnSpc>
            </a:pPr>
            <a:r>
              <a:rPr sz="1000" b="0">
                <a:solidFill>
                  <a:srgbClr val="C9D6E3"/>
                </a:solidFill>
                <a:latin typeface="Segoe UI"/>
              </a:rPr>
              <a:t>Cricket Analytics Platform</a:t>
            </a:r>
          </a:p>
        </p:txBody>
      </p:sp>
      <p:sp>
        <p:nvSpPr>
          <p:cNvPr id="95" name="TextBox 94"/>
          <p:cNvSpPr txBox="1"/>
          <p:nvPr/>
        </p:nvSpPr>
        <p:spPr>
          <a:xfrm>
            <a:off x="10725912" y="6428232"/>
            <a:ext cx="914400" cy="228600"/>
          </a:xfrm>
          <a:prstGeom prst="rect">
            <a:avLst/>
          </a:prstGeom>
          <a:noFill/>
        </p:spPr>
        <p:txBody>
          <a:bodyPr wrap="square" lIns="0" tIns="0" rIns="0" bIns="0" anchor="t">
            <a:spAutoFit/>
          </a:bodyPr>
          <a:lstStyle/>
          <a:p>
            <a:pPr algn="r">
              <a:lnSpc>
                <a:spcPct val="100000"/>
              </a:lnSpc>
            </a:pPr>
            <a:r>
              <a:rPr sz="1000" b="0">
                <a:solidFill>
                  <a:srgbClr val="C9D6E3"/>
                </a:solidFill>
                <a:latin typeface="Segoe UI"/>
              </a:rPr>
              <a:t>21</a:t>
            </a: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solidFill>
          <a:srgbClr val="EEF2F6"/>
        </a:solidFill>
        <a:effectLst/>
      </p:bgPr>
    </p:bg>
    <p:spTree>
      <p:nvGrpSpPr>
        <p:cNvPr id="1" name=""/>
        <p:cNvGrpSpPr/>
        <p:nvPr/>
      </p:nvGrpSpPr>
      <p:grpSpPr>
        <a:xfrm>
          <a:off x="0" y="0"/>
          <a:ext cx="0" cy="0"/>
          <a:chOff x="0" y="0"/>
          <a:chExt cx="0" cy="0"/>
        </a:xfrm>
      </p:grpSpPr>
      <p:sp>
        <p:nvSpPr>
          <p:cNvPr id="2" name="TextBox 1"/>
          <p:cNvSpPr txBox="1"/>
          <p:nvPr/>
        </p:nvSpPr>
        <p:spPr>
          <a:xfrm>
            <a:off x="548640" y="146304"/>
            <a:ext cx="10058400" cy="256032"/>
          </a:xfrm>
          <a:prstGeom prst="rect">
            <a:avLst/>
          </a:prstGeom>
          <a:noFill/>
        </p:spPr>
        <p:txBody>
          <a:bodyPr wrap="square" lIns="0" tIns="0" rIns="0" bIns="0" anchor="t">
            <a:spAutoFit/>
          </a:bodyPr>
          <a:lstStyle/>
          <a:p>
            <a:pPr algn="l">
              <a:lnSpc>
                <a:spcPct val="100000"/>
              </a:lnSpc>
            </a:pPr>
            <a:r>
              <a:rPr sz="1000" b="1">
                <a:solidFill>
                  <a:srgbClr val="F2A900"/>
                </a:solidFill>
                <a:latin typeface="Segoe UI"/>
              </a:rPr>
              <a:t>✓  ·  SUMMARY</a:t>
            </a:r>
            <a:r>
              <a:rPr sz="1000" b="0">
                <a:solidFill>
                  <a:srgbClr val="6B7785"/>
                </a:solidFill>
                <a:latin typeface="Segoe UI"/>
              </a:rPr>
              <a:t>     Brief §17</a:t>
            </a:r>
          </a:p>
        </p:txBody>
      </p:sp>
      <p:sp>
        <p:nvSpPr>
          <p:cNvPr id="3" name="TextBox 2"/>
          <p:cNvSpPr txBox="1"/>
          <p:nvPr/>
        </p:nvSpPr>
        <p:spPr>
          <a:xfrm>
            <a:off x="548640" y="411480"/>
            <a:ext cx="11064240" cy="640080"/>
          </a:xfrm>
          <a:prstGeom prst="rect">
            <a:avLst/>
          </a:prstGeom>
          <a:noFill/>
        </p:spPr>
        <p:txBody>
          <a:bodyPr wrap="square" lIns="0" tIns="0" rIns="0" bIns="0" anchor="t">
            <a:spAutoFit/>
          </a:bodyPr>
          <a:lstStyle/>
          <a:p>
            <a:pPr algn="l">
              <a:lnSpc>
                <a:spcPct val="100000"/>
              </a:lnSpc>
            </a:pPr>
            <a:r>
              <a:rPr sz="3200" b="0">
                <a:solidFill>
                  <a:srgbClr val="1F4E79"/>
                </a:solidFill>
                <a:latin typeface="Segoe UI Semibold"/>
              </a:rPr>
              <a:t>Why this design works</a:t>
            </a:r>
          </a:p>
        </p:txBody>
      </p:sp>
      <p:sp>
        <p:nvSpPr>
          <p:cNvPr id="4" name="TextBox 3"/>
          <p:cNvSpPr txBox="1"/>
          <p:nvPr/>
        </p:nvSpPr>
        <p:spPr>
          <a:xfrm>
            <a:off x="548640" y="1024128"/>
            <a:ext cx="11064240" cy="411480"/>
          </a:xfrm>
          <a:prstGeom prst="rect">
            <a:avLst/>
          </a:prstGeom>
          <a:noFill/>
        </p:spPr>
        <p:txBody>
          <a:bodyPr wrap="square" lIns="0" tIns="0" rIns="0" bIns="0" anchor="t">
            <a:spAutoFit/>
          </a:bodyPr>
          <a:lstStyle/>
          <a:p>
            <a:pPr algn="l">
              <a:lnSpc>
                <a:spcPct val="100000"/>
              </a:lnSpc>
            </a:pPr>
            <a:r>
              <a:rPr sz="1500" b="0">
                <a:solidFill>
                  <a:srgbClr val="6B7785"/>
                </a:solidFill>
                <a:latin typeface="Segoe UI"/>
              </a:rPr>
              <a:t>Each requirement mapped to a design choice and its benefit</a:t>
            </a:r>
          </a:p>
        </p:txBody>
      </p:sp>
      <p:sp>
        <p:nvSpPr>
          <p:cNvPr id="5" name="TextBox 4"/>
          <p:cNvSpPr txBox="1"/>
          <p:nvPr/>
        </p:nvSpPr>
        <p:spPr>
          <a:xfrm>
            <a:off x="548640" y="1572768"/>
            <a:ext cx="3246120" cy="274320"/>
          </a:xfrm>
          <a:prstGeom prst="rect">
            <a:avLst/>
          </a:prstGeom>
          <a:noFill/>
        </p:spPr>
        <p:txBody>
          <a:bodyPr wrap="square" lIns="0" tIns="0" rIns="0" bIns="0" anchor="t">
            <a:spAutoFit/>
          </a:bodyPr>
          <a:lstStyle/>
          <a:p>
            <a:pPr algn="l">
              <a:lnSpc>
                <a:spcPct val="100000"/>
              </a:lnSpc>
            </a:pPr>
            <a:r>
              <a:rPr sz="1000" b="1">
                <a:solidFill>
                  <a:srgbClr val="6B7785"/>
                </a:solidFill>
                <a:latin typeface="Segoe UI"/>
              </a:rPr>
              <a:t>REQUIREMENT</a:t>
            </a:r>
          </a:p>
        </p:txBody>
      </p:sp>
      <p:sp>
        <p:nvSpPr>
          <p:cNvPr id="6" name="TextBox 5"/>
          <p:cNvSpPr txBox="1"/>
          <p:nvPr/>
        </p:nvSpPr>
        <p:spPr>
          <a:xfrm>
            <a:off x="4343400" y="1572768"/>
            <a:ext cx="3429000" cy="274320"/>
          </a:xfrm>
          <a:prstGeom prst="rect">
            <a:avLst/>
          </a:prstGeom>
          <a:noFill/>
        </p:spPr>
        <p:txBody>
          <a:bodyPr wrap="square" lIns="0" tIns="0" rIns="0" bIns="0" anchor="t">
            <a:spAutoFit/>
          </a:bodyPr>
          <a:lstStyle/>
          <a:p>
            <a:pPr algn="l">
              <a:lnSpc>
                <a:spcPct val="100000"/>
              </a:lnSpc>
            </a:pPr>
            <a:r>
              <a:rPr sz="1000" b="1">
                <a:solidFill>
                  <a:srgbClr val="1F4E79"/>
                </a:solidFill>
                <a:latin typeface="Segoe UI"/>
              </a:rPr>
              <a:t>DESIGN CHOICE</a:t>
            </a:r>
          </a:p>
        </p:txBody>
      </p:sp>
      <p:sp>
        <p:nvSpPr>
          <p:cNvPr id="7" name="TextBox 6"/>
          <p:cNvSpPr txBox="1"/>
          <p:nvPr/>
        </p:nvSpPr>
        <p:spPr>
          <a:xfrm>
            <a:off x="8321040" y="1572768"/>
            <a:ext cx="3291840" cy="274320"/>
          </a:xfrm>
          <a:prstGeom prst="rect">
            <a:avLst/>
          </a:prstGeom>
          <a:noFill/>
        </p:spPr>
        <p:txBody>
          <a:bodyPr wrap="square" lIns="0" tIns="0" rIns="0" bIns="0" anchor="t">
            <a:spAutoFit/>
          </a:bodyPr>
          <a:lstStyle/>
          <a:p>
            <a:pPr algn="l">
              <a:lnSpc>
                <a:spcPct val="100000"/>
              </a:lnSpc>
            </a:pPr>
            <a:r>
              <a:rPr sz="1000" b="1">
                <a:solidFill>
                  <a:srgbClr val="6B7785"/>
                </a:solidFill>
                <a:latin typeface="Segoe UI"/>
              </a:rPr>
              <a:t>BENEFIT</a:t>
            </a:r>
          </a:p>
        </p:txBody>
      </p:sp>
      <p:sp>
        <p:nvSpPr>
          <p:cNvPr id="8" name="Rounded Rectangle 7"/>
          <p:cNvSpPr/>
          <p:nvPr/>
        </p:nvSpPr>
        <p:spPr>
          <a:xfrm>
            <a:off x="548640" y="1901952"/>
            <a:ext cx="3246120" cy="603504"/>
          </a:xfrm>
          <a:prstGeom prst="roundRect">
            <a:avLst>
              <a:gd name="adj" fmla="val 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731520" y="1901952"/>
            <a:ext cx="2971800" cy="603504"/>
          </a:xfrm>
          <a:prstGeom prst="rect">
            <a:avLst/>
          </a:prstGeom>
          <a:noFill/>
        </p:spPr>
        <p:txBody>
          <a:bodyPr wrap="square" lIns="0" tIns="0" rIns="0" bIns="0" anchor="ctr">
            <a:spAutoFit/>
          </a:bodyPr>
          <a:lstStyle/>
          <a:p>
            <a:pPr algn="l">
              <a:lnSpc>
                <a:spcPct val="100000"/>
              </a:lnSpc>
            </a:pPr>
            <a:r>
              <a:rPr sz="1200" b="0">
                <a:solidFill>
                  <a:srgbClr val="24323F"/>
                </a:solidFill>
                <a:latin typeface="Segoe UI"/>
              </a:rPr>
              <a:t>Three source formats, new data arriving</a:t>
            </a:r>
          </a:p>
        </p:txBody>
      </p:sp>
      <p:cxnSp>
        <p:nvCxnSpPr>
          <p:cNvPr id="10" name="Connector 9"/>
          <p:cNvCxnSpPr/>
          <p:nvPr/>
        </p:nvCxnSpPr>
        <p:spPr>
          <a:xfrm>
            <a:off x="3840480" y="2203704"/>
            <a:ext cx="438912" cy="0"/>
          </a:xfrm>
          <a:prstGeom prst="line">
            <a:avLst/>
          </a:prstGeom>
          <a:ln w="25400">
            <a:solidFill>
              <a:srgbClr val="F2A900"/>
            </a:solidFill>
            <a:tailEnd type="triangle" w="med" len="med"/>
          </a:ln>
        </p:spPr>
        <p:style>
          <a:lnRef idx="2">
            <a:schemeClr val="accent1"/>
          </a:lnRef>
          <a:fillRef idx="0">
            <a:schemeClr val="accent1"/>
          </a:fillRef>
          <a:effectRef idx="1">
            <a:schemeClr val="accent1"/>
          </a:effectRef>
          <a:fontRef idx="minor">
            <a:schemeClr val="tx1"/>
          </a:fontRef>
        </p:style>
      </p:cxnSp>
      <p:sp>
        <p:nvSpPr>
          <p:cNvPr id="11" name="Rounded Rectangle 10"/>
          <p:cNvSpPr/>
          <p:nvPr/>
        </p:nvSpPr>
        <p:spPr>
          <a:xfrm>
            <a:off x="4343400" y="1901952"/>
            <a:ext cx="3429000" cy="603504"/>
          </a:xfrm>
          <a:prstGeom prst="roundRect">
            <a:avLst>
              <a:gd name="adj" fmla="val 6000"/>
            </a:avLst>
          </a:prstGeom>
          <a:solidFill>
            <a:srgbClr val="1F4E7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4526280" y="1901952"/>
            <a:ext cx="3154680" cy="603504"/>
          </a:xfrm>
          <a:prstGeom prst="rect">
            <a:avLst/>
          </a:prstGeom>
          <a:noFill/>
        </p:spPr>
        <p:txBody>
          <a:bodyPr wrap="square" lIns="0" tIns="0" rIns="0" bIns="0" anchor="ctr">
            <a:spAutoFit/>
          </a:bodyPr>
          <a:lstStyle/>
          <a:p>
            <a:pPr algn="l">
              <a:lnSpc>
                <a:spcPct val="100000"/>
              </a:lnSpc>
            </a:pPr>
            <a:r>
              <a:rPr sz="1200" b="1">
                <a:solidFill>
                  <a:srgbClr val="FFFFFF"/>
                </a:solidFill>
                <a:latin typeface="Segoe UI"/>
              </a:rPr>
              <a:t>Medallion layers: Bronze → Silver → Gold</a:t>
            </a:r>
          </a:p>
        </p:txBody>
      </p:sp>
      <p:cxnSp>
        <p:nvCxnSpPr>
          <p:cNvPr id="13" name="Connector 12"/>
          <p:cNvCxnSpPr/>
          <p:nvPr/>
        </p:nvCxnSpPr>
        <p:spPr>
          <a:xfrm>
            <a:off x="7818120" y="2203704"/>
            <a:ext cx="438911" cy="0"/>
          </a:xfrm>
          <a:prstGeom prst="line">
            <a:avLst/>
          </a:prstGeom>
          <a:ln w="25400">
            <a:solidFill>
              <a:srgbClr val="F2A900"/>
            </a:solidFill>
            <a:tailEnd type="triangle" w="med" len="med"/>
          </a:ln>
        </p:spPr>
        <p:style>
          <a:lnRef idx="2">
            <a:schemeClr val="accent1"/>
          </a:lnRef>
          <a:fillRef idx="0">
            <a:schemeClr val="accent1"/>
          </a:fillRef>
          <a:effectRef idx="1">
            <a:schemeClr val="accent1"/>
          </a:effectRef>
          <a:fontRef idx="minor">
            <a:schemeClr val="tx1"/>
          </a:fontRef>
        </p:style>
      </p:cxnSp>
      <p:sp>
        <p:nvSpPr>
          <p:cNvPr id="14" name="Rounded Rectangle 13"/>
          <p:cNvSpPr/>
          <p:nvPr/>
        </p:nvSpPr>
        <p:spPr>
          <a:xfrm>
            <a:off x="8321040" y="1901952"/>
            <a:ext cx="3291840" cy="603504"/>
          </a:xfrm>
          <a:prstGeom prst="roundRect">
            <a:avLst>
              <a:gd name="adj" fmla="val 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8503920" y="1901952"/>
            <a:ext cx="3017520" cy="603504"/>
          </a:xfrm>
          <a:prstGeom prst="rect">
            <a:avLst/>
          </a:prstGeom>
          <a:noFill/>
        </p:spPr>
        <p:txBody>
          <a:bodyPr wrap="square" lIns="0" tIns="0" rIns="0" bIns="0" anchor="ctr">
            <a:spAutoFit/>
          </a:bodyPr>
          <a:lstStyle/>
          <a:p>
            <a:pPr algn="l">
              <a:lnSpc>
                <a:spcPct val="100000"/>
              </a:lnSpc>
            </a:pPr>
            <a:r>
              <a:rPr sz="1200" b="0">
                <a:solidFill>
                  <a:srgbClr val="24323F"/>
                </a:solidFill>
                <a:latin typeface="Segoe UI"/>
              </a:rPr>
              <a:t>Raw data replayable; one job per layer</a:t>
            </a:r>
          </a:p>
        </p:txBody>
      </p:sp>
      <p:sp>
        <p:nvSpPr>
          <p:cNvPr id="16" name="Rounded Rectangle 15"/>
          <p:cNvSpPr/>
          <p:nvPr/>
        </p:nvSpPr>
        <p:spPr>
          <a:xfrm>
            <a:off x="548640" y="2615184"/>
            <a:ext cx="3246120" cy="603504"/>
          </a:xfrm>
          <a:prstGeom prst="roundRect">
            <a:avLst>
              <a:gd name="adj" fmla="val 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731520" y="2615184"/>
            <a:ext cx="2971800" cy="603504"/>
          </a:xfrm>
          <a:prstGeom prst="rect">
            <a:avLst/>
          </a:prstGeom>
          <a:noFill/>
        </p:spPr>
        <p:txBody>
          <a:bodyPr wrap="square" lIns="0" tIns="0" rIns="0" bIns="0" anchor="ctr">
            <a:spAutoFit/>
          </a:bodyPr>
          <a:lstStyle/>
          <a:p>
            <a:pPr algn="l">
              <a:lnSpc>
                <a:spcPct val="100000"/>
              </a:lnSpc>
            </a:pPr>
            <a:r>
              <a:rPr sz="1200" b="0">
                <a:solidFill>
                  <a:srgbClr val="24323F"/>
                </a:solidFill>
                <a:latin typeface="Segoe UI"/>
              </a:rPr>
              <a:t>Find bad data and trace its handling</a:t>
            </a:r>
          </a:p>
        </p:txBody>
      </p:sp>
      <p:cxnSp>
        <p:nvCxnSpPr>
          <p:cNvPr id="18" name="Connector 17"/>
          <p:cNvCxnSpPr/>
          <p:nvPr/>
        </p:nvCxnSpPr>
        <p:spPr>
          <a:xfrm>
            <a:off x="3840480" y="2916936"/>
            <a:ext cx="438912" cy="0"/>
          </a:xfrm>
          <a:prstGeom prst="line">
            <a:avLst/>
          </a:prstGeom>
          <a:ln w="25400">
            <a:solidFill>
              <a:srgbClr val="F2A900"/>
            </a:solidFill>
            <a:tailEnd type="triangle" w="med" len="med"/>
          </a:ln>
        </p:spPr>
        <p:style>
          <a:lnRef idx="2">
            <a:schemeClr val="accent1"/>
          </a:lnRef>
          <a:fillRef idx="0">
            <a:schemeClr val="accent1"/>
          </a:fillRef>
          <a:effectRef idx="1">
            <a:schemeClr val="accent1"/>
          </a:effectRef>
          <a:fontRef idx="minor">
            <a:schemeClr val="tx1"/>
          </a:fontRef>
        </p:style>
      </p:cxnSp>
      <p:sp>
        <p:nvSpPr>
          <p:cNvPr id="19" name="Rounded Rectangle 18"/>
          <p:cNvSpPr/>
          <p:nvPr/>
        </p:nvSpPr>
        <p:spPr>
          <a:xfrm>
            <a:off x="4343400" y="2615184"/>
            <a:ext cx="3429000" cy="603504"/>
          </a:xfrm>
          <a:prstGeom prst="roundRect">
            <a:avLst>
              <a:gd name="adj" fmla="val 6000"/>
            </a:avLst>
          </a:prstGeom>
          <a:solidFill>
            <a:srgbClr val="1F4E7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4526280" y="2615184"/>
            <a:ext cx="3154680" cy="603504"/>
          </a:xfrm>
          <a:prstGeom prst="rect">
            <a:avLst/>
          </a:prstGeom>
          <a:noFill/>
        </p:spPr>
        <p:txBody>
          <a:bodyPr wrap="square" lIns="0" tIns="0" rIns="0" bIns="0" anchor="ctr">
            <a:spAutoFit/>
          </a:bodyPr>
          <a:lstStyle/>
          <a:p>
            <a:pPr algn="l">
              <a:lnSpc>
                <a:spcPct val="100000"/>
              </a:lnSpc>
            </a:pPr>
            <a:r>
              <a:rPr sz="1200" b="1">
                <a:solidFill>
                  <a:srgbClr val="FFFFFF"/>
                </a:solidFill>
                <a:latin typeface="Segoe UI"/>
              </a:rPr>
              <a:t>Metadata-driven DQ: 43 rules as data</a:t>
            </a:r>
          </a:p>
        </p:txBody>
      </p:sp>
      <p:cxnSp>
        <p:nvCxnSpPr>
          <p:cNvPr id="21" name="Connector 20"/>
          <p:cNvCxnSpPr/>
          <p:nvPr/>
        </p:nvCxnSpPr>
        <p:spPr>
          <a:xfrm>
            <a:off x="7818120" y="2916936"/>
            <a:ext cx="438911" cy="0"/>
          </a:xfrm>
          <a:prstGeom prst="line">
            <a:avLst/>
          </a:prstGeom>
          <a:ln w="25400">
            <a:solidFill>
              <a:srgbClr val="F2A900"/>
            </a:solidFill>
            <a:tailEnd type="triangle" w="med" len="med"/>
          </a:ln>
        </p:spPr>
        <p:style>
          <a:lnRef idx="2">
            <a:schemeClr val="accent1"/>
          </a:lnRef>
          <a:fillRef idx="0">
            <a:schemeClr val="accent1"/>
          </a:fillRef>
          <a:effectRef idx="1">
            <a:schemeClr val="accent1"/>
          </a:effectRef>
          <a:fontRef idx="minor">
            <a:schemeClr val="tx1"/>
          </a:fontRef>
        </p:style>
      </p:cxnSp>
      <p:sp>
        <p:nvSpPr>
          <p:cNvPr id="22" name="Rounded Rectangle 21"/>
          <p:cNvSpPr/>
          <p:nvPr/>
        </p:nvSpPr>
        <p:spPr>
          <a:xfrm>
            <a:off x="8321040" y="2615184"/>
            <a:ext cx="3291840" cy="603504"/>
          </a:xfrm>
          <a:prstGeom prst="roundRect">
            <a:avLst>
              <a:gd name="adj" fmla="val 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8503920" y="2615184"/>
            <a:ext cx="3017520" cy="603504"/>
          </a:xfrm>
          <a:prstGeom prst="rect">
            <a:avLst/>
          </a:prstGeom>
          <a:noFill/>
        </p:spPr>
        <p:txBody>
          <a:bodyPr wrap="square" lIns="0" tIns="0" rIns="0" bIns="0" anchor="ctr">
            <a:spAutoFit/>
          </a:bodyPr>
          <a:lstStyle/>
          <a:p>
            <a:pPr algn="l">
              <a:lnSpc>
                <a:spcPct val="100000"/>
              </a:lnSpc>
            </a:pPr>
            <a:r>
              <a:rPr sz="1200" b="0">
                <a:solidFill>
                  <a:srgbClr val="24323F"/>
                </a:solidFill>
                <a:latin typeface="Segoe UI"/>
              </a:rPr>
              <a:t>A new rule is a new row; every exception traced</a:t>
            </a:r>
          </a:p>
        </p:txBody>
      </p:sp>
      <p:sp>
        <p:nvSpPr>
          <p:cNvPr id="24" name="Rounded Rectangle 23"/>
          <p:cNvSpPr/>
          <p:nvPr/>
        </p:nvSpPr>
        <p:spPr>
          <a:xfrm>
            <a:off x="548640" y="3328416"/>
            <a:ext cx="3246120" cy="603504"/>
          </a:xfrm>
          <a:prstGeom prst="roundRect">
            <a:avLst>
              <a:gd name="adj" fmla="val 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TextBox 24"/>
          <p:cNvSpPr txBox="1"/>
          <p:nvPr/>
        </p:nvSpPr>
        <p:spPr>
          <a:xfrm>
            <a:off x="731520" y="3328416"/>
            <a:ext cx="2971800" cy="603504"/>
          </a:xfrm>
          <a:prstGeom prst="rect">
            <a:avLst/>
          </a:prstGeom>
          <a:noFill/>
        </p:spPr>
        <p:txBody>
          <a:bodyPr wrap="square" lIns="0" tIns="0" rIns="0" bIns="0" anchor="ctr">
            <a:spAutoFit/>
          </a:bodyPr>
          <a:lstStyle/>
          <a:p>
            <a:pPr algn="l">
              <a:lnSpc>
                <a:spcPct val="100000"/>
              </a:lnSpc>
            </a:pPr>
            <a:r>
              <a:rPr sz="1200" b="0">
                <a:solidFill>
                  <a:srgbClr val="24323F"/>
                </a:solidFill>
                <a:latin typeface="Segoe UI"/>
              </a:rPr>
              <a:t>Reliable runs, error handling and logging</a:t>
            </a:r>
          </a:p>
        </p:txBody>
      </p:sp>
      <p:cxnSp>
        <p:nvCxnSpPr>
          <p:cNvPr id="26" name="Connector 25"/>
          <p:cNvCxnSpPr/>
          <p:nvPr/>
        </p:nvCxnSpPr>
        <p:spPr>
          <a:xfrm>
            <a:off x="3840480" y="3630168"/>
            <a:ext cx="438912" cy="0"/>
          </a:xfrm>
          <a:prstGeom prst="line">
            <a:avLst/>
          </a:prstGeom>
          <a:ln w="25400">
            <a:solidFill>
              <a:srgbClr val="F2A900"/>
            </a:solidFill>
            <a:tailEnd type="triangle" w="med" len="med"/>
          </a:ln>
        </p:spPr>
        <p:style>
          <a:lnRef idx="2">
            <a:schemeClr val="accent1"/>
          </a:lnRef>
          <a:fillRef idx="0">
            <a:schemeClr val="accent1"/>
          </a:fillRef>
          <a:effectRef idx="1">
            <a:schemeClr val="accent1"/>
          </a:effectRef>
          <a:fontRef idx="minor">
            <a:schemeClr val="tx1"/>
          </a:fontRef>
        </p:style>
      </p:cxnSp>
      <p:sp>
        <p:nvSpPr>
          <p:cNvPr id="27" name="Rounded Rectangle 26"/>
          <p:cNvSpPr/>
          <p:nvPr/>
        </p:nvSpPr>
        <p:spPr>
          <a:xfrm>
            <a:off x="4343400" y="3328416"/>
            <a:ext cx="3429000" cy="603504"/>
          </a:xfrm>
          <a:prstGeom prst="roundRect">
            <a:avLst>
              <a:gd name="adj" fmla="val 6000"/>
            </a:avLst>
          </a:prstGeom>
          <a:solidFill>
            <a:srgbClr val="1F4E7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TextBox 27"/>
          <p:cNvSpPr txBox="1"/>
          <p:nvPr/>
        </p:nvSpPr>
        <p:spPr>
          <a:xfrm>
            <a:off x="4526280" y="3328416"/>
            <a:ext cx="3154680" cy="603504"/>
          </a:xfrm>
          <a:prstGeom prst="rect">
            <a:avLst/>
          </a:prstGeom>
          <a:noFill/>
        </p:spPr>
        <p:txBody>
          <a:bodyPr wrap="square" lIns="0" tIns="0" rIns="0" bIns="0" anchor="ctr">
            <a:spAutoFit/>
          </a:bodyPr>
          <a:lstStyle/>
          <a:p>
            <a:pPr algn="l">
              <a:lnSpc>
                <a:spcPct val="100000"/>
              </a:lnSpc>
            </a:pPr>
            <a:r>
              <a:rPr sz="1200" b="1">
                <a:solidFill>
                  <a:srgbClr val="FFFFFF"/>
                </a:solidFill>
                <a:latin typeface="Segoe UI"/>
              </a:rPr>
              <a:t>Orchestrator, file fingerprints, run log</a:t>
            </a:r>
          </a:p>
        </p:txBody>
      </p:sp>
      <p:cxnSp>
        <p:nvCxnSpPr>
          <p:cNvPr id="29" name="Connector 28"/>
          <p:cNvCxnSpPr/>
          <p:nvPr/>
        </p:nvCxnSpPr>
        <p:spPr>
          <a:xfrm>
            <a:off x="7818120" y="3630168"/>
            <a:ext cx="438911" cy="0"/>
          </a:xfrm>
          <a:prstGeom prst="line">
            <a:avLst/>
          </a:prstGeom>
          <a:ln w="25400">
            <a:solidFill>
              <a:srgbClr val="F2A900"/>
            </a:solidFill>
            <a:tailEnd type="triangle" w="med" len="med"/>
          </a:ln>
        </p:spPr>
        <p:style>
          <a:lnRef idx="2">
            <a:schemeClr val="accent1"/>
          </a:lnRef>
          <a:fillRef idx="0">
            <a:schemeClr val="accent1"/>
          </a:fillRef>
          <a:effectRef idx="1">
            <a:schemeClr val="accent1"/>
          </a:effectRef>
          <a:fontRef idx="minor">
            <a:schemeClr val="tx1"/>
          </a:fontRef>
        </p:style>
      </p:cxnSp>
      <p:sp>
        <p:nvSpPr>
          <p:cNvPr id="30" name="Rounded Rectangle 29"/>
          <p:cNvSpPr/>
          <p:nvPr/>
        </p:nvSpPr>
        <p:spPr>
          <a:xfrm>
            <a:off x="8321040" y="3328416"/>
            <a:ext cx="3291840" cy="603504"/>
          </a:xfrm>
          <a:prstGeom prst="roundRect">
            <a:avLst>
              <a:gd name="adj" fmla="val 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TextBox 30"/>
          <p:cNvSpPr txBox="1"/>
          <p:nvPr/>
        </p:nvSpPr>
        <p:spPr>
          <a:xfrm>
            <a:off x="8503920" y="3328416"/>
            <a:ext cx="3017520" cy="603504"/>
          </a:xfrm>
          <a:prstGeom prst="rect">
            <a:avLst/>
          </a:prstGeom>
          <a:noFill/>
        </p:spPr>
        <p:txBody>
          <a:bodyPr wrap="square" lIns="0" tIns="0" rIns="0" bIns="0" anchor="ctr">
            <a:spAutoFit/>
          </a:bodyPr>
          <a:lstStyle/>
          <a:p>
            <a:pPr algn="l">
              <a:lnSpc>
                <a:spcPct val="100000"/>
              </a:lnSpc>
            </a:pPr>
            <a:r>
              <a:rPr sz="1200" b="0">
                <a:solidFill>
                  <a:srgbClr val="24323F"/>
                </a:solidFill>
                <a:latin typeface="Segoe UI"/>
              </a:rPr>
              <a:t>Safe failure, no duplicates, full audit</a:t>
            </a:r>
          </a:p>
        </p:txBody>
      </p:sp>
      <p:sp>
        <p:nvSpPr>
          <p:cNvPr id="32" name="Rounded Rectangle 31"/>
          <p:cNvSpPr/>
          <p:nvPr/>
        </p:nvSpPr>
        <p:spPr>
          <a:xfrm>
            <a:off x="548640" y="4041648"/>
            <a:ext cx="3246120" cy="603504"/>
          </a:xfrm>
          <a:prstGeom prst="roundRect">
            <a:avLst>
              <a:gd name="adj" fmla="val 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TextBox 32"/>
          <p:cNvSpPr txBox="1"/>
          <p:nvPr/>
        </p:nvSpPr>
        <p:spPr>
          <a:xfrm>
            <a:off x="731520" y="4041648"/>
            <a:ext cx="2971800" cy="603504"/>
          </a:xfrm>
          <a:prstGeom prst="rect">
            <a:avLst/>
          </a:prstGeom>
          <a:noFill/>
        </p:spPr>
        <p:txBody>
          <a:bodyPr wrap="square" lIns="0" tIns="0" rIns="0" bIns="0" anchor="ctr">
            <a:spAutoFit/>
          </a:bodyPr>
          <a:lstStyle/>
          <a:p>
            <a:pPr algn="l">
              <a:lnSpc>
                <a:spcPct val="100000"/>
              </a:lnSpc>
            </a:pPr>
            <a:r>
              <a:rPr sz="1200" b="0">
                <a:solidFill>
                  <a:srgbClr val="24323F"/>
                </a:solidFill>
                <a:latin typeface="Segoe UI"/>
              </a:rPr>
              <a:t>Business calculations consistent everywhere</a:t>
            </a:r>
          </a:p>
        </p:txBody>
      </p:sp>
      <p:cxnSp>
        <p:nvCxnSpPr>
          <p:cNvPr id="34" name="Connector 33"/>
          <p:cNvCxnSpPr/>
          <p:nvPr/>
        </p:nvCxnSpPr>
        <p:spPr>
          <a:xfrm>
            <a:off x="3840480" y="4343400"/>
            <a:ext cx="438912" cy="0"/>
          </a:xfrm>
          <a:prstGeom prst="line">
            <a:avLst/>
          </a:prstGeom>
          <a:ln w="25400">
            <a:solidFill>
              <a:srgbClr val="F2A900"/>
            </a:solidFill>
            <a:tailEnd type="triangle" w="med" len="med"/>
          </a:ln>
        </p:spPr>
        <p:style>
          <a:lnRef idx="2">
            <a:schemeClr val="accent1"/>
          </a:lnRef>
          <a:fillRef idx="0">
            <a:schemeClr val="accent1"/>
          </a:fillRef>
          <a:effectRef idx="1">
            <a:schemeClr val="accent1"/>
          </a:effectRef>
          <a:fontRef idx="minor">
            <a:schemeClr val="tx1"/>
          </a:fontRef>
        </p:style>
      </p:cxnSp>
      <p:sp>
        <p:nvSpPr>
          <p:cNvPr id="35" name="Rounded Rectangle 34"/>
          <p:cNvSpPr/>
          <p:nvPr/>
        </p:nvSpPr>
        <p:spPr>
          <a:xfrm>
            <a:off x="4343400" y="4041648"/>
            <a:ext cx="3429000" cy="603504"/>
          </a:xfrm>
          <a:prstGeom prst="roundRect">
            <a:avLst>
              <a:gd name="adj" fmla="val 6000"/>
            </a:avLst>
          </a:prstGeom>
          <a:solidFill>
            <a:srgbClr val="1F4E7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6" name="TextBox 35"/>
          <p:cNvSpPr txBox="1"/>
          <p:nvPr/>
        </p:nvSpPr>
        <p:spPr>
          <a:xfrm>
            <a:off x="4526280" y="4041648"/>
            <a:ext cx="3154680" cy="603504"/>
          </a:xfrm>
          <a:prstGeom prst="rect">
            <a:avLst/>
          </a:prstGeom>
          <a:noFill/>
        </p:spPr>
        <p:txBody>
          <a:bodyPr wrap="square" lIns="0" tIns="0" rIns="0" bIns="0" anchor="ctr">
            <a:spAutoFit/>
          </a:bodyPr>
          <a:lstStyle/>
          <a:p>
            <a:pPr algn="l">
              <a:lnSpc>
                <a:spcPct val="100000"/>
              </a:lnSpc>
            </a:pPr>
            <a:r>
              <a:rPr sz="1200" b="1">
                <a:solidFill>
                  <a:srgbClr val="FFFFFF"/>
                </a:solidFill>
                <a:latin typeface="Segoe UI"/>
              </a:rPr>
              <a:t>Semantic layer: rules in rpt views</a:t>
            </a:r>
          </a:p>
        </p:txBody>
      </p:sp>
      <p:cxnSp>
        <p:nvCxnSpPr>
          <p:cNvPr id="37" name="Connector 36"/>
          <p:cNvCxnSpPr/>
          <p:nvPr/>
        </p:nvCxnSpPr>
        <p:spPr>
          <a:xfrm>
            <a:off x="7818120" y="4343400"/>
            <a:ext cx="438911" cy="0"/>
          </a:xfrm>
          <a:prstGeom prst="line">
            <a:avLst/>
          </a:prstGeom>
          <a:ln w="25400">
            <a:solidFill>
              <a:srgbClr val="F2A900"/>
            </a:solidFill>
            <a:tailEnd type="triangle" w="med" len="med"/>
          </a:ln>
        </p:spPr>
        <p:style>
          <a:lnRef idx="2">
            <a:schemeClr val="accent1"/>
          </a:lnRef>
          <a:fillRef idx="0">
            <a:schemeClr val="accent1"/>
          </a:fillRef>
          <a:effectRef idx="1">
            <a:schemeClr val="accent1"/>
          </a:effectRef>
          <a:fontRef idx="minor">
            <a:schemeClr val="tx1"/>
          </a:fontRef>
        </p:style>
      </p:cxnSp>
      <p:sp>
        <p:nvSpPr>
          <p:cNvPr id="38" name="Rounded Rectangle 37"/>
          <p:cNvSpPr/>
          <p:nvPr/>
        </p:nvSpPr>
        <p:spPr>
          <a:xfrm>
            <a:off x="8321040" y="4041648"/>
            <a:ext cx="3291840" cy="603504"/>
          </a:xfrm>
          <a:prstGeom prst="roundRect">
            <a:avLst>
              <a:gd name="adj" fmla="val 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9" name="TextBox 38"/>
          <p:cNvSpPr txBox="1"/>
          <p:nvPr/>
        </p:nvSpPr>
        <p:spPr>
          <a:xfrm>
            <a:off x="8503920" y="4041648"/>
            <a:ext cx="3017520" cy="603504"/>
          </a:xfrm>
          <a:prstGeom prst="rect">
            <a:avLst/>
          </a:prstGeom>
          <a:noFill/>
        </p:spPr>
        <p:txBody>
          <a:bodyPr wrap="square" lIns="0" tIns="0" rIns="0" bIns="0" anchor="ctr">
            <a:spAutoFit/>
          </a:bodyPr>
          <a:lstStyle/>
          <a:p>
            <a:pPr algn="l">
              <a:lnSpc>
                <a:spcPct val="100000"/>
              </a:lnSpc>
            </a:pPr>
            <a:r>
              <a:rPr sz="1200" b="0">
                <a:solidFill>
                  <a:srgbClr val="24323F"/>
                </a:solidFill>
                <a:latin typeface="Segoe UI"/>
              </a:rPr>
              <a:t>Dashboards match SQL by construction</a:t>
            </a:r>
          </a:p>
        </p:txBody>
      </p:sp>
      <p:sp>
        <p:nvSpPr>
          <p:cNvPr id="40" name="Rounded Rectangle 39"/>
          <p:cNvSpPr/>
          <p:nvPr/>
        </p:nvSpPr>
        <p:spPr>
          <a:xfrm>
            <a:off x="548640" y="4754880"/>
            <a:ext cx="3246120" cy="603504"/>
          </a:xfrm>
          <a:prstGeom prst="roundRect">
            <a:avLst>
              <a:gd name="adj" fmla="val 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1" name="TextBox 40"/>
          <p:cNvSpPr txBox="1"/>
          <p:nvPr/>
        </p:nvSpPr>
        <p:spPr>
          <a:xfrm>
            <a:off x="731520" y="4754880"/>
            <a:ext cx="2971800" cy="603504"/>
          </a:xfrm>
          <a:prstGeom prst="rect">
            <a:avLst/>
          </a:prstGeom>
          <a:noFill/>
        </p:spPr>
        <p:txBody>
          <a:bodyPr wrap="square" lIns="0" tIns="0" rIns="0" bIns="0" anchor="ctr">
            <a:spAutoFit/>
          </a:bodyPr>
          <a:lstStyle/>
          <a:p>
            <a:pPr algn="l">
              <a:lnSpc>
                <a:spcPct val="100000"/>
              </a:lnSpc>
            </a:pPr>
            <a:r>
              <a:rPr sz="1200" b="0">
                <a:solidFill>
                  <a:srgbClr val="24323F"/>
                </a:solidFill>
                <a:latin typeface="Segoe UI"/>
              </a:rPr>
              <a:t>Good performance at every layer</a:t>
            </a:r>
          </a:p>
        </p:txBody>
      </p:sp>
      <p:cxnSp>
        <p:nvCxnSpPr>
          <p:cNvPr id="42" name="Connector 41"/>
          <p:cNvCxnSpPr/>
          <p:nvPr/>
        </p:nvCxnSpPr>
        <p:spPr>
          <a:xfrm>
            <a:off x="3840480" y="5056632"/>
            <a:ext cx="438912" cy="0"/>
          </a:xfrm>
          <a:prstGeom prst="line">
            <a:avLst/>
          </a:prstGeom>
          <a:ln w="25400">
            <a:solidFill>
              <a:srgbClr val="F2A900"/>
            </a:solidFill>
            <a:tailEnd type="triangle" w="med" len="med"/>
          </a:ln>
        </p:spPr>
        <p:style>
          <a:lnRef idx="2">
            <a:schemeClr val="accent1"/>
          </a:lnRef>
          <a:fillRef idx="0">
            <a:schemeClr val="accent1"/>
          </a:fillRef>
          <a:effectRef idx="1">
            <a:schemeClr val="accent1"/>
          </a:effectRef>
          <a:fontRef idx="minor">
            <a:schemeClr val="tx1"/>
          </a:fontRef>
        </p:style>
      </p:cxnSp>
      <p:sp>
        <p:nvSpPr>
          <p:cNvPr id="43" name="Rounded Rectangle 42"/>
          <p:cNvSpPr/>
          <p:nvPr/>
        </p:nvSpPr>
        <p:spPr>
          <a:xfrm>
            <a:off x="4343400" y="4754880"/>
            <a:ext cx="3429000" cy="603504"/>
          </a:xfrm>
          <a:prstGeom prst="roundRect">
            <a:avLst>
              <a:gd name="adj" fmla="val 6000"/>
            </a:avLst>
          </a:prstGeom>
          <a:solidFill>
            <a:srgbClr val="1F4E7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4" name="TextBox 43"/>
          <p:cNvSpPr txBox="1"/>
          <p:nvPr/>
        </p:nvSpPr>
        <p:spPr>
          <a:xfrm>
            <a:off x="4526280" y="4754880"/>
            <a:ext cx="3154680" cy="603504"/>
          </a:xfrm>
          <a:prstGeom prst="rect">
            <a:avLst/>
          </a:prstGeom>
          <a:noFill/>
        </p:spPr>
        <p:txBody>
          <a:bodyPr wrap="square" lIns="0" tIns="0" rIns="0" bIns="0" anchor="ctr">
            <a:spAutoFit/>
          </a:bodyPr>
          <a:lstStyle/>
          <a:p>
            <a:pPr algn="l">
              <a:lnSpc>
                <a:spcPct val="100000"/>
              </a:lnSpc>
            </a:pPr>
            <a:r>
              <a:rPr sz="1200" b="1">
                <a:solidFill>
                  <a:srgbClr val="FFFFFF"/>
                </a:solidFill>
                <a:latin typeface="Segoe UI"/>
              </a:rPr>
              <a:t>Star schema, pre-aggregates, extracts</a:t>
            </a:r>
          </a:p>
        </p:txBody>
      </p:sp>
      <p:cxnSp>
        <p:nvCxnSpPr>
          <p:cNvPr id="45" name="Connector 44"/>
          <p:cNvCxnSpPr/>
          <p:nvPr/>
        </p:nvCxnSpPr>
        <p:spPr>
          <a:xfrm>
            <a:off x="7818120" y="5056632"/>
            <a:ext cx="438911" cy="0"/>
          </a:xfrm>
          <a:prstGeom prst="line">
            <a:avLst/>
          </a:prstGeom>
          <a:ln w="25400">
            <a:solidFill>
              <a:srgbClr val="F2A900"/>
            </a:solidFill>
            <a:tailEnd type="triangle" w="med" len="med"/>
          </a:ln>
        </p:spPr>
        <p:style>
          <a:lnRef idx="2">
            <a:schemeClr val="accent1"/>
          </a:lnRef>
          <a:fillRef idx="0">
            <a:schemeClr val="accent1"/>
          </a:fillRef>
          <a:effectRef idx="1">
            <a:schemeClr val="accent1"/>
          </a:effectRef>
          <a:fontRef idx="minor">
            <a:schemeClr val="tx1"/>
          </a:fontRef>
        </p:style>
      </p:cxnSp>
      <p:sp>
        <p:nvSpPr>
          <p:cNvPr id="46" name="Rounded Rectangle 45"/>
          <p:cNvSpPr/>
          <p:nvPr/>
        </p:nvSpPr>
        <p:spPr>
          <a:xfrm>
            <a:off x="8321040" y="4754880"/>
            <a:ext cx="3291840" cy="603504"/>
          </a:xfrm>
          <a:prstGeom prst="roundRect">
            <a:avLst>
              <a:gd name="adj" fmla="val 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7" name="TextBox 46"/>
          <p:cNvSpPr txBox="1"/>
          <p:nvPr/>
        </p:nvSpPr>
        <p:spPr>
          <a:xfrm>
            <a:off x="8503920" y="4754880"/>
            <a:ext cx="3017520" cy="603504"/>
          </a:xfrm>
          <a:prstGeom prst="rect">
            <a:avLst/>
          </a:prstGeom>
          <a:noFill/>
        </p:spPr>
        <p:txBody>
          <a:bodyPr wrap="square" lIns="0" tIns="0" rIns="0" bIns="0" anchor="ctr">
            <a:spAutoFit/>
          </a:bodyPr>
          <a:lstStyle/>
          <a:p>
            <a:pPr algn="l">
              <a:lnSpc>
                <a:spcPct val="100000"/>
              </a:lnSpc>
            </a:pPr>
            <a:r>
              <a:rPr sz="1200" b="0">
                <a:solidFill>
                  <a:srgbClr val="24323F"/>
                </a:solidFill>
                <a:latin typeface="Segoe UI"/>
              </a:rPr>
              <a:t>Over-level queries 9x faster; fast dashboards</a:t>
            </a:r>
          </a:p>
        </p:txBody>
      </p:sp>
      <p:sp>
        <p:nvSpPr>
          <p:cNvPr id="48" name="Rounded Rectangle 47"/>
          <p:cNvSpPr/>
          <p:nvPr/>
        </p:nvSpPr>
        <p:spPr>
          <a:xfrm>
            <a:off x="548640" y="5468112"/>
            <a:ext cx="3246120" cy="603504"/>
          </a:xfrm>
          <a:prstGeom prst="roundRect">
            <a:avLst>
              <a:gd name="adj" fmla="val 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9" name="TextBox 48"/>
          <p:cNvSpPr txBox="1"/>
          <p:nvPr/>
        </p:nvSpPr>
        <p:spPr>
          <a:xfrm>
            <a:off x="731520" y="5468112"/>
            <a:ext cx="2971800" cy="603504"/>
          </a:xfrm>
          <a:prstGeom prst="rect">
            <a:avLst/>
          </a:prstGeom>
          <a:noFill/>
        </p:spPr>
        <p:txBody>
          <a:bodyPr wrap="square" lIns="0" tIns="0" rIns="0" bIns="0" anchor="ctr">
            <a:spAutoFit/>
          </a:bodyPr>
          <a:lstStyle/>
          <a:p>
            <a:pPr algn="l">
              <a:lnSpc>
                <a:spcPct val="100000"/>
              </a:lnSpc>
            </a:pPr>
            <a:r>
              <a:rPr sz="1200" b="0">
                <a:solidFill>
                  <a:srgbClr val="24323F"/>
                </a:solidFill>
                <a:latin typeface="Segoe UI"/>
              </a:rPr>
              <a:t>Secure, and deployable on another PC</a:t>
            </a:r>
          </a:p>
        </p:txBody>
      </p:sp>
      <p:cxnSp>
        <p:nvCxnSpPr>
          <p:cNvPr id="50" name="Connector 49"/>
          <p:cNvCxnSpPr/>
          <p:nvPr/>
        </p:nvCxnSpPr>
        <p:spPr>
          <a:xfrm>
            <a:off x="3840480" y="5769864"/>
            <a:ext cx="438912" cy="0"/>
          </a:xfrm>
          <a:prstGeom prst="line">
            <a:avLst/>
          </a:prstGeom>
          <a:ln w="25400">
            <a:solidFill>
              <a:srgbClr val="F2A900"/>
            </a:solidFill>
            <a:tailEnd type="triangle" w="med" len="med"/>
          </a:ln>
        </p:spPr>
        <p:style>
          <a:lnRef idx="2">
            <a:schemeClr val="accent1"/>
          </a:lnRef>
          <a:fillRef idx="0">
            <a:schemeClr val="accent1"/>
          </a:fillRef>
          <a:effectRef idx="1">
            <a:schemeClr val="accent1"/>
          </a:effectRef>
          <a:fontRef idx="minor">
            <a:schemeClr val="tx1"/>
          </a:fontRef>
        </p:style>
      </p:cxnSp>
      <p:sp>
        <p:nvSpPr>
          <p:cNvPr id="51" name="Rounded Rectangle 50"/>
          <p:cNvSpPr/>
          <p:nvPr/>
        </p:nvSpPr>
        <p:spPr>
          <a:xfrm>
            <a:off x="4343400" y="5468112"/>
            <a:ext cx="3429000" cy="603504"/>
          </a:xfrm>
          <a:prstGeom prst="roundRect">
            <a:avLst>
              <a:gd name="adj" fmla="val 6000"/>
            </a:avLst>
          </a:prstGeom>
          <a:solidFill>
            <a:srgbClr val="1F4E7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2" name="TextBox 51"/>
          <p:cNvSpPr txBox="1"/>
          <p:nvPr/>
        </p:nvSpPr>
        <p:spPr>
          <a:xfrm>
            <a:off x="4526280" y="5468112"/>
            <a:ext cx="3154680" cy="603504"/>
          </a:xfrm>
          <a:prstGeom prst="rect">
            <a:avLst/>
          </a:prstGeom>
          <a:noFill/>
        </p:spPr>
        <p:txBody>
          <a:bodyPr wrap="square" lIns="0" tIns="0" rIns="0" bIns="0" anchor="ctr">
            <a:spAutoFit/>
          </a:bodyPr>
          <a:lstStyle/>
          <a:p>
            <a:pPr algn="l">
              <a:lnSpc>
                <a:spcPct val="100000"/>
              </a:lnSpc>
            </a:pPr>
            <a:r>
              <a:rPr sz="1200" b="1">
                <a:solidFill>
                  <a:srgbClr val="FFFFFF"/>
                </a:solidFill>
                <a:latin typeface="Segoe UI"/>
              </a:rPr>
              <a:t>Least privilege; config-driven scripted setup</a:t>
            </a:r>
          </a:p>
        </p:txBody>
      </p:sp>
      <p:cxnSp>
        <p:nvCxnSpPr>
          <p:cNvPr id="53" name="Connector 52"/>
          <p:cNvCxnSpPr/>
          <p:nvPr/>
        </p:nvCxnSpPr>
        <p:spPr>
          <a:xfrm>
            <a:off x="7818120" y="5769864"/>
            <a:ext cx="438911" cy="0"/>
          </a:xfrm>
          <a:prstGeom prst="line">
            <a:avLst/>
          </a:prstGeom>
          <a:ln w="25400">
            <a:solidFill>
              <a:srgbClr val="F2A900"/>
            </a:solidFill>
            <a:tailEnd type="triangle" w="med" len="med"/>
          </a:ln>
        </p:spPr>
        <p:style>
          <a:lnRef idx="2">
            <a:schemeClr val="accent1"/>
          </a:lnRef>
          <a:fillRef idx="0">
            <a:schemeClr val="accent1"/>
          </a:fillRef>
          <a:effectRef idx="1">
            <a:schemeClr val="accent1"/>
          </a:effectRef>
          <a:fontRef idx="minor">
            <a:schemeClr val="tx1"/>
          </a:fontRef>
        </p:style>
      </p:cxnSp>
      <p:sp>
        <p:nvSpPr>
          <p:cNvPr id="54" name="Rounded Rectangle 53"/>
          <p:cNvSpPr/>
          <p:nvPr/>
        </p:nvSpPr>
        <p:spPr>
          <a:xfrm>
            <a:off x="8321040" y="5468112"/>
            <a:ext cx="3291840" cy="603504"/>
          </a:xfrm>
          <a:prstGeom prst="roundRect">
            <a:avLst>
              <a:gd name="adj" fmla="val 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5" name="TextBox 54"/>
          <p:cNvSpPr txBox="1"/>
          <p:nvPr/>
        </p:nvSpPr>
        <p:spPr>
          <a:xfrm>
            <a:off x="8503920" y="5468112"/>
            <a:ext cx="3017520" cy="603504"/>
          </a:xfrm>
          <a:prstGeom prst="rect">
            <a:avLst/>
          </a:prstGeom>
          <a:noFill/>
        </p:spPr>
        <p:txBody>
          <a:bodyPr wrap="square" lIns="0" tIns="0" rIns="0" bIns="0" anchor="ctr">
            <a:spAutoFit/>
          </a:bodyPr>
          <a:lstStyle/>
          <a:p>
            <a:pPr algn="l">
              <a:lnSpc>
                <a:spcPct val="100000"/>
              </a:lnSpc>
            </a:pPr>
            <a:r>
              <a:rPr sz="1200" b="0">
                <a:solidFill>
                  <a:srgbClr val="24323F"/>
                </a:solidFill>
                <a:latin typeface="Segoe UI"/>
              </a:rPr>
              <a:t>No credentials in code; rebuilt from a guide</a:t>
            </a:r>
          </a:p>
        </p:txBody>
      </p:sp>
      <p:sp>
        <p:nvSpPr>
          <p:cNvPr id="56" name="TextBox 55"/>
          <p:cNvSpPr txBox="1"/>
          <p:nvPr/>
        </p:nvSpPr>
        <p:spPr>
          <a:xfrm>
            <a:off x="548640" y="6428232"/>
            <a:ext cx="5486400" cy="228600"/>
          </a:xfrm>
          <a:prstGeom prst="rect">
            <a:avLst/>
          </a:prstGeom>
          <a:noFill/>
        </p:spPr>
        <p:txBody>
          <a:bodyPr wrap="square" lIns="0" tIns="0" rIns="0" bIns="0" anchor="t">
            <a:spAutoFit/>
          </a:bodyPr>
          <a:lstStyle/>
          <a:p>
            <a:pPr algn="l">
              <a:lnSpc>
                <a:spcPct val="100000"/>
              </a:lnSpc>
            </a:pPr>
            <a:r>
              <a:rPr sz="1000" b="0">
                <a:solidFill>
                  <a:srgbClr val="6B7785"/>
                </a:solidFill>
                <a:latin typeface="Segoe UI"/>
              </a:rPr>
              <a:t>Cricket Analytics Platform</a:t>
            </a:r>
          </a:p>
        </p:txBody>
      </p:sp>
      <p:sp>
        <p:nvSpPr>
          <p:cNvPr id="57" name="TextBox 56"/>
          <p:cNvSpPr txBox="1"/>
          <p:nvPr/>
        </p:nvSpPr>
        <p:spPr>
          <a:xfrm>
            <a:off x="10725912" y="6428232"/>
            <a:ext cx="914400" cy="228600"/>
          </a:xfrm>
          <a:prstGeom prst="rect">
            <a:avLst/>
          </a:prstGeom>
          <a:noFill/>
        </p:spPr>
        <p:txBody>
          <a:bodyPr wrap="square" lIns="0" tIns="0" rIns="0" bIns="0" anchor="t">
            <a:spAutoFit/>
          </a:bodyPr>
          <a:lstStyle/>
          <a:p>
            <a:pPr algn="r">
              <a:lnSpc>
                <a:spcPct val="100000"/>
              </a:lnSpc>
            </a:pPr>
            <a:r>
              <a:rPr sz="1000" b="0">
                <a:solidFill>
                  <a:srgbClr val="6B7785"/>
                </a:solidFill>
                <a:latin typeface="Segoe UI"/>
              </a:rPr>
              <a:t>22</a:t>
            </a: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bg>
      <p:bgPr>
        <a:solidFill>
          <a:srgbClr val="EEF2F6"/>
        </a:solidFill>
        <a:effectLst/>
      </p:bgPr>
    </p:bg>
    <p:spTree>
      <p:nvGrpSpPr>
        <p:cNvPr id="1" name=""/>
        <p:cNvGrpSpPr/>
        <p:nvPr/>
      </p:nvGrpSpPr>
      <p:grpSpPr>
        <a:xfrm>
          <a:off x="0" y="0"/>
          <a:ext cx="0" cy="0"/>
          <a:chOff x="0" y="0"/>
          <a:chExt cx="0" cy="0"/>
        </a:xfrm>
      </p:grpSpPr>
      <p:sp>
        <p:nvSpPr>
          <p:cNvPr id="2" name="TextBox 1"/>
          <p:cNvSpPr txBox="1"/>
          <p:nvPr/>
        </p:nvSpPr>
        <p:spPr>
          <a:xfrm>
            <a:off x="548640" y="146304"/>
            <a:ext cx="10058400" cy="256032"/>
          </a:xfrm>
          <a:prstGeom prst="rect">
            <a:avLst/>
          </a:prstGeom>
          <a:noFill/>
        </p:spPr>
        <p:txBody>
          <a:bodyPr wrap="square" lIns="0" tIns="0" rIns="0" bIns="0" anchor="t">
            <a:spAutoFit/>
          </a:bodyPr>
          <a:lstStyle/>
          <a:p>
            <a:pPr algn="l">
              <a:lnSpc>
                <a:spcPct val="100000"/>
              </a:lnSpc>
            </a:pPr>
            <a:r>
              <a:rPr sz="1000" b="1">
                <a:solidFill>
                  <a:srgbClr val="F2A900"/>
                </a:solidFill>
                <a:latin typeface="Segoe UI"/>
              </a:rPr>
              <a:t>✓  ·  SUMMARY</a:t>
            </a:r>
            <a:r>
              <a:rPr sz="1000" b="0">
                <a:solidFill>
                  <a:srgbClr val="6B7785"/>
                </a:solidFill>
                <a:latin typeface="Segoe UI"/>
              </a:rPr>
              <a:t>     Brief §14</a:t>
            </a:r>
          </a:p>
        </p:txBody>
      </p:sp>
      <p:sp>
        <p:nvSpPr>
          <p:cNvPr id="3" name="TextBox 2"/>
          <p:cNvSpPr txBox="1"/>
          <p:nvPr/>
        </p:nvSpPr>
        <p:spPr>
          <a:xfrm>
            <a:off x="548640" y="411480"/>
            <a:ext cx="11064240" cy="640080"/>
          </a:xfrm>
          <a:prstGeom prst="rect">
            <a:avLst/>
          </a:prstGeom>
          <a:noFill/>
        </p:spPr>
        <p:txBody>
          <a:bodyPr wrap="square" lIns="0" tIns="0" rIns="0" bIns="0" anchor="t">
            <a:spAutoFit/>
          </a:bodyPr>
          <a:lstStyle/>
          <a:p>
            <a:pPr algn="l">
              <a:lnSpc>
                <a:spcPct val="100000"/>
              </a:lnSpc>
            </a:pPr>
            <a:r>
              <a:rPr sz="3200" b="0">
                <a:solidFill>
                  <a:srgbClr val="1F4E79"/>
                </a:solidFill>
                <a:latin typeface="Segoe UI Semibold"/>
              </a:rPr>
              <a:t>The work behind the insights</a:t>
            </a:r>
          </a:p>
        </p:txBody>
      </p:sp>
      <p:sp>
        <p:nvSpPr>
          <p:cNvPr id="4" name="TextBox 3"/>
          <p:cNvSpPr txBox="1"/>
          <p:nvPr/>
        </p:nvSpPr>
        <p:spPr>
          <a:xfrm>
            <a:off x="548640" y="1024128"/>
            <a:ext cx="11064240" cy="411480"/>
          </a:xfrm>
          <a:prstGeom prst="rect">
            <a:avLst/>
          </a:prstGeom>
          <a:noFill/>
        </p:spPr>
        <p:txBody>
          <a:bodyPr wrap="square" lIns="0" tIns="0" rIns="0" bIns="0" anchor="t">
            <a:spAutoFit/>
          </a:bodyPr>
          <a:lstStyle/>
          <a:p>
            <a:pPr algn="l">
              <a:lnSpc>
                <a:spcPct val="100000"/>
              </a:lnSpc>
            </a:pPr>
            <a:r>
              <a:rPr sz="1500" b="0">
                <a:solidFill>
                  <a:srgbClr val="6B7785"/>
                </a:solidFill>
                <a:latin typeface="Segoe UI"/>
              </a:rPr>
              <a:t>A complete BI solution, by the numbers</a:t>
            </a:r>
          </a:p>
        </p:txBody>
      </p:sp>
      <p:sp>
        <p:nvSpPr>
          <p:cNvPr id="5" name="Rounded Rectangle 4"/>
          <p:cNvSpPr/>
          <p:nvPr/>
        </p:nvSpPr>
        <p:spPr>
          <a:xfrm>
            <a:off x="548640" y="1645920"/>
            <a:ext cx="2606040" cy="1371600"/>
          </a:xfrm>
          <a:prstGeom prst="roundRect">
            <a:avLst>
              <a:gd name="adj" fmla="val 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731520" y="1755648"/>
            <a:ext cx="2286000" cy="594360"/>
          </a:xfrm>
          <a:prstGeom prst="rect">
            <a:avLst/>
          </a:prstGeom>
          <a:noFill/>
        </p:spPr>
        <p:txBody>
          <a:bodyPr wrap="square" lIns="0" tIns="0" rIns="0" bIns="0" anchor="ctr">
            <a:spAutoFit/>
          </a:bodyPr>
          <a:lstStyle/>
          <a:p>
            <a:pPr algn="l">
              <a:lnSpc>
                <a:spcPct val="100000"/>
              </a:lnSpc>
            </a:pPr>
            <a:r>
              <a:rPr sz="3000" b="0">
                <a:solidFill>
                  <a:srgbClr val="1F4E79"/>
                </a:solidFill>
                <a:latin typeface="Segoe UI Semibold"/>
              </a:rPr>
              <a:t>8</a:t>
            </a:r>
          </a:p>
        </p:txBody>
      </p:sp>
      <p:sp>
        <p:nvSpPr>
          <p:cNvPr id="7" name="TextBox 6"/>
          <p:cNvSpPr txBox="1"/>
          <p:nvPr/>
        </p:nvSpPr>
        <p:spPr>
          <a:xfrm>
            <a:off x="731520" y="2359152"/>
            <a:ext cx="2286000" cy="292608"/>
          </a:xfrm>
          <a:prstGeom prst="rect">
            <a:avLst/>
          </a:prstGeom>
          <a:noFill/>
        </p:spPr>
        <p:txBody>
          <a:bodyPr wrap="square" lIns="0" tIns="0" rIns="0" bIns="0" anchor="t">
            <a:spAutoFit/>
          </a:bodyPr>
          <a:lstStyle/>
          <a:p>
            <a:pPr algn="l">
              <a:lnSpc>
                <a:spcPct val="100000"/>
              </a:lnSpc>
            </a:pPr>
            <a:r>
              <a:rPr sz="1300" b="0">
                <a:solidFill>
                  <a:srgbClr val="24323F"/>
                </a:solidFill>
                <a:latin typeface="Segoe UI Semibold"/>
              </a:rPr>
              <a:t>Alteryx workflows</a:t>
            </a:r>
          </a:p>
        </p:txBody>
      </p:sp>
      <p:sp>
        <p:nvSpPr>
          <p:cNvPr id="8" name="TextBox 7"/>
          <p:cNvSpPr txBox="1"/>
          <p:nvPr/>
        </p:nvSpPr>
        <p:spPr>
          <a:xfrm>
            <a:off x="731520" y="2651760"/>
            <a:ext cx="2286000" cy="274320"/>
          </a:xfrm>
          <a:prstGeom prst="rect">
            <a:avLst/>
          </a:prstGeom>
          <a:noFill/>
        </p:spPr>
        <p:txBody>
          <a:bodyPr wrap="square" lIns="0" tIns="0" rIns="0" bIns="0" anchor="t">
            <a:spAutoFit/>
          </a:bodyPr>
          <a:lstStyle/>
          <a:p>
            <a:pPr algn="l">
              <a:lnSpc>
                <a:spcPct val="100000"/>
              </a:lnSpc>
            </a:pPr>
            <a:r>
              <a:rPr sz="1000" b="0">
                <a:solidFill>
                  <a:srgbClr val="6B7785"/>
                </a:solidFill>
                <a:latin typeface="Segoe UI"/>
              </a:rPr>
              <a:t>1 orchestrator + 7 stages</a:t>
            </a:r>
          </a:p>
        </p:txBody>
      </p:sp>
      <p:sp>
        <p:nvSpPr>
          <p:cNvPr id="9" name="Rounded Rectangle 8"/>
          <p:cNvSpPr/>
          <p:nvPr/>
        </p:nvSpPr>
        <p:spPr>
          <a:xfrm>
            <a:off x="3364992" y="1645920"/>
            <a:ext cx="2606040" cy="1371600"/>
          </a:xfrm>
          <a:prstGeom prst="roundRect">
            <a:avLst>
              <a:gd name="adj" fmla="val 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3547872" y="1755648"/>
            <a:ext cx="2286000" cy="594360"/>
          </a:xfrm>
          <a:prstGeom prst="rect">
            <a:avLst/>
          </a:prstGeom>
          <a:noFill/>
        </p:spPr>
        <p:txBody>
          <a:bodyPr wrap="square" lIns="0" tIns="0" rIns="0" bIns="0" anchor="ctr">
            <a:spAutoFit/>
          </a:bodyPr>
          <a:lstStyle/>
          <a:p>
            <a:pPr algn="l">
              <a:lnSpc>
                <a:spcPct val="100000"/>
              </a:lnSpc>
            </a:pPr>
            <a:r>
              <a:rPr sz="3000" b="0">
                <a:solidFill>
                  <a:srgbClr val="1F4E79"/>
                </a:solidFill>
                <a:latin typeface="Segoe UI Semibold"/>
              </a:rPr>
              <a:t>648</a:t>
            </a:r>
          </a:p>
        </p:txBody>
      </p:sp>
      <p:sp>
        <p:nvSpPr>
          <p:cNvPr id="11" name="TextBox 10"/>
          <p:cNvSpPr txBox="1"/>
          <p:nvPr/>
        </p:nvSpPr>
        <p:spPr>
          <a:xfrm>
            <a:off x="3547872" y="2359152"/>
            <a:ext cx="2286000" cy="292608"/>
          </a:xfrm>
          <a:prstGeom prst="rect">
            <a:avLst/>
          </a:prstGeom>
          <a:noFill/>
        </p:spPr>
        <p:txBody>
          <a:bodyPr wrap="square" lIns="0" tIns="0" rIns="0" bIns="0" anchor="t">
            <a:spAutoFit/>
          </a:bodyPr>
          <a:lstStyle/>
          <a:p>
            <a:pPr algn="l">
              <a:lnSpc>
                <a:spcPct val="100000"/>
              </a:lnSpc>
            </a:pPr>
            <a:r>
              <a:rPr sz="1300" b="0">
                <a:solidFill>
                  <a:srgbClr val="24323F"/>
                </a:solidFill>
                <a:latin typeface="Segoe UI Semibold"/>
              </a:rPr>
              <a:t>Alteryx tools</a:t>
            </a:r>
          </a:p>
        </p:txBody>
      </p:sp>
      <p:sp>
        <p:nvSpPr>
          <p:cNvPr id="12" name="TextBox 11"/>
          <p:cNvSpPr txBox="1"/>
          <p:nvPr/>
        </p:nvSpPr>
        <p:spPr>
          <a:xfrm>
            <a:off x="3547872" y="2651760"/>
            <a:ext cx="2286000" cy="274320"/>
          </a:xfrm>
          <a:prstGeom prst="rect">
            <a:avLst/>
          </a:prstGeom>
          <a:noFill/>
        </p:spPr>
        <p:txBody>
          <a:bodyPr wrap="square" lIns="0" tIns="0" rIns="0" bIns="0" anchor="t">
            <a:spAutoFit/>
          </a:bodyPr>
          <a:lstStyle/>
          <a:p>
            <a:pPr algn="l">
              <a:lnSpc>
                <a:spcPct val="100000"/>
              </a:lnSpc>
            </a:pPr>
            <a:r>
              <a:rPr sz="1000" b="0">
                <a:solidFill>
                  <a:srgbClr val="6B7785"/>
                </a:solidFill>
                <a:latin typeface="Segoe UI"/>
              </a:rPr>
              <a:t>in 52 labelled containers</a:t>
            </a:r>
          </a:p>
        </p:txBody>
      </p:sp>
      <p:sp>
        <p:nvSpPr>
          <p:cNvPr id="13" name="Rounded Rectangle 12"/>
          <p:cNvSpPr/>
          <p:nvPr/>
        </p:nvSpPr>
        <p:spPr>
          <a:xfrm>
            <a:off x="6181344" y="1645920"/>
            <a:ext cx="2606040" cy="1371600"/>
          </a:xfrm>
          <a:prstGeom prst="roundRect">
            <a:avLst>
              <a:gd name="adj" fmla="val 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6364224" y="1755648"/>
            <a:ext cx="2286000" cy="594360"/>
          </a:xfrm>
          <a:prstGeom prst="rect">
            <a:avLst/>
          </a:prstGeom>
          <a:noFill/>
        </p:spPr>
        <p:txBody>
          <a:bodyPr wrap="square" lIns="0" tIns="0" rIns="0" bIns="0" anchor="ctr">
            <a:spAutoFit/>
          </a:bodyPr>
          <a:lstStyle/>
          <a:p>
            <a:pPr algn="l">
              <a:lnSpc>
                <a:spcPct val="100000"/>
              </a:lnSpc>
            </a:pPr>
            <a:r>
              <a:rPr sz="3000" b="0">
                <a:solidFill>
                  <a:srgbClr val="1F4E79"/>
                </a:solidFill>
                <a:latin typeface="Segoe UI Semibold"/>
              </a:rPr>
              <a:t>6</a:t>
            </a:r>
          </a:p>
        </p:txBody>
      </p:sp>
      <p:sp>
        <p:nvSpPr>
          <p:cNvPr id="15" name="TextBox 14"/>
          <p:cNvSpPr txBox="1"/>
          <p:nvPr/>
        </p:nvSpPr>
        <p:spPr>
          <a:xfrm>
            <a:off x="6364224" y="2359152"/>
            <a:ext cx="2286000" cy="292608"/>
          </a:xfrm>
          <a:prstGeom prst="rect">
            <a:avLst/>
          </a:prstGeom>
          <a:noFill/>
        </p:spPr>
        <p:txBody>
          <a:bodyPr wrap="square" lIns="0" tIns="0" rIns="0" bIns="0" anchor="t">
            <a:spAutoFit/>
          </a:bodyPr>
          <a:lstStyle/>
          <a:p>
            <a:pPr algn="l">
              <a:lnSpc>
                <a:spcPct val="100000"/>
              </a:lnSpc>
            </a:pPr>
            <a:r>
              <a:rPr sz="1300" b="0">
                <a:solidFill>
                  <a:srgbClr val="24323F"/>
                </a:solidFill>
                <a:latin typeface="Segoe UI Semibold"/>
              </a:rPr>
              <a:t>reusable macros</a:t>
            </a:r>
          </a:p>
        </p:txBody>
      </p:sp>
      <p:sp>
        <p:nvSpPr>
          <p:cNvPr id="16" name="TextBox 15"/>
          <p:cNvSpPr txBox="1"/>
          <p:nvPr/>
        </p:nvSpPr>
        <p:spPr>
          <a:xfrm>
            <a:off x="6364224" y="2651760"/>
            <a:ext cx="2286000" cy="274320"/>
          </a:xfrm>
          <a:prstGeom prst="rect">
            <a:avLst/>
          </a:prstGeom>
          <a:noFill/>
        </p:spPr>
        <p:txBody>
          <a:bodyPr wrap="square" lIns="0" tIns="0" rIns="0" bIns="0" anchor="t">
            <a:spAutoFit/>
          </a:bodyPr>
          <a:lstStyle/>
          <a:p>
            <a:pPr algn="l">
              <a:lnSpc>
                <a:spcPct val="100000"/>
              </a:lnSpc>
            </a:pPr>
            <a:r>
              <a:rPr sz="1000" b="0">
                <a:solidFill>
                  <a:srgbClr val="6B7785"/>
                </a:solidFill>
                <a:latin typeface="Segoe UI"/>
              </a:rPr>
              <a:t>logging, rules, readers, export</a:t>
            </a:r>
          </a:p>
        </p:txBody>
      </p:sp>
      <p:sp>
        <p:nvSpPr>
          <p:cNvPr id="17" name="Rounded Rectangle 16"/>
          <p:cNvSpPr/>
          <p:nvPr/>
        </p:nvSpPr>
        <p:spPr>
          <a:xfrm>
            <a:off x="8997696" y="1645920"/>
            <a:ext cx="2606040" cy="1371600"/>
          </a:xfrm>
          <a:prstGeom prst="roundRect">
            <a:avLst>
              <a:gd name="adj" fmla="val 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9180576" y="1755648"/>
            <a:ext cx="2286000" cy="594360"/>
          </a:xfrm>
          <a:prstGeom prst="rect">
            <a:avLst/>
          </a:prstGeom>
          <a:noFill/>
        </p:spPr>
        <p:txBody>
          <a:bodyPr wrap="square" lIns="0" tIns="0" rIns="0" bIns="0" anchor="ctr">
            <a:spAutoFit/>
          </a:bodyPr>
          <a:lstStyle/>
          <a:p>
            <a:pPr algn="l">
              <a:lnSpc>
                <a:spcPct val="100000"/>
              </a:lnSpc>
            </a:pPr>
            <a:r>
              <a:rPr sz="3000" b="0">
                <a:solidFill>
                  <a:srgbClr val="C08A00"/>
                </a:solidFill>
                <a:latin typeface="Segoe UI Semibold"/>
              </a:rPr>
              <a:t>43</a:t>
            </a:r>
          </a:p>
        </p:txBody>
      </p:sp>
      <p:sp>
        <p:nvSpPr>
          <p:cNvPr id="19" name="TextBox 18"/>
          <p:cNvSpPr txBox="1"/>
          <p:nvPr/>
        </p:nvSpPr>
        <p:spPr>
          <a:xfrm>
            <a:off x="9180576" y="2359152"/>
            <a:ext cx="2286000" cy="292608"/>
          </a:xfrm>
          <a:prstGeom prst="rect">
            <a:avLst/>
          </a:prstGeom>
          <a:noFill/>
        </p:spPr>
        <p:txBody>
          <a:bodyPr wrap="square" lIns="0" tIns="0" rIns="0" bIns="0" anchor="t">
            <a:spAutoFit/>
          </a:bodyPr>
          <a:lstStyle/>
          <a:p>
            <a:pPr algn="l">
              <a:lnSpc>
                <a:spcPct val="100000"/>
              </a:lnSpc>
            </a:pPr>
            <a:r>
              <a:rPr sz="1300" b="0">
                <a:solidFill>
                  <a:srgbClr val="24323F"/>
                </a:solidFill>
                <a:latin typeface="Segoe UI Semibold"/>
              </a:rPr>
              <a:t>data-quality rules</a:t>
            </a:r>
          </a:p>
        </p:txBody>
      </p:sp>
      <p:sp>
        <p:nvSpPr>
          <p:cNvPr id="20" name="TextBox 19"/>
          <p:cNvSpPr txBox="1"/>
          <p:nvPr/>
        </p:nvSpPr>
        <p:spPr>
          <a:xfrm>
            <a:off x="9180576" y="2651760"/>
            <a:ext cx="2286000" cy="274320"/>
          </a:xfrm>
          <a:prstGeom prst="rect">
            <a:avLst/>
          </a:prstGeom>
          <a:noFill/>
        </p:spPr>
        <p:txBody>
          <a:bodyPr wrap="square" lIns="0" tIns="0" rIns="0" bIns="0" anchor="t">
            <a:spAutoFit/>
          </a:bodyPr>
          <a:lstStyle/>
          <a:p>
            <a:pPr algn="l">
              <a:lnSpc>
                <a:spcPct val="100000"/>
              </a:lnSpc>
            </a:pPr>
            <a:r>
              <a:rPr sz="1000" b="0">
                <a:solidFill>
                  <a:srgbClr val="6B7785"/>
                </a:solidFill>
                <a:latin typeface="Segoe UI"/>
              </a:rPr>
              <a:t>6 dimensions, stored as data</a:t>
            </a:r>
          </a:p>
        </p:txBody>
      </p:sp>
      <p:sp>
        <p:nvSpPr>
          <p:cNvPr id="21" name="Rounded Rectangle 20"/>
          <p:cNvSpPr/>
          <p:nvPr/>
        </p:nvSpPr>
        <p:spPr>
          <a:xfrm>
            <a:off x="548640" y="3182112"/>
            <a:ext cx="2606040" cy="1371600"/>
          </a:xfrm>
          <a:prstGeom prst="roundRect">
            <a:avLst>
              <a:gd name="adj" fmla="val 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731520" y="3291840"/>
            <a:ext cx="2286000" cy="594360"/>
          </a:xfrm>
          <a:prstGeom prst="rect">
            <a:avLst/>
          </a:prstGeom>
          <a:noFill/>
        </p:spPr>
        <p:txBody>
          <a:bodyPr wrap="square" lIns="0" tIns="0" rIns="0" bIns="0" anchor="ctr">
            <a:spAutoFit/>
          </a:bodyPr>
          <a:lstStyle/>
          <a:p>
            <a:pPr algn="l">
              <a:lnSpc>
                <a:spcPct val="100000"/>
              </a:lnSpc>
            </a:pPr>
            <a:r>
              <a:rPr sz="3000" b="0">
                <a:solidFill>
                  <a:srgbClr val="C08A00"/>
                </a:solidFill>
                <a:latin typeface="Segoe UI Semibold"/>
              </a:rPr>
              <a:t>30,758</a:t>
            </a:r>
          </a:p>
        </p:txBody>
      </p:sp>
      <p:sp>
        <p:nvSpPr>
          <p:cNvPr id="23" name="TextBox 22"/>
          <p:cNvSpPr txBox="1"/>
          <p:nvPr/>
        </p:nvSpPr>
        <p:spPr>
          <a:xfrm>
            <a:off x="731520" y="3895344"/>
            <a:ext cx="2286000" cy="292608"/>
          </a:xfrm>
          <a:prstGeom prst="rect">
            <a:avLst/>
          </a:prstGeom>
          <a:noFill/>
        </p:spPr>
        <p:txBody>
          <a:bodyPr wrap="square" lIns="0" tIns="0" rIns="0" bIns="0" anchor="t">
            <a:spAutoFit/>
          </a:bodyPr>
          <a:lstStyle/>
          <a:p>
            <a:pPr algn="l">
              <a:lnSpc>
                <a:spcPct val="100000"/>
              </a:lnSpc>
            </a:pPr>
            <a:r>
              <a:rPr sz="1300" b="0">
                <a:solidFill>
                  <a:srgbClr val="24323F"/>
                </a:solidFill>
                <a:latin typeface="Segoe UI Semibold"/>
              </a:rPr>
              <a:t>rows validated</a:t>
            </a:r>
          </a:p>
        </p:txBody>
      </p:sp>
      <p:sp>
        <p:nvSpPr>
          <p:cNvPr id="24" name="TextBox 23"/>
          <p:cNvSpPr txBox="1"/>
          <p:nvPr/>
        </p:nvSpPr>
        <p:spPr>
          <a:xfrm>
            <a:off x="731520" y="4187952"/>
            <a:ext cx="2286000" cy="274320"/>
          </a:xfrm>
          <a:prstGeom prst="rect">
            <a:avLst/>
          </a:prstGeom>
          <a:noFill/>
        </p:spPr>
        <p:txBody>
          <a:bodyPr wrap="square" lIns="0" tIns="0" rIns="0" bIns="0" anchor="t">
            <a:spAutoFit/>
          </a:bodyPr>
          <a:lstStyle/>
          <a:p>
            <a:pPr algn="l">
              <a:lnSpc>
                <a:spcPct val="100000"/>
              </a:lnSpc>
            </a:pPr>
            <a:r>
              <a:rPr sz="1000" b="0">
                <a:solidFill>
                  <a:srgbClr val="6B7785"/>
                </a:solidFill>
                <a:latin typeface="Segoe UI"/>
              </a:rPr>
              <a:t>on every run</a:t>
            </a:r>
          </a:p>
        </p:txBody>
      </p:sp>
      <p:sp>
        <p:nvSpPr>
          <p:cNvPr id="25" name="Rounded Rectangle 24"/>
          <p:cNvSpPr/>
          <p:nvPr/>
        </p:nvSpPr>
        <p:spPr>
          <a:xfrm>
            <a:off x="3364992" y="3182112"/>
            <a:ext cx="2606040" cy="1371600"/>
          </a:xfrm>
          <a:prstGeom prst="roundRect">
            <a:avLst>
              <a:gd name="adj" fmla="val 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Box 25"/>
          <p:cNvSpPr txBox="1"/>
          <p:nvPr/>
        </p:nvSpPr>
        <p:spPr>
          <a:xfrm>
            <a:off x="3547872" y="3291840"/>
            <a:ext cx="2286000" cy="594360"/>
          </a:xfrm>
          <a:prstGeom prst="rect">
            <a:avLst/>
          </a:prstGeom>
          <a:noFill/>
        </p:spPr>
        <p:txBody>
          <a:bodyPr wrap="square" lIns="0" tIns="0" rIns="0" bIns="0" anchor="ctr">
            <a:spAutoFit/>
          </a:bodyPr>
          <a:lstStyle/>
          <a:p>
            <a:pPr algn="l">
              <a:lnSpc>
                <a:spcPct val="100000"/>
              </a:lnSpc>
            </a:pPr>
            <a:r>
              <a:rPr sz="3000" b="0">
                <a:solidFill>
                  <a:srgbClr val="1F4E79"/>
                </a:solidFill>
                <a:latin typeface="Segoe UI Semibold"/>
              </a:rPr>
              <a:t>57 · 32</a:t>
            </a:r>
          </a:p>
        </p:txBody>
      </p:sp>
      <p:sp>
        <p:nvSpPr>
          <p:cNvPr id="27" name="TextBox 26"/>
          <p:cNvSpPr txBox="1"/>
          <p:nvPr/>
        </p:nvSpPr>
        <p:spPr>
          <a:xfrm>
            <a:off x="3547872" y="3895344"/>
            <a:ext cx="2286000" cy="292608"/>
          </a:xfrm>
          <a:prstGeom prst="rect">
            <a:avLst/>
          </a:prstGeom>
          <a:noFill/>
        </p:spPr>
        <p:txBody>
          <a:bodyPr wrap="square" lIns="0" tIns="0" rIns="0" bIns="0" anchor="t">
            <a:spAutoFit/>
          </a:bodyPr>
          <a:lstStyle/>
          <a:p>
            <a:pPr algn="l">
              <a:lnSpc>
                <a:spcPct val="100000"/>
              </a:lnSpc>
            </a:pPr>
            <a:r>
              <a:rPr sz="1300" b="0">
                <a:solidFill>
                  <a:srgbClr val="24323F"/>
                </a:solidFill>
                <a:latin typeface="Segoe UI Semibold"/>
              </a:rPr>
              <a:t>SQL tables · views</a:t>
            </a:r>
          </a:p>
        </p:txBody>
      </p:sp>
      <p:sp>
        <p:nvSpPr>
          <p:cNvPr id="28" name="TextBox 27"/>
          <p:cNvSpPr txBox="1"/>
          <p:nvPr/>
        </p:nvSpPr>
        <p:spPr>
          <a:xfrm>
            <a:off x="3547872" y="4187952"/>
            <a:ext cx="2286000" cy="274320"/>
          </a:xfrm>
          <a:prstGeom prst="rect">
            <a:avLst/>
          </a:prstGeom>
          <a:noFill/>
        </p:spPr>
        <p:txBody>
          <a:bodyPr wrap="square" lIns="0" tIns="0" rIns="0" bIns="0" anchor="t">
            <a:spAutoFit/>
          </a:bodyPr>
          <a:lstStyle/>
          <a:p>
            <a:pPr algn="l">
              <a:lnSpc>
                <a:spcPct val="100000"/>
              </a:lnSpc>
            </a:pPr>
            <a:r>
              <a:rPr sz="1000" b="0">
                <a:solidFill>
                  <a:srgbClr val="6B7785"/>
                </a:solidFill>
                <a:latin typeface="Segoe UI"/>
              </a:rPr>
              <a:t>Bronze → Silver → Gold → rpt</a:t>
            </a:r>
          </a:p>
        </p:txBody>
      </p:sp>
      <p:sp>
        <p:nvSpPr>
          <p:cNvPr id="29" name="Rounded Rectangle 28"/>
          <p:cNvSpPr/>
          <p:nvPr/>
        </p:nvSpPr>
        <p:spPr>
          <a:xfrm>
            <a:off x="6181344" y="3182112"/>
            <a:ext cx="2606040" cy="1371600"/>
          </a:xfrm>
          <a:prstGeom prst="roundRect">
            <a:avLst>
              <a:gd name="adj" fmla="val 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TextBox 29"/>
          <p:cNvSpPr txBox="1"/>
          <p:nvPr/>
        </p:nvSpPr>
        <p:spPr>
          <a:xfrm>
            <a:off x="6364224" y="3291840"/>
            <a:ext cx="2286000" cy="594360"/>
          </a:xfrm>
          <a:prstGeom prst="rect">
            <a:avLst/>
          </a:prstGeom>
          <a:noFill/>
        </p:spPr>
        <p:txBody>
          <a:bodyPr wrap="square" lIns="0" tIns="0" rIns="0" bIns="0" anchor="ctr">
            <a:spAutoFit/>
          </a:bodyPr>
          <a:lstStyle/>
          <a:p>
            <a:pPr algn="l">
              <a:lnSpc>
                <a:spcPct val="100000"/>
              </a:lnSpc>
            </a:pPr>
            <a:r>
              <a:rPr sz="3000" b="0">
                <a:solidFill>
                  <a:srgbClr val="1F4E79"/>
                </a:solidFill>
                <a:latin typeface="Segoe UI Semibold"/>
              </a:rPr>
              <a:t>10</a:t>
            </a:r>
          </a:p>
        </p:txBody>
      </p:sp>
      <p:sp>
        <p:nvSpPr>
          <p:cNvPr id="31" name="TextBox 30"/>
          <p:cNvSpPr txBox="1"/>
          <p:nvPr/>
        </p:nvSpPr>
        <p:spPr>
          <a:xfrm>
            <a:off x="6364224" y="3895344"/>
            <a:ext cx="2286000" cy="292608"/>
          </a:xfrm>
          <a:prstGeom prst="rect">
            <a:avLst/>
          </a:prstGeom>
          <a:noFill/>
        </p:spPr>
        <p:txBody>
          <a:bodyPr wrap="square" lIns="0" tIns="0" rIns="0" bIns="0" anchor="t">
            <a:spAutoFit/>
          </a:bodyPr>
          <a:lstStyle/>
          <a:p>
            <a:pPr algn="l">
              <a:lnSpc>
                <a:spcPct val="100000"/>
              </a:lnSpc>
            </a:pPr>
            <a:r>
              <a:rPr sz="1300" b="0">
                <a:solidFill>
                  <a:srgbClr val="24323F"/>
                </a:solidFill>
                <a:latin typeface="Segoe UI Semibold"/>
              </a:rPr>
              <a:t>business-rule functions</a:t>
            </a:r>
          </a:p>
        </p:txBody>
      </p:sp>
      <p:sp>
        <p:nvSpPr>
          <p:cNvPr id="32" name="TextBox 31"/>
          <p:cNvSpPr txBox="1"/>
          <p:nvPr/>
        </p:nvSpPr>
        <p:spPr>
          <a:xfrm>
            <a:off x="6364224" y="4187952"/>
            <a:ext cx="2286000" cy="274320"/>
          </a:xfrm>
          <a:prstGeom prst="rect">
            <a:avLst/>
          </a:prstGeom>
          <a:noFill/>
        </p:spPr>
        <p:txBody>
          <a:bodyPr wrap="square" lIns="0" tIns="0" rIns="0" bIns="0" anchor="t">
            <a:spAutoFit/>
          </a:bodyPr>
          <a:lstStyle/>
          <a:p>
            <a:pPr algn="l">
              <a:lnSpc>
                <a:spcPct val="100000"/>
              </a:lnSpc>
            </a:pPr>
            <a:r>
              <a:rPr sz="1000" b="0">
                <a:solidFill>
                  <a:srgbClr val="6B7785"/>
                </a:solidFill>
                <a:latin typeface="Segoe UI"/>
              </a:rPr>
              <a:t>every measure defined once</a:t>
            </a:r>
          </a:p>
        </p:txBody>
      </p:sp>
      <p:sp>
        <p:nvSpPr>
          <p:cNvPr id="33" name="Rounded Rectangle 32"/>
          <p:cNvSpPr/>
          <p:nvPr/>
        </p:nvSpPr>
        <p:spPr>
          <a:xfrm>
            <a:off x="8997696" y="3182112"/>
            <a:ext cx="2606040" cy="1371600"/>
          </a:xfrm>
          <a:prstGeom prst="roundRect">
            <a:avLst>
              <a:gd name="adj" fmla="val 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 name="TextBox 33"/>
          <p:cNvSpPr txBox="1"/>
          <p:nvPr/>
        </p:nvSpPr>
        <p:spPr>
          <a:xfrm>
            <a:off x="9180576" y="3291840"/>
            <a:ext cx="2286000" cy="594360"/>
          </a:xfrm>
          <a:prstGeom prst="rect">
            <a:avLst/>
          </a:prstGeom>
          <a:noFill/>
        </p:spPr>
        <p:txBody>
          <a:bodyPr wrap="square" lIns="0" tIns="0" rIns="0" bIns="0" anchor="ctr">
            <a:spAutoFit/>
          </a:bodyPr>
          <a:lstStyle/>
          <a:p>
            <a:pPr algn="l">
              <a:lnSpc>
                <a:spcPct val="100000"/>
              </a:lnSpc>
            </a:pPr>
            <a:r>
              <a:rPr sz="3000" b="0">
                <a:solidFill>
                  <a:srgbClr val="1F4E79"/>
                </a:solidFill>
                <a:latin typeface="Segoe UI Semibold"/>
              </a:rPr>
              <a:t>36 · 50</a:t>
            </a:r>
          </a:p>
        </p:txBody>
      </p:sp>
      <p:sp>
        <p:nvSpPr>
          <p:cNvPr id="35" name="TextBox 34"/>
          <p:cNvSpPr txBox="1"/>
          <p:nvPr/>
        </p:nvSpPr>
        <p:spPr>
          <a:xfrm>
            <a:off x="9180576" y="3895344"/>
            <a:ext cx="2286000" cy="292608"/>
          </a:xfrm>
          <a:prstGeom prst="rect">
            <a:avLst/>
          </a:prstGeom>
          <a:noFill/>
        </p:spPr>
        <p:txBody>
          <a:bodyPr wrap="square" lIns="0" tIns="0" rIns="0" bIns="0" anchor="t">
            <a:spAutoFit/>
          </a:bodyPr>
          <a:lstStyle/>
          <a:p>
            <a:pPr algn="l">
              <a:lnSpc>
                <a:spcPct val="100000"/>
              </a:lnSpc>
            </a:pPr>
            <a:r>
              <a:rPr sz="1300" b="0">
                <a:solidFill>
                  <a:srgbClr val="24323F"/>
                </a:solidFill>
                <a:latin typeface="Segoe UI Semibold"/>
              </a:rPr>
              <a:t>foreign keys · indexes</a:t>
            </a:r>
          </a:p>
        </p:txBody>
      </p:sp>
      <p:sp>
        <p:nvSpPr>
          <p:cNvPr id="36" name="TextBox 35"/>
          <p:cNvSpPr txBox="1"/>
          <p:nvPr/>
        </p:nvSpPr>
        <p:spPr>
          <a:xfrm>
            <a:off x="9180576" y="4187952"/>
            <a:ext cx="2286000" cy="274320"/>
          </a:xfrm>
          <a:prstGeom prst="rect">
            <a:avLst/>
          </a:prstGeom>
          <a:noFill/>
        </p:spPr>
        <p:txBody>
          <a:bodyPr wrap="square" lIns="0" tIns="0" rIns="0" bIns="0" anchor="t">
            <a:spAutoFit/>
          </a:bodyPr>
          <a:lstStyle/>
          <a:p>
            <a:pPr algn="l">
              <a:lnSpc>
                <a:spcPct val="100000"/>
              </a:lnSpc>
            </a:pPr>
            <a:r>
              <a:rPr sz="1000" b="0">
                <a:solidFill>
                  <a:srgbClr val="6B7785"/>
                </a:solidFill>
                <a:latin typeface="Segoe UI"/>
              </a:rPr>
              <a:t>integrity and speed</a:t>
            </a:r>
          </a:p>
        </p:txBody>
      </p:sp>
      <p:sp>
        <p:nvSpPr>
          <p:cNvPr id="37" name="Rounded Rectangle 36"/>
          <p:cNvSpPr/>
          <p:nvPr/>
        </p:nvSpPr>
        <p:spPr>
          <a:xfrm>
            <a:off x="548640" y="4718304"/>
            <a:ext cx="2606040" cy="1371600"/>
          </a:xfrm>
          <a:prstGeom prst="roundRect">
            <a:avLst>
              <a:gd name="adj" fmla="val 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8" name="TextBox 37"/>
          <p:cNvSpPr txBox="1"/>
          <p:nvPr/>
        </p:nvSpPr>
        <p:spPr>
          <a:xfrm>
            <a:off x="731520" y="4828032"/>
            <a:ext cx="2286000" cy="594360"/>
          </a:xfrm>
          <a:prstGeom prst="rect">
            <a:avLst/>
          </a:prstGeom>
          <a:noFill/>
        </p:spPr>
        <p:txBody>
          <a:bodyPr wrap="square" lIns="0" tIns="0" rIns="0" bIns="0" anchor="ctr">
            <a:spAutoFit/>
          </a:bodyPr>
          <a:lstStyle/>
          <a:p>
            <a:pPr algn="l">
              <a:lnSpc>
                <a:spcPct val="100000"/>
              </a:lnSpc>
            </a:pPr>
            <a:r>
              <a:rPr sz="3000" b="0">
                <a:solidFill>
                  <a:srgbClr val="C08A00"/>
                </a:solidFill>
                <a:latin typeface="Segoe UI Semibold"/>
              </a:rPr>
              <a:t>108</a:t>
            </a:r>
          </a:p>
        </p:txBody>
      </p:sp>
      <p:sp>
        <p:nvSpPr>
          <p:cNvPr id="39" name="TextBox 38"/>
          <p:cNvSpPr txBox="1"/>
          <p:nvPr/>
        </p:nvSpPr>
        <p:spPr>
          <a:xfrm>
            <a:off x="731520" y="5431536"/>
            <a:ext cx="2286000" cy="292608"/>
          </a:xfrm>
          <a:prstGeom prst="rect">
            <a:avLst/>
          </a:prstGeom>
          <a:noFill/>
        </p:spPr>
        <p:txBody>
          <a:bodyPr wrap="square" lIns="0" tIns="0" rIns="0" bIns="0" anchor="t">
            <a:spAutoFit/>
          </a:bodyPr>
          <a:lstStyle/>
          <a:p>
            <a:pPr algn="l">
              <a:lnSpc>
                <a:spcPct val="100000"/>
              </a:lnSpc>
            </a:pPr>
            <a:r>
              <a:rPr sz="1300" b="0">
                <a:solidFill>
                  <a:srgbClr val="24323F"/>
                </a:solidFill>
                <a:latin typeface="Segoe UI Semibold"/>
              </a:rPr>
              <a:t>automated SQL checks</a:t>
            </a:r>
          </a:p>
        </p:txBody>
      </p:sp>
      <p:sp>
        <p:nvSpPr>
          <p:cNvPr id="40" name="TextBox 39"/>
          <p:cNvSpPr txBox="1"/>
          <p:nvPr/>
        </p:nvSpPr>
        <p:spPr>
          <a:xfrm>
            <a:off x="731520" y="5724144"/>
            <a:ext cx="2286000" cy="274320"/>
          </a:xfrm>
          <a:prstGeom prst="rect">
            <a:avLst/>
          </a:prstGeom>
          <a:noFill/>
        </p:spPr>
        <p:txBody>
          <a:bodyPr wrap="square" lIns="0" tIns="0" rIns="0" bIns="0" anchor="t">
            <a:spAutoFit/>
          </a:bodyPr>
          <a:lstStyle/>
          <a:p>
            <a:pPr algn="l">
              <a:lnSpc>
                <a:spcPct val="100000"/>
              </a:lnSpc>
            </a:pPr>
            <a:r>
              <a:rPr sz="1000" b="0">
                <a:solidFill>
                  <a:srgbClr val="6B7785"/>
                </a:solidFill>
                <a:latin typeface="Segoe UI"/>
              </a:rPr>
              <a:t>plus 58 documented test cases</a:t>
            </a:r>
          </a:p>
        </p:txBody>
      </p:sp>
      <p:sp>
        <p:nvSpPr>
          <p:cNvPr id="41" name="Rounded Rectangle 40"/>
          <p:cNvSpPr/>
          <p:nvPr/>
        </p:nvSpPr>
        <p:spPr>
          <a:xfrm>
            <a:off x="3364992" y="4718304"/>
            <a:ext cx="2606040" cy="1371600"/>
          </a:xfrm>
          <a:prstGeom prst="roundRect">
            <a:avLst>
              <a:gd name="adj" fmla="val 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2" name="TextBox 41"/>
          <p:cNvSpPr txBox="1"/>
          <p:nvPr/>
        </p:nvSpPr>
        <p:spPr>
          <a:xfrm>
            <a:off x="3547872" y="4828032"/>
            <a:ext cx="2286000" cy="594360"/>
          </a:xfrm>
          <a:prstGeom prst="rect">
            <a:avLst/>
          </a:prstGeom>
          <a:noFill/>
        </p:spPr>
        <p:txBody>
          <a:bodyPr wrap="square" lIns="0" tIns="0" rIns="0" bIns="0" anchor="ctr">
            <a:spAutoFit/>
          </a:bodyPr>
          <a:lstStyle/>
          <a:p>
            <a:pPr algn="l">
              <a:lnSpc>
                <a:spcPct val="100000"/>
              </a:lnSpc>
            </a:pPr>
            <a:r>
              <a:rPr sz="3000" b="0">
                <a:solidFill>
                  <a:srgbClr val="1F4E79"/>
                </a:solidFill>
                <a:latin typeface="Segoe UI Semibold"/>
              </a:rPr>
              <a:t>22</a:t>
            </a:r>
          </a:p>
        </p:txBody>
      </p:sp>
      <p:sp>
        <p:nvSpPr>
          <p:cNvPr id="43" name="TextBox 42"/>
          <p:cNvSpPr txBox="1"/>
          <p:nvPr/>
        </p:nvSpPr>
        <p:spPr>
          <a:xfrm>
            <a:off x="3547872" y="5431536"/>
            <a:ext cx="2286000" cy="292608"/>
          </a:xfrm>
          <a:prstGeom prst="rect">
            <a:avLst/>
          </a:prstGeom>
          <a:noFill/>
        </p:spPr>
        <p:txBody>
          <a:bodyPr wrap="square" lIns="0" tIns="0" rIns="0" bIns="0" anchor="t">
            <a:spAutoFit/>
          </a:bodyPr>
          <a:lstStyle/>
          <a:p>
            <a:pPr algn="l">
              <a:lnSpc>
                <a:spcPct val="100000"/>
              </a:lnSpc>
            </a:pPr>
            <a:r>
              <a:rPr sz="1300" b="0">
                <a:solidFill>
                  <a:srgbClr val="24323F"/>
                </a:solidFill>
                <a:latin typeface="Segoe UI Semibold"/>
              </a:rPr>
              <a:t>reporting views</a:t>
            </a:r>
          </a:p>
        </p:txBody>
      </p:sp>
      <p:sp>
        <p:nvSpPr>
          <p:cNvPr id="44" name="TextBox 43"/>
          <p:cNvSpPr txBox="1"/>
          <p:nvPr/>
        </p:nvSpPr>
        <p:spPr>
          <a:xfrm>
            <a:off x="3547872" y="5724144"/>
            <a:ext cx="2286000" cy="274320"/>
          </a:xfrm>
          <a:prstGeom prst="rect">
            <a:avLst/>
          </a:prstGeom>
          <a:noFill/>
        </p:spPr>
        <p:txBody>
          <a:bodyPr wrap="square" lIns="0" tIns="0" rIns="0" bIns="0" anchor="t">
            <a:spAutoFit/>
          </a:bodyPr>
          <a:lstStyle/>
          <a:p>
            <a:pPr algn="l">
              <a:lnSpc>
                <a:spcPct val="100000"/>
              </a:lnSpc>
            </a:pPr>
            <a:r>
              <a:rPr sz="1000" b="0">
                <a:solidFill>
                  <a:srgbClr val="6B7785"/>
                </a:solidFill>
                <a:latin typeface="Segoe UI"/>
              </a:rPr>
              <a:t>exported as 22 extracts</a:t>
            </a:r>
          </a:p>
        </p:txBody>
      </p:sp>
      <p:sp>
        <p:nvSpPr>
          <p:cNvPr id="45" name="Rounded Rectangle 44"/>
          <p:cNvSpPr/>
          <p:nvPr/>
        </p:nvSpPr>
        <p:spPr>
          <a:xfrm>
            <a:off x="6181344" y="4718304"/>
            <a:ext cx="2606040" cy="1371600"/>
          </a:xfrm>
          <a:prstGeom prst="roundRect">
            <a:avLst>
              <a:gd name="adj" fmla="val 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6" name="TextBox 45"/>
          <p:cNvSpPr txBox="1"/>
          <p:nvPr/>
        </p:nvSpPr>
        <p:spPr>
          <a:xfrm>
            <a:off x="6364224" y="4828032"/>
            <a:ext cx="2286000" cy="594360"/>
          </a:xfrm>
          <a:prstGeom prst="rect">
            <a:avLst/>
          </a:prstGeom>
          <a:noFill/>
        </p:spPr>
        <p:txBody>
          <a:bodyPr wrap="square" lIns="0" tIns="0" rIns="0" bIns="0" anchor="ctr">
            <a:spAutoFit/>
          </a:bodyPr>
          <a:lstStyle/>
          <a:p>
            <a:pPr algn="l">
              <a:lnSpc>
                <a:spcPct val="100000"/>
              </a:lnSpc>
            </a:pPr>
            <a:r>
              <a:rPr sz="3000" b="0">
                <a:solidFill>
                  <a:srgbClr val="1F4E79"/>
                </a:solidFill>
                <a:latin typeface="Segoe UI Semibold"/>
              </a:rPr>
              <a:t>8 · 82</a:t>
            </a:r>
          </a:p>
        </p:txBody>
      </p:sp>
      <p:sp>
        <p:nvSpPr>
          <p:cNvPr id="47" name="TextBox 46"/>
          <p:cNvSpPr txBox="1"/>
          <p:nvPr/>
        </p:nvSpPr>
        <p:spPr>
          <a:xfrm>
            <a:off x="6364224" y="5431536"/>
            <a:ext cx="2286000" cy="292608"/>
          </a:xfrm>
          <a:prstGeom prst="rect">
            <a:avLst/>
          </a:prstGeom>
          <a:noFill/>
        </p:spPr>
        <p:txBody>
          <a:bodyPr wrap="square" lIns="0" tIns="0" rIns="0" bIns="0" anchor="t">
            <a:spAutoFit/>
          </a:bodyPr>
          <a:lstStyle/>
          <a:p>
            <a:pPr algn="l">
              <a:lnSpc>
                <a:spcPct val="100000"/>
              </a:lnSpc>
            </a:pPr>
            <a:r>
              <a:rPr sz="1300" b="0">
                <a:solidFill>
                  <a:srgbClr val="24323F"/>
                </a:solidFill>
                <a:latin typeface="Segoe UI Semibold"/>
              </a:rPr>
              <a:t>dashboards · sheets</a:t>
            </a:r>
          </a:p>
        </p:txBody>
      </p:sp>
      <p:sp>
        <p:nvSpPr>
          <p:cNvPr id="48" name="TextBox 47"/>
          <p:cNvSpPr txBox="1"/>
          <p:nvPr/>
        </p:nvSpPr>
        <p:spPr>
          <a:xfrm>
            <a:off x="6364224" y="5724144"/>
            <a:ext cx="2286000" cy="274320"/>
          </a:xfrm>
          <a:prstGeom prst="rect">
            <a:avLst/>
          </a:prstGeom>
          <a:noFill/>
        </p:spPr>
        <p:txBody>
          <a:bodyPr wrap="square" lIns="0" tIns="0" rIns="0" bIns="0" anchor="t">
            <a:spAutoFit/>
          </a:bodyPr>
          <a:lstStyle/>
          <a:p>
            <a:pPr algn="l">
              <a:lnSpc>
                <a:spcPct val="100000"/>
              </a:lnSpc>
            </a:pPr>
            <a:r>
              <a:rPr sz="1000" b="0">
                <a:solidFill>
                  <a:srgbClr val="6B7785"/>
                </a:solidFill>
                <a:latin typeface="Segoe UI"/>
              </a:rPr>
              <a:t>and a 5-point story</a:t>
            </a:r>
          </a:p>
        </p:txBody>
      </p:sp>
      <p:sp>
        <p:nvSpPr>
          <p:cNvPr id="49" name="Rounded Rectangle 48"/>
          <p:cNvSpPr/>
          <p:nvPr/>
        </p:nvSpPr>
        <p:spPr>
          <a:xfrm>
            <a:off x="8997696" y="4718304"/>
            <a:ext cx="2606040" cy="1371600"/>
          </a:xfrm>
          <a:prstGeom prst="roundRect">
            <a:avLst>
              <a:gd name="adj" fmla="val 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0" name="TextBox 49"/>
          <p:cNvSpPr txBox="1"/>
          <p:nvPr/>
        </p:nvSpPr>
        <p:spPr>
          <a:xfrm>
            <a:off x="9180576" y="4828032"/>
            <a:ext cx="2286000" cy="594360"/>
          </a:xfrm>
          <a:prstGeom prst="rect">
            <a:avLst/>
          </a:prstGeom>
          <a:noFill/>
        </p:spPr>
        <p:txBody>
          <a:bodyPr wrap="square" lIns="0" tIns="0" rIns="0" bIns="0" anchor="ctr">
            <a:spAutoFit/>
          </a:bodyPr>
          <a:lstStyle/>
          <a:p>
            <a:pPr algn="l">
              <a:lnSpc>
                <a:spcPct val="100000"/>
              </a:lnSpc>
            </a:pPr>
            <a:r>
              <a:rPr sz="3000" b="0">
                <a:solidFill>
                  <a:srgbClr val="C08A00"/>
                </a:solidFill>
                <a:latin typeface="Segoe UI Semibold"/>
              </a:rPr>
              <a:t>1</a:t>
            </a:r>
          </a:p>
        </p:txBody>
      </p:sp>
      <p:sp>
        <p:nvSpPr>
          <p:cNvPr id="51" name="TextBox 50"/>
          <p:cNvSpPr txBox="1"/>
          <p:nvPr/>
        </p:nvSpPr>
        <p:spPr>
          <a:xfrm>
            <a:off x="9180576" y="5431536"/>
            <a:ext cx="2286000" cy="292608"/>
          </a:xfrm>
          <a:prstGeom prst="rect">
            <a:avLst/>
          </a:prstGeom>
          <a:noFill/>
        </p:spPr>
        <p:txBody>
          <a:bodyPr wrap="square" lIns="0" tIns="0" rIns="0" bIns="0" anchor="t">
            <a:spAutoFit/>
          </a:bodyPr>
          <a:lstStyle/>
          <a:p>
            <a:pPr algn="l">
              <a:lnSpc>
                <a:spcPct val="100000"/>
              </a:lnSpc>
            </a:pPr>
            <a:r>
              <a:rPr sz="1300" b="0">
                <a:solidFill>
                  <a:srgbClr val="24323F"/>
                </a:solidFill>
                <a:latin typeface="Segoe UI Semibold"/>
              </a:rPr>
              <a:t>click to rerun</a:t>
            </a:r>
          </a:p>
        </p:txBody>
      </p:sp>
      <p:sp>
        <p:nvSpPr>
          <p:cNvPr id="52" name="TextBox 51"/>
          <p:cNvSpPr txBox="1"/>
          <p:nvPr/>
        </p:nvSpPr>
        <p:spPr>
          <a:xfrm>
            <a:off x="9180576" y="5724144"/>
            <a:ext cx="2286000" cy="274320"/>
          </a:xfrm>
          <a:prstGeom prst="rect">
            <a:avLst/>
          </a:prstGeom>
          <a:noFill/>
        </p:spPr>
        <p:txBody>
          <a:bodyPr wrap="square" lIns="0" tIns="0" rIns="0" bIns="0" anchor="t">
            <a:spAutoFit/>
          </a:bodyPr>
          <a:lstStyle/>
          <a:p>
            <a:pPr algn="l">
              <a:lnSpc>
                <a:spcPct val="100000"/>
              </a:lnSpc>
            </a:pPr>
            <a:r>
              <a:rPr sz="1000" b="0">
                <a:solidFill>
                  <a:srgbClr val="6B7785"/>
                </a:solidFill>
                <a:latin typeface="Segoe UI"/>
              </a:rPr>
              <a:t>new data to dashboard</a:t>
            </a:r>
          </a:p>
        </p:txBody>
      </p:sp>
      <p:sp>
        <p:nvSpPr>
          <p:cNvPr id="53" name="TextBox 52"/>
          <p:cNvSpPr txBox="1"/>
          <p:nvPr/>
        </p:nvSpPr>
        <p:spPr>
          <a:xfrm>
            <a:off x="548640" y="6428232"/>
            <a:ext cx="5486400" cy="228600"/>
          </a:xfrm>
          <a:prstGeom prst="rect">
            <a:avLst/>
          </a:prstGeom>
          <a:noFill/>
        </p:spPr>
        <p:txBody>
          <a:bodyPr wrap="square" lIns="0" tIns="0" rIns="0" bIns="0" anchor="t">
            <a:spAutoFit/>
          </a:bodyPr>
          <a:lstStyle/>
          <a:p>
            <a:pPr algn="l">
              <a:lnSpc>
                <a:spcPct val="100000"/>
              </a:lnSpc>
            </a:pPr>
            <a:r>
              <a:rPr sz="1000" b="0">
                <a:solidFill>
                  <a:srgbClr val="6B7785"/>
                </a:solidFill>
                <a:latin typeface="Segoe UI"/>
              </a:rPr>
              <a:t>Cricket Analytics Platform</a:t>
            </a:r>
          </a:p>
        </p:txBody>
      </p:sp>
      <p:sp>
        <p:nvSpPr>
          <p:cNvPr id="54" name="TextBox 53"/>
          <p:cNvSpPr txBox="1"/>
          <p:nvPr/>
        </p:nvSpPr>
        <p:spPr>
          <a:xfrm>
            <a:off x="10725912" y="6428232"/>
            <a:ext cx="914400" cy="228600"/>
          </a:xfrm>
          <a:prstGeom prst="rect">
            <a:avLst/>
          </a:prstGeom>
          <a:noFill/>
        </p:spPr>
        <p:txBody>
          <a:bodyPr wrap="square" lIns="0" tIns="0" rIns="0" bIns="0" anchor="t">
            <a:spAutoFit/>
          </a:bodyPr>
          <a:lstStyle/>
          <a:p>
            <a:pPr algn="r">
              <a:lnSpc>
                <a:spcPct val="100000"/>
              </a:lnSpc>
            </a:pPr>
            <a:r>
              <a:rPr sz="1000" b="0">
                <a:solidFill>
                  <a:srgbClr val="6B7785"/>
                </a:solidFill>
                <a:latin typeface="Segoe UI"/>
              </a:rPr>
              <a:t>23</a:t>
            </a: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bg>
      <p:bgPr>
        <a:solidFill>
          <a:srgbClr val="EEF2F6"/>
        </a:solidFill>
        <a:effectLst/>
      </p:bgPr>
    </p:bg>
    <p:spTree>
      <p:nvGrpSpPr>
        <p:cNvPr id="1" name=""/>
        <p:cNvGrpSpPr/>
        <p:nvPr/>
      </p:nvGrpSpPr>
      <p:grpSpPr>
        <a:xfrm>
          <a:off x="0" y="0"/>
          <a:ext cx="0" cy="0"/>
          <a:chOff x="0" y="0"/>
          <a:chExt cx="0" cy="0"/>
        </a:xfrm>
      </p:grpSpPr>
      <p:sp>
        <p:nvSpPr>
          <p:cNvPr id="2" name="TextBox 1"/>
          <p:cNvSpPr txBox="1"/>
          <p:nvPr/>
        </p:nvSpPr>
        <p:spPr>
          <a:xfrm>
            <a:off x="548640" y="146304"/>
            <a:ext cx="10058400" cy="256032"/>
          </a:xfrm>
          <a:prstGeom prst="rect">
            <a:avLst/>
          </a:prstGeom>
          <a:noFill/>
        </p:spPr>
        <p:txBody>
          <a:bodyPr wrap="square" lIns="0" tIns="0" rIns="0" bIns="0" anchor="t">
            <a:spAutoFit/>
          </a:bodyPr>
          <a:lstStyle/>
          <a:p>
            <a:pPr algn="l">
              <a:lnSpc>
                <a:spcPct val="100000"/>
              </a:lnSpc>
            </a:pPr>
            <a:r>
              <a:rPr sz="1000" b="1">
                <a:solidFill>
                  <a:srgbClr val="F2A900"/>
                </a:solidFill>
                <a:latin typeface="Segoe UI"/>
              </a:rPr>
              <a:t>✓  ·  SUMMARY</a:t>
            </a:r>
            <a:r>
              <a:rPr sz="1000" b="0">
                <a:solidFill>
                  <a:srgbClr val="6B7785"/>
                </a:solidFill>
                <a:latin typeface="Segoe UI"/>
              </a:rPr>
              <a:t>     Brief §2</a:t>
            </a:r>
          </a:p>
        </p:txBody>
      </p:sp>
      <p:sp>
        <p:nvSpPr>
          <p:cNvPr id="3" name="TextBox 2"/>
          <p:cNvSpPr txBox="1"/>
          <p:nvPr/>
        </p:nvSpPr>
        <p:spPr>
          <a:xfrm>
            <a:off x="548640" y="411480"/>
            <a:ext cx="11064240" cy="640080"/>
          </a:xfrm>
          <a:prstGeom prst="rect">
            <a:avLst/>
          </a:prstGeom>
          <a:noFill/>
        </p:spPr>
        <p:txBody>
          <a:bodyPr wrap="square" lIns="0" tIns="0" rIns="0" bIns="0" anchor="t">
            <a:spAutoFit/>
          </a:bodyPr>
          <a:lstStyle/>
          <a:p>
            <a:pPr algn="l">
              <a:lnSpc>
                <a:spcPct val="100000"/>
              </a:lnSpc>
            </a:pPr>
            <a:r>
              <a:rPr sz="3200" b="0">
                <a:solidFill>
                  <a:srgbClr val="1F4E79"/>
                </a:solidFill>
                <a:latin typeface="Segoe UI Semibold"/>
              </a:rPr>
              <a:t>The impact</a:t>
            </a:r>
          </a:p>
        </p:txBody>
      </p:sp>
      <p:sp>
        <p:nvSpPr>
          <p:cNvPr id="4" name="TextBox 3"/>
          <p:cNvSpPr txBox="1"/>
          <p:nvPr/>
        </p:nvSpPr>
        <p:spPr>
          <a:xfrm>
            <a:off x="548640" y="1024128"/>
            <a:ext cx="11064240" cy="411480"/>
          </a:xfrm>
          <a:prstGeom prst="rect">
            <a:avLst/>
          </a:prstGeom>
          <a:noFill/>
        </p:spPr>
        <p:txBody>
          <a:bodyPr wrap="square" lIns="0" tIns="0" rIns="0" bIns="0" anchor="t">
            <a:spAutoFit/>
          </a:bodyPr>
          <a:lstStyle/>
          <a:p>
            <a:pPr algn="l">
              <a:lnSpc>
                <a:spcPct val="100000"/>
              </a:lnSpc>
            </a:pPr>
            <a:r>
              <a:rPr sz="1500" b="0">
                <a:solidFill>
                  <a:srgbClr val="6B7785"/>
                </a:solidFill>
                <a:latin typeface="Segoe UI"/>
              </a:rPr>
              <a:t>What changes for the business</a:t>
            </a:r>
          </a:p>
        </p:txBody>
      </p:sp>
      <p:sp>
        <p:nvSpPr>
          <p:cNvPr id="5" name="TextBox 4"/>
          <p:cNvSpPr txBox="1"/>
          <p:nvPr/>
        </p:nvSpPr>
        <p:spPr>
          <a:xfrm>
            <a:off x="548640" y="1691640"/>
            <a:ext cx="4754880" cy="365760"/>
          </a:xfrm>
          <a:prstGeom prst="rect">
            <a:avLst/>
          </a:prstGeom>
          <a:noFill/>
        </p:spPr>
        <p:txBody>
          <a:bodyPr wrap="square" lIns="0" tIns="0" rIns="0" bIns="0" anchor="t">
            <a:spAutoFit/>
          </a:bodyPr>
          <a:lstStyle/>
          <a:p>
            <a:pPr algn="l">
              <a:lnSpc>
                <a:spcPct val="100000"/>
              </a:lnSpc>
            </a:pPr>
            <a:r>
              <a:rPr sz="1600" b="0">
                <a:solidFill>
                  <a:srgbClr val="6B7785"/>
                </a:solidFill>
                <a:latin typeface="Segoe UI Semibold"/>
              </a:rPr>
              <a:t>Before</a:t>
            </a:r>
          </a:p>
        </p:txBody>
      </p:sp>
      <p:sp>
        <p:nvSpPr>
          <p:cNvPr id="6" name="TextBox 5"/>
          <p:cNvSpPr txBox="1"/>
          <p:nvPr/>
        </p:nvSpPr>
        <p:spPr>
          <a:xfrm>
            <a:off x="6858000" y="1691640"/>
            <a:ext cx="4754880" cy="365760"/>
          </a:xfrm>
          <a:prstGeom prst="rect">
            <a:avLst/>
          </a:prstGeom>
          <a:noFill/>
        </p:spPr>
        <p:txBody>
          <a:bodyPr wrap="square" lIns="0" tIns="0" rIns="0" bIns="0" anchor="t">
            <a:spAutoFit/>
          </a:bodyPr>
          <a:lstStyle/>
          <a:p>
            <a:pPr algn="l">
              <a:lnSpc>
                <a:spcPct val="100000"/>
              </a:lnSpc>
            </a:pPr>
            <a:r>
              <a:rPr sz="1600" b="0">
                <a:solidFill>
                  <a:srgbClr val="1F4E79"/>
                </a:solidFill>
                <a:latin typeface="Segoe UI Semibold"/>
              </a:rPr>
              <a:t>After</a:t>
            </a:r>
          </a:p>
        </p:txBody>
      </p:sp>
      <p:sp>
        <p:nvSpPr>
          <p:cNvPr id="7" name="Rounded Rectangle 6"/>
          <p:cNvSpPr/>
          <p:nvPr/>
        </p:nvSpPr>
        <p:spPr>
          <a:xfrm>
            <a:off x="548640" y="2148840"/>
            <a:ext cx="4937760" cy="621792"/>
          </a:xfrm>
          <a:prstGeom prst="roundRect">
            <a:avLst>
              <a:gd name="adj" fmla="val 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777240" y="2148840"/>
            <a:ext cx="4572000" cy="621792"/>
          </a:xfrm>
          <a:prstGeom prst="rect">
            <a:avLst/>
          </a:prstGeom>
          <a:noFill/>
        </p:spPr>
        <p:txBody>
          <a:bodyPr wrap="square" lIns="0" tIns="0" rIns="0" bIns="0" anchor="ctr">
            <a:spAutoFit/>
          </a:bodyPr>
          <a:lstStyle/>
          <a:p>
            <a:pPr algn="l">
              <a:lnSpc>
                <a:spcPct val="100000"/>
              </a:lnSpc>
            </a:pPr>
            <a:r>
              <a:rPr sz="1500" b="0">
                <a:solidFill>
                  <a:srgbClr val="6B7785"/>
                </a:solidFill>
                <a:latin typeface="Segoe UI"/>
              </a:rPr>
              <a:t>Hours of manual stitching</a:t>
            </a:r>
          </a:p>
        </p:txBody>
      </p:sp>
      <p:cxnSp>
        <p:nvCxnSpPr>
          <p:cNvPr id="9" name="Connector 8"/>
          <p:cNvCxnSpPr/>
          <p:nvPr/>
        </p:nvCxnSpPr>
        <p:spPr>
          <a:xfrm>
            <a:off x="5669280" y="2459736"/>
            <a:ext cx="914400" cy="0"/>
          </a:xfrm>
          <a:prstGeom prst="line">
            <a:avLst/>
          </a:prstGeom>
          <a:ln w="28575">
            <a:solidFill>
              <a:srgbClr val="F2A900"/>
            </a:solidFill>
            <a:tailEnd type="triangle" w="med" len="med"/>
          </a:ln>
        </p:spPr>
        <p:style>
          <a:lnRef idx="2">
            <a:schemeClr val="accent1"/>
          </a:lnRef>
          <a:fillRef idx="0">
            <a:schemeClr val="accent1"/>
          </a:fillRef>
          <a:effectRef idx="1">
            <a:schemeClr val="accent1"/>
          </a:effectRef>
          <a:fontRef idx="minor">
            <a:schemeClr val="tx1"/>
          </a:fontRef>
        </p:style>
      </p:cxnSp>
      <p:sp>
        <p:nvSpPr>
          <p:cNvPr id="10" name="Rounded Rectangle 9"/>
          <p:cNvSpPr/>
          <p:nvPr/>
        </p:nvSpPr>
        <p:spPr>
          <a:xfrm>
            <a:off x="6766560" y="2148840"/>
            <a:ext cx="4846320" cy="621792"/>
          </a:xfrm>
          <a:prstGeom prst="roundRect">
            <a:avLst>
              <a:gd name="adj" fmla="val 6000"/>
            </a:avLst>
          </a:prstGeom>
          <a:solidFill>
            <a:srgbClr val="1F4E7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6995160" y="2148840"/>
            <a:ext cx="4480560" cy="621792"/>
          </a:xfrm>
          <a:prstGeom prst="rect">
            <a:avLst/>
          </a:prstGeom>
          <a:noFill/>
        </p:spPr>
        <p:txBody>
          <a:bodyPr wrap="square" lIns="0" tIns="0" rIns="0" bIns="0" anchor="ctr">
            <a:spAutoFit/>
          </a:bodyPr>
          <a:lstStyle/>
          <a:p>
            <a:pPr algn="l">
              <a:lnSpc>
                <a:spcPct val="100000"/>
              </a:lnSpc>
            </a:pPr>
            <a:r>
              <a:rPr sz="1500" b="1">
                <a:solidFill>
                  <a:srgbClr val="FFFFFF"/>
                </a:solidFill>
                <a:latin typeface="Segoe UI"/>
              </a:rPr>
              <a:t>One click updates everything</a:t>
            </a:r>
          </a:p>
        </p:txBody>
      </p:sp>
      <p:sp>
        <p:nvSpPr>
          <p:cNvPr id="12" name="Rounded Rectangle 11"/>
          <p:cNvSpPr/>
          <p:nvPr/>
        </p:nvSpPr>
        <p:spPr>
          <a:xfrm>
            <a:off x="548640" y="2926080"/>
            <a:ext cx="4937760" cy="621792"/>
          </a:xfrm>
          <a:prstGeom prst="roundRect">
            <a:avLst>
              <a:gd name="adj" fmla="val 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777240" y="2926080"/>
            <a:ext cx="4572000" cy="621792"/>
          </a:xfrm>
          <a:prstGeom prst="rect">
            <a:avLst/>
          </a:prstGeom>
          <a:noFill/>
        </p:spPr>
        <p:txBody>
          <a:bodyPr wrap="square" lIns="0" tIns="0" rIns="0" bIns="0" anchor="ctr">
            <a:spAutoFit/>
          </a:bodyPr>
          <a:lstStyle/>
          <a:p>
            <a:pPr algn="l">
              <a:lnSpc>
                <a:spcPct val="100000"/>
              </a:lnSpc>
            </a:pPr>
            <a:r>
              <a:rPr sz="1500" b="0">
                <a:solidFill>
                  <a:srgbClr val="6B7785"/>
                </a:solidFill>
                <a:latin typeface="Segoe UI"/>
              </a:rPr>
              <a:t>Numbers you cannot check</a:t>
            </a:r>
          </a:p>
        </p:txBody>
      </p:sp>
      <p:cxnSp>
        <p:nvCxnSpPr>
          <p:cNvPr id="14" name="Connector 13"/>
          <p:cNvCxnSpPr/>
          <p:nvPr/>
        </p:nvCxnSpPr>
        <p:spPr>
          <a:xfrm>
            <a:off x="5669280" y="3236976"/>
            <a:ext cx="914400" cy="0"/>
          </a:xfrm>
          <a:prstGeom prst="line">
            <a:avLst/>
          </a:prstGeom>
          <a:ln w="28575">
            <a:solidFill>
              <a:srgbClr val="F2A900"/>
            </a:solidFill>
            <a:tailEnd type="triangle" w="med" len="med"/>
          </a:ln>
        </p:spPr>
        <p:style>
          <a:lnRef idx="2">
            <a:schemeClr val="accent1"/>
          </a:lnRef>
          <a:fillRef idx="0">
            <a:schemeClr val="accent1"/>
          </a:fillRef>
          <a:effectRef idx="1">
            <a:schemeClr val="accent1"/>
          </a:effectRef>
          <a:fontRef idx="minor">
            <a:schemeClr val="tx1"/>
          </a:fontRef>
        </p:style>
      </p:cxnSp>
      <p:sp>
        <p:nvSpPr>
          <p:cNvPr id="15" name="Rounded Rectangle 14"/>
          <p:cNvSpPr/>
          <p:nvPr/>
        </p:nvSpPr>
        <p:spPr>
          <a:xfrm>
            <a:off x="6766560" y="2926080"/>
            <a:ext cx="4846320" cy="621792"/>
          </a:xfrm>
          <a:prstGeom prst="roundRect">
            <a:avLst>
              <a:gd name="adj" fmla="val 6000"/>
            </a:avLst>
          </a:prstGeom>
          <a:solidFill>
            <a:srgbClr val="1F4E7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6995160" y="2926080"/>
            <a:ext cx="4480560" cy="621792"/>
          </a:xfrm>
          <a:prstGeom prst="rect">
            <a:avLst/>
          </a:prstGeom>
          <a:noFill/>
        </p:spPr>
        <p:txBody>
          <a:bodyPr wrap="square" lIns="0" tIns="0" rIns="0" bIns="0" anchor="ctr">
            <a:spAutoFit/>
          </a:bodyPr>
          <a:lstStyle/>
          <a:p>
            <a:pPr algn="l">
              <a:lnSpc>
                <a:spcPct val="100000"/>
              </a:lnSpc>
            </a:pPr>
            <a:r>
              <a:rPr sz="1500" b="1">
                <a:solidFill>
                  <a:srgbClr val="FFFFFF"/>
                </a:solidFill>
                <a:latin typeface="Segoe UI"/>
              </a:rPr>
              <a:t>Every number traced to its source</a:t>
            </a:r>
          </a:p>
        </p:txBody>
      </p:sp>
      <p:sp>
        <p:nvSpPr>
          <p:cNvPr id="17" name="Rounded Rectangle 16"/>
          <p:cNvSpPr/>
          <p:nvPr/>
        </p:nvSpPr>
        <p:spPr>
          <a:xfrm>
            <a:off x="548640" y="3703320"/>
            <a:ext cx="4937760" cy="621792"/>
          </a:xfrm>
          <a:prstGeom prst="roundRect">
            <a:avLst>
              <a:gd name="adj" fmla="val 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777240" y="3703320"/>
            <a:ext cx="4572000" cy="621792"/>
          </a:xfrm>
          <a:prstGeom prst="rect">
            <a:avLst/>
          </a:prstGeom>
          <a:noFill/>
        </p:spPr>
        <p:txBody>
          <a:bodyPr wrap="square" lIns="0" tIns="0" rIns="0" bIns="0" anchor="ctr">
            <a:spAutoFit/>
          </a:bodyPr>
          <a:lstStyle/>
          <a:p>
            <a:pPr algn="l">
              <a:lnSpc>
                <a:spcPct val="100000"/>
              </a:lnSpc>
            </a:pPr>
            <a:r>
              <a:rPr sz="1500" b="0">
                <a:solidFill>
                  <a:srgbClr val="6B7785"/>
                </a:solidFill>
                <a:latin typeface="Segoe UI"/>
              </a:rPr>
              <a:t>Problems hidden in the data</a:t>
            </a:r>
          </a:p>
        </p:txBody>
      </p:sp>
      <p:cxnSp>
        <p:nvCxnSpPr>
          <p:cNvPr id="19" name="Connector 18"/>
          <p:cNvCxnSpPr/>
          <p:nvPr/>
        </p:nvCxnSpPr>
        <p:spPr>
          <a:xfrm>
            <a:off x="5669280" y="4014215"/>
            <a:ext cx="914400" cy="0"/>
          </a:xfrm>
          <a:prstGeom prst="line">
            <a:avLst/>
          </a:prstGeom>
          <a:ln w="28575">
            <a:solidFill>
              <a:srgbClr val="F2A900"/>
            </a:solidFill>
            <a:tailEnd type="triangle" w="med" len="med"/>
          </a:ln>
        </p:spPr>
        <p:style>
          <a:lnRef idx="2">
            <a:schemeClr val="accent1"/>
          </a:lnRef>
          <a:fillRef idx="0">
            <a:schemeClr val="accent1"/>
          </a:fillRef>
          <a:effectRef idx="1">
            <a:schemeClr val="accent1"/>
          </a:effectRef>
          <a:fontRef idx="minor">
            <a:schemeClr val="tx1"/>
          </a:fontRef>
        </p:style>
      </p:cxnSp>
      <p:sp>
        <p:nvSpPr>
          <p:cNvPr id="20" name="Rounded Rectangle 19"/>
          <p:cNvSpPr/>
          <p:nvPr/>
        </p:nvSpPr>
        <p:spPr>
          <a:xfrm>
            <a:off x="6766560" y="3703320"/>
            <a:ext cx="4846320" cy="621792"/>
          </a:xfrm>
          <a:prstGeom prst="roundRect">
            <a:avLst>
              <a:gd name="adj" fmla="val 6000"/>
            </a:avLst>
          </a:prstGeom>
          <a:solidFill>
            <a:srgbClr val="1F4E7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6995160" y="3703320"/>
            <a:ext cx="4480560" cy="621792"/>
          </a:xfrm>
          <a:prstGeom prst="rect">
            <a:avLst/>
          </a:prstGeom>
          <a:noFill/>
        </p:spPr>
        <p:txBody>
          <a:bodyPr wrap="square" lIns="0" tIns="0" rIns="0" bIns="0" anchor="ctr">
            <a:spAutoFit/>
          </a:bodyPr>
          <a:lstStyle/>
          <a:p>
            <a:pPr algn="l">
              <a:lnSpc>
                <a:spcPct val="100000"/>
              </a:lnSpc>
            </a:pPr>
            <a:r>
              <a:rPr sz="1500" b="1">
                <a:solidFill>
                  <a:srgbClr val="FFFFFF"/>
                </a:solidFill>
                <a:latin typeface="Segoe UI"/>
              </a:rPr>
              <a:t>Every problem logged, with an owner</a:t>
            </a:r>
          </a:p>
        </p:txBody>
      </p:sp>
      <p:sp>
        <p:nvSpPr>
          <p:cNvPr id="22" name="Rounded Rectangle 21"/>
          <p:cNvSpPr/>
          <p:nvPr/>
        </p:nvSpPr>
        <p:spPr>
          <a:xfrm>
            <a:off x="548640" y="4480560"/>
            <a:ext cx="4937760" cy="621792"/>
          </a:xfrm>
          <a:prstGeom prst="roundRect">
            <a:avLst>
              <a:gd name="adj" fmla="val 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777240" y="4480560"/>
            <a:ext cx="4572000" cy="621792"/>
          </a:xfrm>
          <a:prstGeom prst="rect">
            <a:avLst/>
          </a:prstGeom>
          <a:noFill/>
        </p:spPr>
        <p:txBody>
          <a:bodyPr wrap="square" lIns="0" tIns="0" rIns="0" bIns="0" anchor="ctr">
            <a:spAutoFit/>
          </a:bodyPr>
          <a:lstStyle/>
          <a:p>
            <a:pPr algn="l">
              <a:lnSpc>
                <a:spcPct val="100000"/>
              </a:lnSpc>
            </a:pPr>
            <a:r>
              <a:rPr sz="1500" b="0">
                <a:solidFill>
                  <a:srgbClr val="6B7785"/>
                </a:solidFill>
                <a:latin typeface="Segoe UI"/>
              </a:rPr>
              <a:t>Static reports</a:t>
            </a:r>
          </a:p>
        </p:txBody>
      </p:sp>
      <p:cxnSp>
        <p:nvCxnSpPr>
          <p:cNvPr id="24" name="Connector 23"/>
          <p:cNvCxnSpPr/>
          <p:nvPr/>
        </p:nvCxnSpPr>
        <p:spPr>
          <a:xfrm>
            <a:off x="5669280" y="4791456"/>
            <a:ext cx="914400" cy="0"/>
          </a:xfrm>
          <a:prstGeom prst="line">
            <a:avLst/>
          </a:prstGeom>
          <a:ln w="28575">
            <a:solidFill>
              <a:srgbClr val="F2A900"/>
            </a:solidFill>
            <a:tailEnd type="triangle" w="med" len="med"/>
          </a:ln>
        </p:spPr>
        <p:style>
          <a:lnRef idx="2">
            <a:schemeClr val="accent1"/>
          </a:lnRef>
          <a:fillRef idx="0">
            <a:schemeClr val="accent1"/>
          </a:fillRef>
          <a:effectRef idx="1">
            <a:schemeClr val="accent1"/>
          </a:effectRef>
          <a:fontRef idx="minor">
            <a:schemeClr val="tx1"/>
          </a:fontRef>
        </p:style>
      </p:cxnSp>
      <p:sp>
        <p:nvSpPr>
          <p:cNvPr id="25" name="Rounded Rectangle 24"/>
          <p:cNvSpPr/>
          <p:nvPr/>
        </p:nvSpPr>
        <p:spPr>
          <a:xfrm>
            <a:off x="6766560" y="4480560"/>
            <a:ext cx="4846320" cy="621792"/>
          </a:xfrm>
          <a:prstGeom prst="roundRect">
            <a:avLst>
              <a:gd name="adj" fmla="val 6000"/>
            </a:avLst>
          </a:prstGeom>
          <a:solidFill>
            <a:srgbClr val="1F4E7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Box 25"/>
          <p:cNvSpPr txBox="1"/>
          <p:nvPr/>
        </p:nvSpPr>
        <p:spPr>
          <a:xfrm>
            <a:off x="6995160" y="4480560"/>
            <a:ext cx="4480560" cy="621792"/>
          </a:xfrm>
          <a:prstGeom prst="rect">
            <a:avLst/>
          </a:prstGeom>
          <a:noFill/>
        </p:spPr>
        <p:txBody>
          <a:bodyPr wrap="square" lIns="0" tIns="0" rIns="0" bIns="0" anchor="ctr">
            <a:spAutoFit/>
          </a:bodyPr>
          <a:lstStyle/>
          <a:p>
            <a:pPr algn="l">
              <a:lnSpc>
                <a:spcPct val="100000"/>
              </a:lnSpc>
            </a:pPr>
            <a:r>
              <a:rPr sz="1500" b="1">
                <a:solidFill>
                  <a:srgbClr val="FFFFFF"/>
                </a:solidFill>
                <a:latin typeface="Segoe UI"/>
              </a:rPr>
              <a:t>Interactive answers, insight first</a:t>
            </a:r>
          </a:p>
        </p:txBody>
      </p:sp>
      <p:sp>
        <p:nvSpPr>
          <p:cNvPr id="27" name="Rounded Rectangle 26"/>
          <p:cNvSpPr/>
          <p:nvPr/>
        </p:nvSpPr>
        <p:spPr>
          <a:xfrm>
            <a:off x="548640" y="5257800"/>
            <a:ext cx="4937760" cy="621792"/>
          </a:xfrm>
          <a:prstGeom prst="roundRect">
            <a:avLst>
              <a:gd name="adj" fmla="val 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TextBox 27"/>
          <p:cNvSpPr txBox="1"/>
          <p:nvPr/>
        </p:nvSpPr>
        <p:spPr>
          <a:xfrm>
            <a:off x="777240" y="5257800"/>
            <a:ext cx="4572000" cy="621792"/>
          </a:xfrm>
          <a:prstGeom prst="rect">
            <a:avLst/>
          </a:prstGeom>
          <a:noFill/>
        </p:spPr>
        <p:txBody>
          <a:bodyPr wrap="square" lIns="0" tIns="0" rIns="0" bIns="0" anchor="ctr">
            <a:spAutoFit/>
          </a:bodyPr>
          <a:lstStyle/>
          <a:p>
            <a:pPr algn="l">
              <a:lnSpc>
                <a:spcPct val="100000"/>
              </a:lnSpc>
            </a:pPr>
            <a:r>
              <a:rPr sz="1500" b="0">
                <a:solidFill>
                  <a:srgbClr val="6B7785"/>
                </a:solidFill>
                <a:latin typeface="Segoe UI"/>
              </a:rPr>
              <a:t>Works on one person's PC</a:t>
            </a:r>
          </a:p>
        </p:txBody>
      </p:sp>
      <p:cxnSp>
        <p:nvCxnSpPr>
          <p:cNvPr id="29" name="Connector 28"/>
          <p:cNvCxnSpPr/>
          <p:nvPr/>
        </p:nvCxnSpPr>
        <p:spPr>
          <a:xfrm>
            <a:off x="5669280" y="5568696"/>
            <a:ext cx="914400" cy="0"/>
          </a:xfrm>
          <a:prstGeom prst="line">
            <a:avLst/>
          </a:prstGeom>
          <a:ln w="28575">
            <a:solidFill>
              <a:srgbClr val="F2A900"/>
            </a:solidFill>
            <a:tailEnd type="triangle" w="med" len="med"/>
          </a:ln>
        </p:spPr>
        <p:style>
          <a:lnRef idx="2">
            <a:schemeClr val="accent1"/>
          </a:lnRef>
          <a:fillRef idx="0">
            <a:schemeClr val="accent1"/>
          </a:fillRef>
          <a:effectRef idx="1">
            <a:schemeClr val="accent1"/>
          </a:effectRef>
          <a:fontRef idx="minor">
            <a:schemeClr val="tx1"/>
          </a:fontRef>
        </p:style>
      </p:cxnSp>
      <p:sp>
        <p:nvSpPr>
          <p:cNvPr id="30" name="Rounded Rectangle 29"/>
          <p:cNvSpPr/>
          <p:nvPr/>
        </p:nvSpPr>
        <p:spPr>
          <a:xfrm>
            <a:off x="6766560" y="5257800"/>
            <a:ext cx="4846320" cy="621792"/>
          </a:xfrm>
          <a:prstGeom prst="roundRect">
            <a:avLst>
              <a:gd name="adj" fmla="val 6000"/>
            </a:avLst>
          </a:prstGeom>
          <a:solidFill>
            <a:srgbClr val="1F4E7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TextBox 30"/>
          <p:cNvSpPr txBox="1"/>
          <p:nvPr/>
        </p:nvSpPr>
        <p:spPr>
          <a:xfrm>
            <a:off x="6995160" y="5257800"/>
            <a:ext cx="4480560" cy="621792"/>
          </a:xfrm>
          <a:prstGeom prst="rect">
            <a:avLst/>
          </a:prstGeom>
          <a:noFill/>
        </p:spPr>
        <p:txBody>
          <a:bodyPr wrap="square" lIns="0" tIns="0" rIns="0" bIns="0" anchor="ctr">
            <a:spAutoFit/>
          </a:bodyPr>
          <a:lstStyle/>
          <a:p>
            <a:pPr algn="l">
              <a:lnSpc>
                <a:spcPct val="100000"/>
              </a:lnSpc>
            </a:pPr>
            <a:r>
              <a:rPr sz="1500" b="1">
                <a:solidFill>
                  <a:srgbClr val="FFFFFF"/>
                </a:solidFill>
                <a:latin typeface="Segoe UI"/>
              </a:rPr>
              <a:t>Rebuilt anywhere from a guide</a:t>
            </a:r>
          </a:p>
        </p:txBody>
      </p:sp>
      <p:sp>
        <p:nvSpPr>
          <p:cNvPr id="32" name="TextBox 31"/>
          <p:cNvSpPr txBox="1"/>
          <p:nvPr/>
        </p:nvSpPr>
        <p:spPr>
          <a:xfrm>
            <a:off x="548640" y="6428232"/>
            <a:ext cx="5486400" cy="228600"/>
          </a:xfrm>
          <a:prstGeom prst="rect">
            <a:avLst/>
          </a:prstGeom>
          <a:noFill/>
        </p:spPr>
        <p:txBody>
          <a:bodyPr wrap="square" lIns="0" tIns="0" rIns="0" bIns="0" anchor="t">
            <a:spAutoFit/>
          </a:bodyPr>
          <a:lstStyle/>
          <a:p>
            <a:pPr algn="l">
              <a:lnSpc>
                <a:spcPct val="100000"/>
              </a:lnSpc>
            </a:pPr>
            <a:r>
              <a:rPr sz="1000" b="0">
                <a:solidFill>
                  <a:srgbClr val="6B7785"/>
                </a:solidFill>
                <a:latin typeface="Segoe UI"/>
              </a:rPr>
              <a:t>Cricket Analytics Platform</a:t>
            </a:r>
          </a:p>
        </p:txBody>
      </p:sp>
      <p:sp>
        <p:nvSpPr>
          <p:cNvPr id="33" name="TextBox 32"/>
          <p:cNvSpPr txBox="1"/>
          <p:nvPr/>
        </p:nvSpPr>
        <p:spPr>
          <a:xfrm>
            <a:off x="10725912" y="6428232"/>
            <a:ext cx="914400" cy="228600"/>
          </a:xfrm>
          <a:prstGeom prst="rect">
            <a:avLst/>
          </a:prstGeom>
          <a:noFill/>
        </p:spPr>
        <p:txBody>
          <a:bodyPr wrap="square" lIns="0" tIns="0" rIns="0" bIns="0" anchor="t">
            <a:spAutoFit/>
          </a:bodyPr>
          <a:lstStyle/>
          <a:p>
            <a:pPr algn="r">
              <a:lnSpc>
                <a:spcPct val="100000"/>
              </a:lnSpc>
            </a:pPr>
            <a:r>
              <a:rPr sz="1000" b="0">
                <a:solidFill>
                  <a:srgbClr val="6B7785"/>
                </a:solidFill>
                <a:latin typeface="Segoe UI"/>
              </a:rPr>
              <a:t>24</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5</TotalTime>
  <Words>4564</Words>
  <Application>Microsoft Office PowerPoint</Application>
  <PresentationFormat>Widescreen</PresentationFormat>
  <Paragraphs>660</Paragraphs>
  <Slides>24</Slides>
  <Notes>24</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24</vt:i4>
      </vt:variant>
    </vt:vector>
  </HeadingPairs>
  <TitlesOfParts>
    <vt:vector size="31" baseType="lpstr">
      <vt:lpstr>Arial</vt:lpstr>
      <vt:lpstr>Calibri</vt:lpstr>
      <vt:lpstr>Cambria</vt:lpstr>
      <vt:lpstr>Segoe UI</vt:lpstr>
      <vt:lpstr>Segoe UI Semibold</vt:lpstr>
      <vt:lpstr>Segoe UI Symbol</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Manager/>
  <Company/>
  <LinksUpToDate>false</LinksUpToDate>
  <SharedDoc>false</SharedDoc>
  <HyperlinkBase/>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Cricket Analytics Platform</dc:title>
  <dc:subject>Business Intelligence Practical Assignment</dc:subject>
  <dc:creator>Priyanshi Jani</dc:creator>
  <cp:keywords/>
  <dc:description/>
  <cp:lastModifiedBy>Priyanshi Jani</cp:lastModifiedBy>
  <cp:revision>2</cp:revision>
  <dcterms:created xsi:type="dcterms:W3CDTF">2026-10-09T08:00:00Z</dcterms:created>
  <dcterms:modified xsi:type="dcterms:W3CDTF">2026-10-09T17:14:13Z</dcterms:modified>
  <cp:category/>
</cp:coreProperties>
</file>